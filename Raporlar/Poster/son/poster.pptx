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Default Extension="jpg" ContentType="image/jpg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</p:sldIdLst>
  <p:sldSz cx="14363700" cy="20104100"/>
  <p:notesSz cx="14363700" cy="201041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77277" y="6232271"/>
            <a:ext cx="12209145" cy="422186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154555" y="11258296"/>
            <a:ext cx="10054590" cy="50260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718185" y="4623943"/>
            <a:ext cx="6248209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7397305" y="4623943"/>
            <a:ext cx="6248209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2932632"/>
            <a:ext cx="14361160" cy="16260444"/>
          </a:xfrm>
          <a:custGeom>
            <a:avLst/>
            <a:gdLst/>
            <a:ahLst/>
            <a:cxnLst/>
            <a:rect l="l" t="t" r="r" b="b"/>
            <a:pathLst>
              <a:path w="14361160" h="16260444">
                <a:moveTo>
                  <a:pt x="0" y="16260065"/>
                </a:moveTo>
                <a:lnTo>
                  <a:pt x="14360926" y="16260065"/>
                </a:lnTo>
                <a:lnTo>
                  <a:pt x="14360926" y="0"/>
                </a:lnTo>
                <a:lnTo>
                  <a:pt x="0" y="0"/>
                </a:lnTo>
                <a:lnTo>
                  <a:pt x="0" y="16260065"/>
                </a:lnTo>
                <a:close/>
              </a:path>
            </a:pathLst>
          </a:custGeom>
          <a:solidFill>
            <a:srgbClr val="F4F7F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1749912"/>
            <a:ext cx="14361160" cy="1270"/>
          </a:xfrm>
          <a:custGeom>
            <a:avLst/>
            <a:gdLst/>
            <a:ahLst/>
            <a:cxnLst/>
            <a:rect l="l" t="t" r="r" b="b"/>
            <a:pathLst>
              <a:path w="14361160" h="1269">
                <a:moveTo>
                  <a:pt x="0" y="911"/>
                </a:moveTo>
                <a:lnTo>
                  <a:pt x="14360926" y="911"/>
                </a:lnTo>
                <a:lnTo>
                  <a:pt x="14360926" y="0"/>
                </a:lnTo>
                <a:lnTo>
                  <a:pt x="0" y="0"/>
                </a:lnTo>
                <a:lnTo>
                  <a:pt x="0" y="911"/>
                </a:lnTo>
                <a:close/>
              </a:path>
            </a:pathLst>
          </a:custGeom>
          <a:solidFill>
            <a:srgbClr val="F4F7F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557" y="-913"/>
            <a:ext cx="14360525" cy="1751330"/>
          </a:xfrm>
          <a:custGeom>
            <a:avLst/>
            <a:gdLst/>
            <a:ahLst/>
            <a:cxnLst/>
            <a:rect l="l" t="t" r="r" b="b"/>
            <a:pathLst>
              <a:path w="14360525" h="1751330">
                <a:moveTo>
                  <a:pt x="14360419" y="0"/>
                </a:moveTo>
                <a:lnTo>
                  <a:pt x="0" y="0"/>
                </a:lnTo>
                <a:lnTo>
                  <a:pt x="0" y="1750825"/>
                </a:lnTo>
                <a:lnTo>
                  <a:pt x="14360419" y="1750825"/>
                </a:lnTo>
                <a:lnTo>
                  <a:pt x="14360419" y="0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557" y="-913"/>
            <a:ext cx="14360525" cy="1751330"/>
          </a:xfrm>
          <a:custGeom>
            <a:avLst/>
            <a:gdLst/>
            <a:ahLst/>
            <a:cxnLst/>
            <a:rect l="l" t="t" r="r" b="b"/>
            <a:pathLst>
              <a:path w="14360525" h="1751330">
                <a:moveTo>
                  <a:pt x="0" y="1750825"/>
                </a:moveTo>
                <a:lnTo>
                  <a:pt x="14360419" y="1750825"/>
                </a:lnTo>
                <a:lnTo>
                  <a:pt x="14360419" y="0"/>
                </a:lnTo>
                <a:lnTo>
                  <a:pt x="0" y="0"/>
                </a:lnTo>
                <a:lnTo>
                  <a:pt x="0" y="1750825"/>
                </a:lnTo>
                <a:close/>
              </a:path>
            </a:pathLst>
          </a:custGeom>
          <a:ln w="10132">
            <a:solidFill>
              <a:srgbClr val="0D2B5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18185" y="804164"/>
            <a:ext cx="12927330" cy="321665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18185" y="4623943"/>
            <a:ext cx="12927330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883658" y="18696814"/>
            <a:ext cx="4596384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718185" y="18696814"/>
            <a:ext cx="3303651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0341864" y="18696814"/>
            <a:ext cx="3303651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jpg"/><Relationship Id="rId6" Type="http://schemas.openxmlformats.org/officeDocument/2006/relationships/hyperlink" Target="mailto:ceng@balikesir.edu.tr" TargetMode="External"/><Relationship Id="rId7" Type="http://schemas.openxmlformats.org/officeDocument/2006/relationships/hyperlink" Target="https://ceng.balikesir.edu.tr/" TargetMode="External"/><Relationship Id="rId8" Type="http://schemas.openxmlformats.org/officeDocument/2006/relationships/image" Target="../media/image5.png"/><Relationship Id="rId9" Type="http://schemas.openxmlformats.org/officeDocument/2006/relationships/image" Target="../media/image6.png"/><Relationship Id="rId10" Type="http://schemas.openxmlformats.org/officeDocument/2006/relationships/image" Target="../media/image7.jpg"/><Relationship Id="rId11" Type="http://schemas.openxmlformats.org/officeDocument/2006/relationships/image" Target="../media/image8.png"/><Relationship Id="rId12" Type="http://schemas.openxmlformats.org/officeDocument/2006/relationships/image" Target="../media/image9.png"/><Relationship Id="rId13" Type="http://schemas.openxmlformats.org/officeDocument/2006/relationships/image" Target="../media/image10.png"/><Relationship Id="rId14" Type="http://schemas.openxmlformats.org/officeDocument/2006/relationships/image" Target="../media/image11.jpg"/><Relationship Id="rId15" Type="http://schemas.openxmlformats.org/officeDocument/2006/relationships/image" Target="../media/image12.png"/><Relationship Id="rId16" Type="http://schemas.openxmlformats.org/officeDocument/2006/relationships/image" Target="../media/image13.png"/><Relationship Id="rId17" Type="http://schemas.openxmlformats.org/officeDocument/2006/relationships/image" Target="../media/image14.png"/><Relationship Id="rId18" Type="http://schemas.openxmlformats.org/officeDocument/2006/relationships/image" Target="../media/image15.jpg"/><Relationship Id="rId19" Type="http://schemas.openxmlformats.org/officeDocument/2006/relationships/image" Target="../media/image16.jpg"/><Relationship Id="rId20" Type="http://schemas.openxmlformats.org/officeDocument/2006/relationships/image" Target="../media/image17.jpg"/><Relationship Id="rId21" Type="http://schemas.openxmlformats.org/officeDocument/2006/relationships/image" Target="../media/image18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558730" y="669629"/>
            <a:ext cx="977900" cy="44640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ctr">
              <a:lnSpc>
                <a:spcPts val="1515"/>
              </a:lnSpc>
            </a:pP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ÜNİVERSİTE</a:t>
            </a:r>
            <a:endParaRPr sz="1600">
              <a:latin typeface="Calibri"/>
              <a:cs typeface="Calibri"/>
            </a:endParaRPr>
          </a:p>
          <a:p>
            <a:pPr algn="ctr" marL="635">
              <a:lnSpc>
                <a:spcPts val="1914"/>
              </a:lnSpc>
            </a:pP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LOGOSU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710097" y="94497"/>
            <a:ext cx="8938895" cy="16446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 marL="2626360" marR="2649855" indent="-3810">
              <a:lnSpc>
                <a:spcPct val="101499"/>
              </a:lnSpc>
              <a:spcBef>
                <a:spcPts val="90"/>
              </a:spcBef>
            </a:pPr>
            <a:r>
              <a:rPr dirty="0" sz="2200" spc="215" b="1">
                <a:latin typeface="Calibri"/>
                <a:cs typeface="Calibri"/>
              </a:rPr>
              <a:t>BALIKESİR</a:t>
            </a:r>
            <a:r>
              <a:rPr dirty="0" sz="2200" spc="25" b="1">
                <a:latin typeface="Calibri"/>
                <a:cs typeface="Calibri"/>
              </a:rPr>
              <a:t>  </a:t>
            </a:r>
            <a:r>
              <a:rPr dirty="0" sz="2200" spc="215" b="1">
                <a:latin typeface="Calibri"/>
                <a:cs typeface="Calibri"/>
              </a:rPr>
              <a:t>ÜNİVERSİTESİ </a:t>
            </a:r>
            <a:r>
              <a:rPr dirty="0" sz="2200" spc="220" b="1">
                <a:latin typeface="Calibri"/>
                <a:cs typeface="Calibri"/>
              </a:rPr>
              <a:t>BİLGİSAYAR</a:t>
            </a:r>
            <a:r>
              <a:rPr dirty="0" sz="2200" spc="35" b="1">
                <a:latin typeface="Calibri"/>
                <a:cs typeface="Calibri"/>
              </a:rPr>
              <a:t>  </a:t>
            </a:r>
            <a:r>
              <a:rPr dirty="0" sz="1900" b="1">
                <a:latin typeface="Calibri"/>
                <a:cs typeface="Calibri"/>
              </a:rPr>
              <a:t>M</a:t>
            </a:r>
            <a:r>
              <a:rPr dirty="0" sz="1900" spc="-19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Ü</a:t>
            </a:r>
            <a:r>
              <a:rPr dirty="0" sz="1900" spc="-185" b="1">
                <a:latin typeface="Calibri"/>
                <a:cs typeface="Calibri"/>
              </a:rPr>
              <a:t> </a:t>
            </a:r>
            <a:r>
              <a:rPr dirty="0" sz="1900" spc="114" b="1">
                <a:latin typeface="Calibri"/>
                <a:cs typeface="Calibri"/>
              </a:rPr>
              <a:t>HE</a:t>
            </a:r>
            <a:r>
              <a:rPr dirty="0" sz="1900" spc="-18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N</a:t>
            </a:r>
            <a:r>
              <a:rPr dirty="0" sz="1900" spc="-185" b="1">
                <a:latin typeface="Calibri"/>
                <a:cs typeface="Calibri"/>
              </a:rPr>
              <a:t> </a:t>
            </a:r>
            <a:r>
              <a:rPr dirty="0" sz="1900" spc="150" b="1">
                <a:latin typeface="Calibri"/>
                <a:cs typeface="Calibri"/>
              </a:rPr>
              <a:t>DİS</a:t>
            </a:r>
            <a:r>
              <a:rPr dirty="0" sz="1900" spc="-18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L</a:t>
            </a:r>
            <a:r>
              <a:rPr dirty="0" sz="1900" spc="-185" b="1">
                <a:latin typeface="Calibri"/>
                <a:cs typeface="Calibri"/>
              </a:rPr>
              <a:t> </a:t>
            </a:r>
            <a:r>
              <a:rPr dirty="0" sz="1900" spc="120" b="1">
                <a:latin typeface="Calibri"/>
                <a:cs typeface="Calibri"/>
              </a:rPr>
              <a:t>İĞİ</a:t>
            </a:r>
            <a:endParaRPr sz="1900">
              <a:latin typeface="Calibri"/>
              <a:cs typeface="Calibri"/>
            </a:endParaRPr>
          </a:p>
          <a:p>
            <a:pPr algn="ctr" marR="27305">
              <a:lnSpc>
                <a:spcPts val="2335"/>
              </a:lnSpc>
              <a:spcBef>
                <a:spcPts val="40"/>
              </a:spcBef>
            </a:pPr>
            <a:r>
              <a:rPr dirty="0" sz="2200" spc="210" b="1">
                <a:latin typeface="Calibri"/>
                <a:cs typeface="Calibri"/>
              </a:rPr>
              <a:t>BİTİRME</a:t>
            </a:r>
            <a:r>
              <a:rPr dirty="0" sz="2200" spc="535" b="1">
                <a:latin typeface="Calibri"/>
                <a:cs typeface="Calibri"/>
              </a:rPr>
              <a:t> </a:t>
            </a:r>
            <a:r>
              <a:rPr dirty="0" sz="2200" spc="210" b="1">
                <a:latin typeface="Calibri"/>
                <a:cs typeface="Calibri"/>
              </a:rPr>
              <a:t>PROJESİ</a:t>
            </a:r>
            <a:r>
              <a:rPr dirty="0" sz="2200" spc="490" b="1">
                <a:latin typeface="Calibri"/>
                <a:cs typeface="Calibri"/>
              </a:rPr>
              <a:t> </a:t>
            </a:r>
            <a:r>
              <a:rPr dirty="0" sz="2200" spc="204" b="1">
                <a:latin typeface="Calibri"/>
                <a:cs typeface="Calibri"/>
              </a:rPr>
              <a:t>POSTER</a:t>
            </a:r>
            <a:r>
              <a:rPr dirty="0" sz="2200" spc="490" b="1">
                <a:latin typeface="Calibri"/>
                <a:cs typeface="Calibri"/>
              </a:rPr>
              <a:t> </a:t>
            </a:r>
            <a:r>
              <a:rPr dirty="0" sz="2200" spc="195" b="1">
                <a:latin typeface="Calibri"/>
                <a:cs typeface="Calibri"/>
              </a:rPr>
              <a:t>SERGİSİ</a:t>
            </a:r>
            <a:endParaRPr sz="2200">
              <a:latin typeface="Calibri"/>
              <a:cs typeface="Calibri"/>
            </a:endParaRPr>
          </a:p>
          <a:p>
            <a:pPr algn="ctr">
              <a:lnSpc>
                <a:spcPts val="2335"/>
              </a:lnSpc>
            </a:pPr>
            <a:r>
              <a:rPr dirty="0" sz="2200" b="1">
                <a:latin typeface="Cambria"/>
                <a:cs typeface="Cambria"/>
              </a:rPr>
              <a:t>Kamera</a:t>
            </a:r>
            <a:r>
              <a:rPr dirty="0" sz="2200" spc="25" b="1">
                <a:latin typeface="Cambria"/>
                <a:cs typeface="Cambria"/>
              </a:rPr>
              <a:t> </a:t>
            </a:r>
            <a:r>
              <a:rPr dirty="0" sz="2200" b="1">
                <a:latin typeface="Cambria"/>
                <a:cs typeface="Cambria"/>
              </a:rPr>
              <a:t>Görüntülerinden</a:t>
            </a:r>
            <a:r>
              <a:rPr dirty="0" sz="2200" spc="25" b="1">
                <a:latin typeface="Cambria"/>
                <a:cs typeface="Cambria"/>
              </a:rPr>
              <a:t> </a:t>
            </a:r>
            <a:r>
              <a:rPr dirty="0" sz="2200" b="1">
                <a:latin typeface="Cambria"/>
                <a:cs typeface="Cambria"/>
              </a:rPr>
              <a:t>Araç</a:t>
            </a:r>
            <a:r>
              <a:rPr dirty="0" sz="2200" spc="25" b="1">
                <a:latin typeface="Cambria"/>
                <a:cs typeface="Cambria"/>
              </a:rPr>
              <a:t> </a:t>
            </a:r>
            <a:r>
              <a:rPr dirty="0" sz="2200" spc="-10" b="1">
                <a:latin typeface="Cambria"/>
                <a:cs typeface="Cambria"/>
              </a:rPr>
              <a:t>Tespiti</a:t>
            </a:r>
            <a:r>
              <a:rPr dirty="0" sz="2200" spc="30" b="1">
                <a:latin typeface="Cambria"/>
                <a:cs typeface="Cambria"/>
              </a:rPr>
              <a:t> </a:t>
            </a:r>
            <a:r>
              <a:rPr dirty="0" sz="2200" b="1">
                <a:latin typeface="Cambria"/>
                <a:cs typeface="Cambria"/>
              </a:rPr>
              <a:t>ve</a:t>
            </a:r>
            <a:r>
              <a:rPr dirty="0" sz="2200" spc="30" b="1">
                <a:latin typeface="Cambria"/>
                <a:cs typeface="Cambria"/>
              </a:rPr>
              <a:t> </a:t>
            </a:r>
            <a:r>
              <a:rPr dirty="0" sz="2200" b="1">
                <a:latin typeface="Cambria"/>
                <a:cs typeface="Cambria"/>
              </a:rPr>
              <a:t>Park</a:t>
            </a:r>
            <a:r>
              <a:rPr dirty="0" sz="2200" spc="15" b="1">
                <a:latin typeface="Cambria"/>
                <a:cs typeface="Cambria"/>
              </a:rPr>
              <a:t> </a:t>
            </a:r>
            <a:r>
              <a:rPr dirty="0" sz="2200" b="1">
                <a:latin typeface="Cambria"/>
                <a:cs typeface="Cambria"/>
              </a:rPr>
              <a:t>Uygunluğu</a:t>
            </a:r>
            <a:r>
              <a:rPr dirty="0" sz="2200" spc="25" b="1">
                <a:latin typeface="Cambria"/>
                <a:cs typeface="Cambria"/>
              </a:rPr>
              <a:t> </a:t>
            </a:r>
            <a:r>
              <a:rPr dirty="0" sz="2200" b="1">
                <a:latin typeface="Cambria"/>
                <a:cs typeface="Cambria"/>
              </a:rPr>
              <a:t>Analizi</a:t>
            </a:r>
            <a:r>
              <a:rPr dirty="0" sz="2200" spc="5" b="1">
                <a:latin typeface="Cambria"/>
                <a:cs typeface="Cambria"/>
              </a:rPr>
              <a:t> </a:t>
            </a:r>
            <a:r>
              <a:rPr dirty="0" sz="2200" spc="-20" b="1">
                <a:latin typeface="Cambria"/>
                <a:cs typeface="Cambria"/>
              </a:rPr>
              <a:t>için</a:t>
            </a:r>
            <a:endParaRPr sz="2200">
              <a:latin typeface="Cambria"/>
              <a:cs typeface="Cambria"/>
            </a:endParaRPr>
          </a:p>
          <a:p>
            <a:pPr algn="ctr" marL="635">
              <a:lnSpc>
                <a:spcPct val="100000"/>
              </a:lnSpc>
              <a:spcBef>
                <a:spcPts val="40"/>
              </a:spcBef>
            </a:pPr>
            <a:r>
              <a:rPr dirty="0" sz="2200" spc="-20" b="1">
                <a:latin typeface="Cambria"/>
                <a:cs typeface="Cambria"/>
              </a:rPr>
              <a:t>Yapay</a:t>
            </a:r>
            <a:r>
              <a:rPr dirty="0" sz="2200" spc="-45" b="1">
                <a:latin typeface="Cambria"/>
                <a:cs typeface="Cambria"/>
              </a:rPr>
              <a:t> </a:t>
            </a:r>
            <a:r>
              <a:rPr dirty="0" sz="2200" b="1">
                <a:latin typeface="Cambria"/>
                <a:cs typeface="Cambria"/>
              </a:rPr>
              <a:t>Zekâ</a:t>
            </a:r>
            <a:r>
              <a:rPr dirty="0" sz="2200" spc="-35" b="1">
                <a:latin typeface="Cambria"/>
                <a:cs typeface="Cambria"/>
              </a:rPr>
              <a:t> </a:t>
            </a:r>
            <a:r>
              <a:rPr dirty="0" sz="2200" b="1">
                <a:latin typeface="Cambria"/>
                <a:cs typeface="Cambria"/>
              </a:rPr>
              <a:t>Tabanlı</a:t>
            </a:r>
            <a:r>
              <a:rPr dirty="0" sz="2200" spc="-60" b="1">
                <a:latin typeface="Cambria"/>
                <a:cs typeface="Cambria"/>
              </a:rPr>
              <a:t> </a:t>
            </a:r>
            <a:r>
              <a:rPr dirty="0" sz="2200" spc="-10" b="1">
                <a:latin typeface="Cambria"/>
                <a:cs typeface="Cambria"/>
              </a:rPr>
              <a:t>Sistem</a:t>
            </a:r>
            <a:endParaRPr sz="2200">
              <a:latin typeface="Cambria"/>
              <a:cs typeface="Cambri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-5080" y="1745744"/>
            <a:ext cx="14370685" cy="1189990"/>
            <a:chOff x="-5080" y="1745744"/>
            <a:chExt cx="14370685" cy="1189990"/>
          </a:xfrm>
        </p:grpSpPr>
        <p:sp>
          <p:nvSpPr>
            <p:cNvPr id="5" name="object 5"/>
            <p:cNvSpPr/>
            <p:nvPr/>
          </p:nvSpPr>
          <p:spPr>
            <a:xfrm>
              <a:off x="0" y="1750824"/>
              <a:ext cx="14360525" cy="87630"/>
            </a:xfrm>
            <a:custGeom>
              <a:avLst/>
              <a:gdLst/>
              <a:ahLst/>
              <a:cxnLst/>
              <a:rect l="l" t="t" r="r" b="b"/>
              <a:pathLst>
                <a:path w="14360525" h="87630">
                  <a:moveTo>
                    <a:pt x="14360419" y="0"/>
                  </a:moveTo>
                  <a:lnTo>
                    <a:pt x="0" y="0"/>
                  </a:lnTo>
                  <a:lnTo>
                    <a:pt x="0" y="87541"/>
                  </a:lnTo>
                  <a:lnTo>
                    <a:pt x="14360419" y="87541"/>
                  </a:lnTo>
                  <a:lnTo>
                    <a:pt x="14360419" y="0"/>
                  </a:lnTo>
                  <a:close/>
                </a:path>
              </a:pathLst>
            </a:custGeom>
            <a:solidFill>
              <a:srgbClr val="E89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0" y="1750824"/>
              <a:ext cx="14360525" cy="87630"/>
            </a:xfrm>
            <a:custGeom>
              <a:avLst/>
              <a:gdLst/>
              <a:ahLst/>
              <a:cxnLst/>
              <a:rect l="l" t="t" r="r" b="b"/>
              <a:pathLst>
                <a:path w="14360525" h="87630">
                  <a:moveTo>
                    <a:pt x="0" y="87541"/>
                  </a:moveTo>
                  <a:lnTo>
                    <a:pt x="14360419" y="87541"/>
                  </a:lnTo>
                  <a:lnTo>
                    <a:pt x="14360419" y="0"/>
                  </a:lnTo>
                  <a:lnTo>
                    <a:pt x="0" y="0"/>
                  </a:lnTo>
                  <a:lnTo>
                    <a:pt x="0" y="87541"/>
                  </a:lnTo>
                  <a:close/>
                </a:path>
              </a:pathLst>
            </a:custGeom>
            <a:ln w="10132">
              <a:solidFill>
                <a:srgbClr val="E89F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0" y="1838366"/>
              <a:ext cx="14360525" cy="1094740"/>
            </a:xfrm>
            <a:custGeom>
              <a:avLst/>
              <a:gdLst/>
              <a:ahLst/>
              <a:cxnLst/>
              <a:rect l="l" t="t" r="r" b="b"/>
              <a:pathLst>
                <a:path w="14360525" h="1094739">
                  <a:moveTo>
                    <a:pt x="14360419" y="0"/>
                  </a:moveTo>
                  <a:lnTo>
                    <a:pt x="0" y="0"/>
                  </a:lnTo>
                  <a:lnTo>
                    <a:pt x="0" y="1094266"/>
                  </a:lnTo>
                  <a:lnTo>
                    <a:pt x="14360419" y="1094266"/>
                  </a:lnTo>
                  <a:lnTo>
                    <a:pt x="14360419" y="0"/>
                  </a:lnTo>
                  <a:close/>
                </a:path>
              </a:pathLst>
            </a:custGeom>
            <a:solidFill>
              <a:srgbClr val="E6EC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0" y="1838366"/>
              <a:ext cx="14360525" cy="1094740"/>
            </a:xfrm>
            <a:custGeom>
              <a:avLst/>
              <a:gdLst/>
              <a:ahLst/>
              <a:cxnLst/>
              <a:rect l="l" t="t" r="r" b="b"/>
              <a:pathLst>
                <a:path w="14360525" h="1094739">
                  <a:moveTo>
                    <a:pt x="0" y="1094266"/>
                  </a:moveTo>
                  <a:lnTo>
                    <a:pt x="14360419" y="1094266"/>
                  </a:lnTo>
                  <a:lnTo>
                    <a:pt x="14360419" y="0"/>
                  </a:lnTo>
                  <a:lnTo>
                    <a:pt x="0" y="0"/>
                  </a:lnTo>
                  <a:lnTo>
                    <a:pt x="0" y="1094266"/>
                  </a:lnTo>
                  <a:close/>
                </a:path>
              </a:pathLst>
            </a:custGeom>
            <a:ln w="5066">
              <a:solidFill>
                <a:srgbClr val="C2CDD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218853" y="1911317"/>
              <a:ext cx="43815" cy="875665"/>
            </a:xfrm>
            <a:custGeom>
              <a:avLst/>
              <a:gdLst/>
              <a:ahLst/>
              <a:cxnLst/>
              <a:rect l="l" t="t" r="r" b="b"/>
              <a:pathLst>
                <a:path w="43814" h="875664">
                  <a:moveTo>
                    <a:pt x="43770" y="0"/>
                  </a:moveTo>
                  <a:lnTo>
                    <a:pt x="0" y="0"/>
                  </a:lnTo>
                  <a:lnTo>
                    <a:pt x="0" y="875412"/>
                  </a:lnTo>
                  <a:lnTo>
                    <a:pt x="43770" y="875412"/>
                  </a:lnTo>
                  <a:lnTo>
                    <a:pt x="43770" y="0"/>
                  </a:lnTo>
                  <a:close/>
                </a:path>
              </a:pathLst>
            </a:custGeom>
            <a:solidFill>
              <a:srgbClr val="0E7A6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218853" y="1911317"/>
              <a:ext cx="43815" cy="875665"/>
            </a:xfrm>
            <a:custGeom>
              <a:avLst/>
              <a:gdLst/>
              <a:ahLst/>
              <a:cxnLst/>
              <a:rect l="l" t="t" r="r" b="b"/>
              <a:pathLst>
                <a:path w="43814" h="875664">
                  <a:moveTo>
                    <a:pt x="0" y="875412"/>
                  </a:moveTo>
                  <a:lnTo>
                    <a:pt x="43770" y="875412"/>
                  </a:lnTo>
                  <a:lnTo>
                    <a:pt x="43770" y="0"/>
                  </a:lnTo>
                  <a:lnTo>
                    <a:pt x="0" y="0"/>
                  </a:lnTo>
                  <a:lnTo>
                    <a:pt x="0" y="875412"/>
                  </a:lnTo>
                  <a:close/>
                </a:path>
              </a:pathLst>
            </a:custGeom>
            <a:ln w="10132">
              <a:solidFill>
                <a:srgbClr val="0E7A6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461482" y="1945561"/>
            <a:ext cx="2249805" cy="791845"/>
          </a:xfrm>
          <a:prstGeom prst="rect">
            <a:avLst/>
          </a:prstGeom>
        </p:spPr>
        <p:txBody>
          <a:bodyPr wrap="square" lIns="0" tIns="368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dirty="0" sz="1250">
                <a:solidFill>
                  <a:srgbClr val="6B7180"/>
                </a:solidFill>
                <a:latin typeface="Calibri"/>
                <a:cs typeface="Calibri"/>
              </a:rPr>
              <a:t>Proje</a:t>
            </a:r>
            <a:r>
              <a:rPr dirty="0" sz="1250" spc="25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6B7180"/>
                </a:solidFill>
                <a:latin typeface="Calibri"/>
                <a:cs typeface="Calibri"/>
              </a:rPr>
              <a:t>Öğrencisi</a:t>
            </a:r>
            <a:endParaRPr sz="12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dirty="0" sz="1900" b="1">
                <a:solidFill>
                  <a:srgbClr val="1A2240"/>
                </a:solidFill>
                <a:latin typeface="Calibri"/>
                <a:cs typeface="Calibri"/>
              </a:rPr>
              <a:t>Kerem</a:t>
            </a:r>
            <a:r>
              <a:rPr dirty="0" sz="1900" spc="-75" b="1">
                <a:solidFill>
                  <a:srgbClr val="1A2240"/>
                </a:solidFill>
                <a:latin typeface="Calibri"/>
                <a:cs typeface="Calibri"/>
              </a:rPr>
              <a:t> </a:t>
            </a:r>
            <a:r>
              <a:rPr dirty="0" sz="1900" spc="-10" b="1">
                <a:solidFill>
                  <a:srgbClr val="1A2240"/>
                </a:solidFill>
                <a:latin typeface="Calibri"/>
                <a:cs typeface="Calibri"/>
              </a:rPr>
              <a:t>Yağız</a:t>
            </a:r>
            <a:r>
              <a:rPr dirty="0" sz="1900" spc="-80" b="1">
                <a:solidFill>
                  <a:srgbClr val="1A2240"/>
                </a:solidFill>
                <a:latin typeface="Calibri"/>
                <a:cs typeface="Calibri"/>
              </a:rPr>
              <a:t> </a:t>
            </a:r>
            <a:r>
              <a:rPr dirty="0" sz="1900" spc="-10" b="1">
                <a:solidFill>
                  <a:srgbClr val="1A2240"/>
                </a:solidFill>
                <a:latin typeface="Calibri"/>
                <a:cs typeface="Calibri"/>
              </a:rPr>
              <a:t>KARAKAŞ</a:t>
            </a:r>
            <a:endParaRPr sz="1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dirty="0" sz="1250" i="1">
                <a:solidFill>
                  <a:srgbClr val="6B7180"/>
                </a:solidFill>
                <a:latin typeface="Calibri"/>
                <a:cs typeface="Calibri"/>
              </a:rPr>
              <a:t>[Bilgisayar</a:t>
            </a:r>
            <a:r>
              <a:rPr dirty="0" sz="1250" spc="50" i="1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6B7180"/>
                </a:solidFill>
                <a:latin typeface="Calibri"/>
                <a:cs typeface="Calibri"/>
              </a:rPr>
              <a:t>Mühendisliği</a:t>
            </a:r>
            <a:r>
              <a:rPr dirty="0" sz="1250" spc="50" i="1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6B7180"/>
                </a:solidFill>
                <a:latin typeface="Calibri"/>
                <a:cs typeface="Calibri"/>
              </a:rPr>
              <a:t>/</a:t>
            </a:r>
            <a:r>
              <a:rPr dirty="0" sz="1250" spc="50" i="1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6B7180"/>
                </a:solidFill>
                <a:latin typeface="Calibri"/>
                <a:cs typeface="Calibri"/>
              </a:rPr>
              <a:t>4.</a:t>
            </a:r>
            <a:r>
              <a:rPr dirty="0" sz="1250" spc="45" i="1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1250" spc="-10" i="1">
                <a:solidFill>
                  <a:srgbClr val="6B7180"/>
                </a:solidFill>
                <a:latin typeface="Calibri"/>
                <a:cs typeface="Calibri"/>
              </a:rPr>
              <a:t>Sınıf]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637158" y="1928305"/>
            <a:ext cx="1015365" cy="2197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250">
                <a:solidFill>
                  <a:srgbClr val="6B7180"/>
                </a:solidFill>
                <a:latin typeface="Calibri"/>
                <a:cs typeface="Calibri"/>
              </a:rPr>
              <a:t>Proje</a:t>
            </a:r>
            <a:r>
              <a:rPr dirty="0" sz="1250" spc="25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6B7180"/>
                </a:solidFill>
                <a:latin typeface="Calibri"/>
                <a:cs typeface="Calibri"/>
              </a:rPr>
              <a:t>Öğrencisi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74743" y="84197"/>
            <a:ext cx="13256894" cy="2707640"/>
            <a:chOff x="574743" y="84197"/>
            <a:chExt cx="13256894" cy="2707640"/>
          </a:xfrm>
        </p:grpSpPr>
        <p:sp>
          <p:nvSpPr>
            <p:cNvPr id="14" name="object 14"/>
            <p:cNvSpPr/>
            <p:nvPr/>
          </p:nvSpPr>
          <p:spPr>
            <a:xfrm>
              <a:off x="9792466" y="1911317"/>
              <a:ext cx="43815" cy="875665"/>
            </a:xfrm>
            <a:custGeom>
              <a:avLst/>
              <a:gdLst/>
              <a:ahLst/>
              <a:cxnLst/>
              <a:rect l="l" t="t" r="r" b="b"/>
              <a:pathLst>
                <a:path w="43815" h="875664">
                  <a:moveTo>
                    <a:pt x="43770" y="0"/>
                  </a:moveTo>
                  <a:lnTo>
                    <a:pt x="0" y="0"/>
                  </a:lnTo>
                  <a:lnTo>
                    <a:pt x="0" y="875412"/>
                  </a:lnTo>
                  <a:lnTo>
                    <a:pt x="43770" y="875412"/>
                  </a:lnTo>
                  <a:lnTo>
                    <a:pt x="43770" y="0"/>
                  </a:lnTo>
                  <a:close/>
                </a:path>
              </a:pathLst>
            </a:custGeom>
            <a:solidFill>
              <a:srgbClr val="E89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9792466" y="1911317"/>
              <a:ext cx="43815" cy="875665"/>
            </a:xfrm>
            <a:custGeom>
              <a:avLst/>
              <a:gdLst/>
              <a:ahLst/>
              <a:cxnLst/>
              <a:rect l="l" t="t" r="r" b="b"/>
              <a:pathLst>
                <a:path w="43815" h="875664">
                  <a:moveTo>
                    <a:pt x="0" y="875412"/>
                  </a:moveTo>
                  <a:lnTo>
                    <a:pt x="43770" y="875412"/>
                  </a:lnTo>
                  <a:lnTo>
                    <a:pt x="43770" y="0"/>
                  </a:lnTo>
                  <a:lnTo>
                    <a:pt x="0" y="0"/>
                  </a:lnTo>
                  <a:lnTo>
                    <a:pt x="0" y="875412"/>
                  </a:lnTo>
                  <a:close/>
                </a:path>
              </a:pathLst>
            </a:custGeom>
            <a:ln w="10132">
              <a:solidFill>
                <a:srgbClr val="E89F1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BAÜN logo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192961" y="125536"/>
              <a:ext cx="1638056" cy="152315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4743" y="84197"/>
              <a:ext cx="1638156" cy="1580606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10035803" y="1884830"/>
            <a:ext cx="2199640" cy="852805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dirty="0" sz="1250">
                <a:solidFill>
                  <a:srgbClr val="6B7180"/>
                </a:solidFill>
                <a:latin typeface="Calibri"/>
                <a:cs typeface="Calibri"/>
              </a:rPr>
              <a:t>Danışman</a:t>
            </a:r>
            <a:r>
              <a:rPr dirty="0" sz="1250" spc="25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6B7180"/>
                </a:solidFill>
                <a:latin typeface="Calibri"/>
                <a:cs typeface="Calibri"/>
              </a:rPr>
              <a:t>(Akademik)</a:t>
            </a:r>
            <a:endParaRPr sz="12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60"/>
              </a:spcBef>
            </a:pPr>
            <a:r>
              <a:rPr dirty="0" sz="1900" b="1">
                <a:solidFill>
                  <a:srgbClr val="1A2240"/>
                </a:solidFill>
                <a:latin typeface="Calibri"/>
                <a:cs typeface="Calibri"/>
              </a:rPr>
              <a:t>Selçuk</a:t>
            </a:r>
            <a:r>
              <a:rPr dirty="0" sz="1900" spc="-5" b="1">
                <a:solidFill>
                  <a:srgbClr val="1A2240"/>
                </a:solidFill>
                <a:latin typeface="Calibri"/>
                <a:cs typeface="Calibri"/>
              </a:rPr>
              <a:t> </a:t>
            </a:r>
            <a:r>
              <a:rPr dirty="0" sz="1900" spc="-10" b="1">
                <a:solidFill>
                  <a:srgbClr val="1A2240"/>
                </a:solidFill>
                <a:latin typeface="Calibri"/>
                <a:cs typeface="Calibri"/>
              </a:rPr>
              <a:t>Kavut</a:t>
            </a:r>
            <a:endParaRPr sz="1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dirty="0" sz="1250" i="1">
                <a:solidFill>
                  <a:srgbClr val="6B7180"/>
                </a:solidFill>
                <a:latin typeface="Calibri"/>
                <a:cs typeface="Calibri"/>
              </a:rPr>
              <a:t>[Prof.</a:t>
            </a:r>
            <a:r>
              <a:rPr dirty="0" sz="1250" spc="-10" i="1">
                <a:solidFill>
                  <a:srgbClr val="6B7180"/>
                </a:solidFill>
                <a:latin typeface="Calibri"/>
                <a:cs typeface="Calibri"/>
              </a:rPr>
              <a:t> Dr.</a:t>
            </a:r>
            <a:r>
              <a:rPr dirty="0" sz="1250" spc="5" i="1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6B7180"/>
                </a:solidFill>
                <a:latin typeface="Calibri"/>
                <a:cs typeface="Calibri"/>
              </a:rPr>
              <a:t>/</a:t>
            </a:r>
            <a:r>
              <a:rPr dirty="0" sz="1250" spc="5" i="1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6B7180"/>
                </a:solidFill>
                <a:latin typeface="Calibri"/>
                <a:cs typeface="Calibri"/>
              </a:rPr>
              <a:t>Mühendislik</a:t>
            </a:r>
            <a:r>
              <a:rPr dirty="0" sz="1250" spc="5" i="1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1250" spc="-10" i="1">
                <a:solidFill>
                  <a:srgbClr val="6B7180"/>
                </a:solidFill>
                <a:latin typeface="Calibri"/>
                <a:cs typeface="Calibri"/>
              </a:rPr>
              <a:t>Fakültesi]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55328" y="3078534"/>
            <a:ext cx="5170170" cy="379730"/>
          </a:xfrm>
          <a:prstGeom prst="rect">
            <a:avLst/>
          </a:prstGeom>
          <a:solidFill>
            <a:srgbClr val="0D2B5E"/>
          </a:solidFill>
        </p:spPr>
        <p:txBody>
          <a:bodyPr wrap="square" lIns="0" tIns="54610" rIns="0" bIns="0" rtlCol="0" vert="horz">
            <a:spAutoFit/>
          </a:bodyPr>
          <a:lstStyle/>
          <a:p>
            <a:pPr algn="ctr" marR="13970">
              <a:lnSpc>
                <a:spcPct val="100000"/>
              </a:lnSpc>
              <a:spcBef>
                <a:spcPts val="430"/>
              </a:spcBef>
            </a:pPr>
            <a:r>
              <a:rPr dirty="0" sz="1600" spc="120" b="1">
                <a:solidFill>
                  <a:srgbClr val="FFFFFF"/>
                </a:solidFill>
                <a:latin typeface="Calibri"/>
                <a:cs typeface="Calibri"/>
              </a:rPr>
              <a:t>PROJE</a:t>
            </a:r>
            <a:r>
              <a:rPr dirty="0" sz="1600" spc="30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110" b="1">
                <a:solidFill>
                  <a:srgbClr val="FFFFFF"/>
                </a:solidFill>
                <a:latin typeface="Calibri"/>
                <a:cs typeface="Calibri"/>
              </a:rPr>
              <a:t>ÖZETİ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55328" y="3457880"/>
            <a:ext cx="5170170" cy="4404995"/>
          </a:xfrm>
          <a:prstGeom prst="rect">
            <a:avLst/>
          </a:prstGeom>
          <a:solidFill>
            <a:srgbClr val="FFFFFF"/>
          </a:solidFill>
          <a:ln w="5066">
            <a:solidFill>
              <a:srgbClr val="C2CDD7"/>
            </a:solidFill>
          </a:ln>
        </p:spPr>
        <p:txBody>
          <a:bodyPr wrap="square" lIns="0" tIns="158115" rIns="0" bIns="0" rtlCol="0" vert="horz">
            <a:spAutoFit/>
          </a:bodyPr>
          <a:lstStyle/>
          <a:p>
            <a:pPr marL="203835" marR="579120">
              <a:lnSpc>
                <a:spcPct val="100000"/>
              </a:lnSpc>
              <a:spcBef>
                <a:spcPts val="1245"/>
              </a:spcBef>
            </a:pPr>
            <a:r>
              <a:rPr dirty="0" sz="1350">
                <a:latin typeface="Calibri"/>
                <a:cs typeface="Calibri"/>
              </a:rPr>
              <a:t>Bu</a:t>
            </a:r>
            <a:r>
              <a:rPr dirty="0" sz="1350" spc="-2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projede,</a:t>
            </a:r>
            <a:r>
              <a:rPr dirty="0" sz="1350" spc="-3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tek</a:t>
            </a:r>
            <a:r>
              <a:rPr dirty="0" sz="1350" spc="-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bir</a:t>
            </a:r>
            <a:r>
              <a:rPr dirty="0" sz="1350" spc="-35">
                <a:latin typeface="Calibri"/>
                <a:cs typeface="Calibri"/>
              </a:rPr>
              <a:t> </a:t>
            </a:r>
            <a:r>
              <a:rPr dirty="0" sz="1350" spc="-10">
                <a:latin typeface="Calibri"/>
                <a:cs typeface="Calibri"/>
              </a:rPr>
              <a:t>kameradan</a:t>
            </a:r>
            <a:r>
              <a:rPr dirty="0" sz="1350" spc="-4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araçları</a:t>
            </a:r>
            <a:r>
              <a:rPr dirty="0" sz="1350" spc="-1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tespit</a:t>
            </a:r>
            <a:r>
              <a:rPr dirty="0" sz="1350" spc="-4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eden</a:t>
            </a:r>
            <a:r>
              <a:rPr dirty="0" sz="1350" spc="-2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ve</a:t>
            </a:r>
            <a:r>
              <a:rPr dirty="0" sz="1350" spc="-10">
                <a:latin typeface="Calibri"/>
                <a:cs typeface="Calibri"/>
              </a:rPr>
              <a:t> </a:t>
            </a:r>
            <a:r>
              <a:rPr dirty="0" sz="1350" spc="-20">
                <a:latin typeface="Calibri"/>
                <a:cs typeface="Calibri"/>
              </a:rPr>
              <a:t>park </a:t>
            </a:r>
            <a:r>
              <a:rPr dirty="0" sz="1350" spc="-10">
                <a:latin typeface="Calibri"/>
                <a:cs typeface="Calibri"/>
              </a:rPr>
              <a:t>alanlarının</a:t>
            </a:r>
            <a:r>
              <a:rPr dirty="0" sz="1350" spc="-45">
                <a:latin typeface="Calibri"/>
                <a:cs typeface="Calibri"/>
              </a:rPr>
              <a:t> </a:t>
            </a:r>
            <a:r>
              <a:rPr dirty="0" sz="1350" spc="-10">
                <a:latin typeface="Calibri"/>
                <a:cs typeface="Calibri"/>
              </a:rPr>
              <a:t>uygunluğunu</a:t>
            </a:r>
            <a:r>
              <a:rPr dirty="0" sz="1350" spc="-4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gerçek</a:t>
            </a:r>
            <a:r>
              <a:rPr dirty="0" sz="1350" spc="-2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zamanlı</a:t>
            </a:r>
            <a:r>
              <a:rPr dirty="0" sz="1350" spc="-2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analiz</a:t>
            </a:r>
            <a:r>
              <a:rPr dirty="0" sz="1350" spc="-4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eden</a:t>
            </a:r>
            <a:r>
              <a:rPr dirty="0" sz="1350" spc="-2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yapay</a:t>
            </a:r>
            <a:r>
              <a:rPr dirty="0" sz="1350" spc="-10">
                <a:latin typeface="Calibri"/>
                <a:cs typeface="Calibri"/>
              </a:rPr>
              <a:t> </a:t>
            </a:r>
            <a:r>
              <a:rPr dirty="0" sz="1350" spc="-20">
                <a:latin typeface="Calibri"/>
                <a:cs typeface="Calibri"/>
              </a:rPr>
              <a:t>zekâ</a:t>
            </a:r>
            <a:endParaRPr sz="1350">
              <a:latin typeface="Calibri"/>
              <a:cs typeface="Calibri"/>
            </a:endParaRPr>
          </a:p>
          <a:p>
            <a:pPr marL="203835" marR="200025">
              <a:lnSpc>
                <a:spcPct val="100000"/>
              </a:lnSpc>
              <a:spcBef>
                <a:spcPts val="15"/>
              </a:spcBef>
            </a:pPr>
            <a:r>
              <a:rPr dirty="0" sz="1350">
                <a:latin typeface="Calibri"/>
                <a:cs typeface="Calibri"/>
              </a:rPr>
              <a:t>tabanlı</a:t>
            </a:r>
            <a:r>
              <a:rPr dirty="0" sz="1350" spc="-3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bir</a:t>
            </a:r>
            <a:r>
              <a:rPr dirty="0" sz="1350" spc="-2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sistem</a:t>
            </a:r>
            <a:r>
              <a:rPr dirty="0" sz="1350" spc="-15">
                <a:latin typeface="Calibri"/>
                <a:cs typeface="Calibri"/>
              </a:rPr>
              <a:t> </a:t>
            </a:r>
            <a:r>
              <a:rPr dirty="0" sz="1350" spc="-20">
                <a:latin typeface="Calibri"/>
                <a:cs typeface="Calibri"/>
              </a:rPr>
              <a:t>geliştirilmiştir.</a:t>
            </a:r>
            <a:r>
              <a:rPr dirty="0" sz="1350" spc="-4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Araç</a:t>
            </a:r>
            <a:r>
              <a:rPr dirty="0" sz="1350" spc="-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tespiti</a:t>
            </a:r>
            <a:r>
              <a:rPr dirty="0" sz="1350" spc="-30">
                <a:latin typeface="Calibri"/>
                <a:cs typeface="Calibri"/>
              </a:rPr>
              <a:t> </a:t>
            </a:r>
            <a:r>
              <a:rPr dirty="0" sz="1350" spc="-10">
                <a:latin typeface="Calibri"/>
                <a:cs typeface="Calibri"/>
              </a:rPr>
              <a:t>YOLOv8</a:t>
            </a:r>
            <a:r>
              <a:rPr dirty="0" sz="1350" spc="-1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ile</a:t>
            </a:r>
            <a:r>
              <a:rPr dirty="0" sz="1350" spc="-1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yapılmış;</a:t>
            </a:r>
            <a:r>
              <a:rPr dirty="0" sz="1350" spc="-35">
                <a:latin typeface="Calibri"/>
                <a:cs typeface="Calibri"/>
              </a:rPr>
              <a:t> </a:t>
            </a:r>
            <a:r>
              <a:rPr dirty="0" sz="1350" spc="-25">
                <a:latin typeface="Calibri"/>
                <a:cs typeface="Calibri"/>
              </a:rPr>
              <a:t>boş </a:t>
            </a:r>
            <a:r>
              <a:rPr dirty="0" sz="1350" spc="-20">
                <a:latin typeface="Calibri"/>
                <a:cs typeface="Calibri"/>
              </a:rPr>
              <a:t>yerler,</a:t>
            </a:r>
            <a:r>
              <a:rPr dirty="0" sz="1350" spc="-4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boyalı</a:t>
            </a:r>
            <a:r>
              <a:rPr dirty="0" sz="1350" spc="-3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şerit</a:t>
            </a:r>
            <a:r>
              <a:rPr dirty="0" sz="1350" spc="-3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varsa</a:t>
            </a:r>
            <a:r>
              <a:rPr dirty="0" sz="1350" spc="-45">
                <a:latin typeface="Calibri"/>
                <a:cs typeface="Calibri"/>
              </a:rPr>
              <a:t> </a:t>
            </a:r>
            <a:r>
              <a:rPr dirty="0" sz="1350" spc="-10">
                <a:latin typeface="Calibri"/>
                <a:cs typeface="Calibri"/>
              </a:rPr>
              <a:t>ızgara</a:t>
            </a:r>
            <a:r>
              <a:rPr dirty="0" sz="1350" spc="-4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tabanlı,</a:t>
            </a:r>
            <a:r>
              <a:rPr dirty="0" sz="1350" spc="-4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yoksa</a:t>
            </a:r>
            <a:r>
              <a:rPr dirty="0" sz="1350" spc="-2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geometri</a:t>
            </a:r>
            <a:r>
              <a:rPr dirty="0" sz="1350" spc="-25">
                <a:latin typeface="Calibri"/>
                <a:cs typeface="Calibri"/>
              </a:rPr>
              <a:t> </a:t>
            </a:r>
            <a:r>
              <a:rPr dirty="0" sz="1350" spc="-10">
                <a:latin typeface="Calibri"/>
                <a:cs typeface="Calibri"/>
              </a:rPr>
              <a:t>tabanlı</a:t>
            </a:r>
            <a:r>
              <a:rPr dirty="0" sz="1350" spc="50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adaptif</a:t>
            </a:r>
            <a:r>
              <a:rPr dirty="0" sz="1350" spc="-2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yöntemle</a:t>
            </a:r>
            <a:r>
              <a:rPr dirty="0" sz="1350" spc="10">
                <a:latin typeface="Calibri"/>
                <a:cs typeface="Calibri"/>
              </a:rPr>
              <a:t> </a:t>
            </a:r>
            <a:r>
              <a:rPr dirty="0" sz="1350" spc="-20">
                <a:latin typeface="Calibri"/>
                <a:cs typeface="Calibri"/>
              </a:rPr>
              <a:t>belirlenmiştir.</a:t>
            </a:r>
            <a:r>
              <a:rPr dirty="0" sz="1350" spc="-25">
                <a:latin typeface="Calibri"/>
                <a:cs typeface="Calibri"/>
              </a:rPr>
              <a:t> </a:t>
            </a:r>
            <a:r>
              <a:rPr dirty="0" sz="1350" spc="-30">
                <a:latin typeface="Calibri"/>
                <a:cs typeface="Calibri"/>
              </a:rPr>
              <a:t>Ters</a:t>
            </a:r>
            <a:r>
              <a:rPr dirty="0" sz="1350" spc="-15">
                <a:latin typeface="Calibri"/>
                <a:cs typeface="Calibri"/>
              </a:rPr>
              <a:t> </a:t>
            </a:r>
            <a:r>
              <a:rPr dirty="0" sz="1350" spc="-10">
                <a:latin typeface="Calibri"/>
                <a:cs typeface="Calibri"/>
              </a:rPr>
              <a:t>Perspektif</a:t>
            </a:r>
            <a:r>
              <a:rPr dirty="0" sz="1350" spc="-1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Dönüşümü</a:t>
            </a:r>
            <a:r>
              <a:rPr dirty="0" sz="1350" spc="-25">
                <a:latin typeface="Calibri"/>
                <a:cs typeface="Calibri"/>
              </a:rPr>
              <a:t> ile</a:t>
            </a:r>
            <a:endParaRPr sz="1350">
              <a:latin typeface="Calibri"/>
              <a:cs typeface="Calibri"/>
            </a:endParaRPr>
          </a:p>
          <a:p>
            <a:pPr marL="203835" marR="415290">
              <a:lnSpc>
                <a:spcPct val="100000"/>
              </a:lnSpc>
              <a:spcBef>
                <a:spcPts val="20"/>
              </a:spcBef>
            </a:pPr>
            <a:r>
              <a:rPr dirty="0" sz="1350">
                <a:latin typeface="Calibri"/>
                <a:cs typeface="Calibri"/>
              </a:rPr>
              <a:t>görüntü</a:t>
            </a:r>
            <a:r>
              <a:rPr dirty="0" sz="1350" spc="-3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kuş</a:t>
            </a:r>
            <a:r>
              <a:rPr dirty="0" sz="1350" spc="-1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bakışına</a:t>
            </a:r>
            <a:r>
              <a:rPr dirty="0" sz="1350" spc="-15">
                <a:latin typeface="Calibri"/>
                <a:cs typeface="Calibri"/>
              </a:rPr>
              <a:t> </a:t>
            </a:r>
            <a:r>
              <a:rPr dirty="0" sz="1350" spc="-10">
                <a:latin typeface="Calibri"/>
                <a:cs typeface="Calibri"/>
              </a:rPr>
              <a:t>çevrilerek</a:t>
            </a:r>
            <a:r>
              <a:rPr dirty="0" sz="1350" spc="-20">
                <a:latin typeface="Calibri"/>
                <a:cs typeface="Calibri"/>
              </a:rPr>
              <a:t> </a:t>
            </a:r>
            <a:r>
              <a:rPr dirty="0" sz="1350" spc="-10">
                <a:latin typeface="Calibri"/>
                <a:cs typeface="Calibri"/>
              </a:rPr>
              <a:t>çapraz</a:t>
            </a:r>
            <a:r>
              <a:rPr dirty="0" sz="1350" spc="-2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açı bozulması</a:t>
            </a:r>
            <a:r>
              <a:rPr dirty="0" sz="1350" spc="5">
                <a:latin typeface="Calibri"/>
                <a:cs typeface="Calibri"/>
              </a:rPr>
              <a:t> </a:t>
            </a:r>
            <a:r>
              <a:rPr dirty="0" sz="1350" spc="-10">
                <a:latin typeface="Calibri"/>
                <a:cs typeface="Calibri"/>
              </a:rPr>
              <a:t>giderilmiş</a:t>
            </a:r>
            <a:r>
              <a:rPr dirty="0" sz="1350" spc="-30">
                <a:latin typeface="Calibri"/>
                <a:cs typeface="Calibri"/>
              </a:rPr>
              <a:t> </a:t>
            </a:r>
            <a:r>
              <a:rPr dirty="0" sz="1350" spc="-25">
                <a:latin typeface="Calibri"/>
                <a:cs typeface="Calibri"/>
              </a:rPr>
              <a:t>ve </a:t>
            </a:r>
            <a:r>
              <a:rPr dirty="0" sz="1350">
                <a:latin typeface="Calibri"/>
                <a:cs typeface="Calibri"/>
              </a:rPr>
              <a:t>park</a:t>
            </a:r>
            <a:r>
              <a:rPr dirty="0" sz="1350" spc="-5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yerlerinin</a:t>
            </a:r>
            <a:r>
              <a:rPr dirty="0" sz="1350" spc="-5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gerçek</a:t>
            </a:r>
            <a:r>
              <a:rPr dirty="0" sz="1350" spc="-4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metrik</a:t>
            </a:r>
            <a:r>
              <a:rPr dirty="0" sz="1350" spc="-2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boyutları</a:t>
            </a:r>
            <a:r>
              <a:rPr dirty="0" sz="1350" spc="-55">
                <a:latin typeface="Calibri"/>
                <a:cs typeface="Calibri"/>
              </a:rPr>
              <a:t> </a:t>
            </a:r>
            <a:r>
              <a:rPr dirty="0" sz="1350" spc="-10">
                <a:latin typeface="Calibri"/>
                <a:cs typeface="Calibri"/>
              </a:rPr>
              <a:t>ölçülmüştür.</a:t>
            </a:r>
            <a:r>
              <a:rPr dirty="0" sz="1350" spc="-30">
                <a:latin typeface="Calibri"/>
                <a:cs typeface="Calibri"/>
              </a:rPr>
              <a:t> </a:t>
            </a:r>
            <a:r>
              <a:rPr dirty="0" sz="1350" spc="-10">
                <a:latin typeface="Calibri"/>
                <a:cs typeface="Calibri"/>
              </a:rPr>
              <a:t>Sistem,</a:t>
            </a:r>
            <a:endParaRPr sz="1350">
              <a:latin typeface="Calibri"/>
              <a:cs typeface="Calibri"/>
            </a:endParaRPr>
          </a:p>
          <a:p>
            <a:pPr marL="203835" marR="241935">
              <a:lnSpc>
                <a:spcPct val="100000"/>
              </a:lnSpc>
              <a:spcBef>
                <a:spcPts val="15"/>
              </a:spcBef>
            </a:pPr>
            <a:r>
              <a:rPr dirty="0" sz="1350">
                <a:latin typeface="Calibri"/>
                <a:cs typeface="Calibri"/>
              </a:rPr>
              <a:t>sürücünün</a:t>
            </a:r>
            <a:r>
              <a:rPr dirty="0" sz="1350" spc="-3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aracına</a:t>
            </a:r>
            <a:r>
              <a:rPr dirty="0" sz="1350" spc="-3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uygun</a:t>
            </a:r>
            <a:r>
              <a:rPr dirty="0" sz="1350" spc="-6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en</a:t>
            </a:r>
            <a:r>
              <a:rPr dirty="0" sz="1350" spc="-3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yakın</a:t>
            </a:r>
            <a:r>
              <a:rPr dirty="0" sz="1350" spc="-3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boş</a:t>
            </a:r>
            <a:r>
              <a:rPr dirty="0" sz="1350" spc="-4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yeri</a:t>
            </a:r>
            <a:r>
              <a:rPr dirty="0" sz="1350" spc="-3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çok</a:t>
            </a:r>
            <a:r>
              <a:rPr dirty="0" sz="1350" spc="-1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kriterli</a:t>
            </a:r>
            <a:r>
              <a:rPr dirty="0" sz="1350" spc="-6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bir</a:t>
            </a:r>
            <a:r>
              <a:rPr dirty="0" sz="1350" spc="-40">
                <a:latin typeface="Calibri"/>
                <a:cs typeface="Calibri"/>
              </a:rPr>
              <a:t> </a:t>
            </a:r>
            <a:r>
              <a:rPr dirty="0" sz="1350" spc="-10">
                <a:latin typeface="Calibri"/>
                <a:cs typeface="Calibri"/>
              </a:rPr>
              <a:t>skorla </a:t>
            </a:r>
            <a:r>
              <a:rPr dirty="0" sz="1350">
                <a:latin typeface="Calibri"/>
                <a:cs typeface="Calibri"/>
              </a:rPr>
              <a:t>önerir;</a:t>
            </a:r>
            <a:r>
              <a:rPr dirty="0" sz="1350" spc="-2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gece</a:t>
            </a:r>
            <a:r>
              <a:rPr dirty="0" sz="1350" spc="-2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görüşü</a:t>
            </a:r>
            <a:r>
              <a:rPr dirty="0" sz="1350" spc="-15">
                <a:latin typeface="Calibri"/>
                <a:cs typeface="Calibri"/>
              </a:rPr>
              <a:t> </a:t>
            </a:r>
            <a:r>
              <a:rPr dirty="0" sz="1350" spc="-10">
                <a:latin typeface="Calibri"/>
                <a:cs typeface="Calibri"/>
              </a:rPr>
              <a:t>iyileştirme,</a:t>
            </a:r>
            <a:r>
              <a:rPr dirty="0" sz="1350" spc="-2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tek</a:t>
            </a:r>
            <a:r>
              <a:rPr dirty="0" sz="1350" spc="-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kameralı</a:t>
            </a:r>
            <a:r>
              <a:rPr dirty="0" sz="1350" spc="-3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derinlik</a:t>
            </a:r>
            <a:r>
              <a:rPr dirty="0" sz="1350" spc="-3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ve</a:t>
            </a:r>
            <a:r>
              <a:rPr dirty="0" sz="1350" spc="-10">
                <a:latin typeface="Calibri"/>
                <a:cs typeface="Calibri"/>
              </a:rPr>
              <a:t> çevrimdışı </a:t>
            </a:r>
            <a:r>
              <a:rPr dirty="0" sz="1350">
                <a:latin typeface="Calibri"/>
                <a:cs typeface="Calibri"/>
              </a:rPr>
              <a:t>sesli</a:t>
            </a:r>
            <a:r>
              <a:rPr dirty="0" sz="1350" spc="-2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komut</a:t>
            </a:r>
            <a:r>
              <a:rPr dirty="0" sz="1350" spc="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gibi</a:t>
            </a:r>
            <a:r>
              <a:rPr dirty="0" sz="1350" spc="-25">
                <a:latin typeface="Calibri"/>
                <a:cs typeface="Calibri"/>
              </a:rPr>
              <a:t> </a:t>
            </a:r>
            <a:r>
              <a:rPr dirty="0" sz="1350" spc="-10">
                <a:latin typeface="Calibri"/>
                <a:cs typeface="Calibri"/>
              </a:rPr>
              <a:t>sürücü-asistanı</a:t>
            </a:r>
            <a:r>
              <a:rPr dirty="0" sz="1350" spc="-5">
                <a:latin typeface="Calibri"/>
                <a:cs typeface="Calibri"/>
              </a:rPr>
              <a:t> </a:t>
            </a:r>
            <a:r>
              <a:rPr dirty="0" sz="1350" spc="-10">
                <a:latin typeface="Calibri"/>
                <a:cs typeface="Calibri"/>
              </a:rPr>
              <a:t>özellikleri </a:t>
            </a:r>
            <a:r>
              <a:rPr dirty="0" sz="1350" spc="-25">
                <a:latin typeface="Calibri"/>
                <a:cs typeface="Calibri"/>
              </a:rPr>
              <a:t>içerir.</a:t>
            </a:r>
            <a:r>
              <a:rPr dirty="0" sz="1350" spc="-30">
                <a:latin typeface="Calibri"/>
                <a:cs typeface="Calibri"/>
              </a:rPr>
              <a:t> </a:t>
            </a:r>
            <a:r>
              <a:rPr dirty="0" sz="1350" spc="-10">
                <a:latin typeface="Calibri"/>
                <a:cs typeface="Calibri"/>
              </a:rPr>
              <a:t>Yöntem,</a:t>
            </a:r>
            <a:r>
              <a:rPr dirty="0" sz="1350" spc="-5">
                <a:latin typeface="Calibri"/>
                <a:cs typeface="Calibri"/>
              </a:rPr>
              <a:t> </a:t>
            </a:r>
            <a:r>
              <a:rPr dirty="0" sz="1350" spc="-10">
                <a:latin typeface="Calibri"/>
                <a:cs typeface="Calibri"/>
              </a:rPr>
              <a:t>etiketli</a:t>
            </a:r>
            <a:r>
              <a:rPr dirty="0" sz="1350" spc="-15">
                <a:latin typeface="Calibri"/>
                <a:cs typeface="Calibri"/>
              </a:rPr>
              <a:t> </a:t>
            </a:r>
            <a:r>
              <a:rPr dirty="0" sz="1350" spc="-20">
                <a:latin typeface="Calibri"/>
                <a:cs typeface="Calibri"/>
              </a:rPr>
              <a:t>test </a:t>
            </a:r>
            <a:r>
              <a:rPr dirty="0" sz="1350">
                <a:latin typeface="Calibri"/>
                <a:cs typeface="Calibri"/>
              </a:rPr>
              <a:t>görüntüleri</a:t>
            </a:r>
            <a:r>
              <a:rPr dirty="0" sz="1350" spc="-2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ve</a:t>
            </a:r>
            <a:r>
              <a:rPr dirty="0" sz="1350" spc="-4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sentetik</a:t>
            </a:r>
            <a:r>
              <a:rPr dirty="0" sz="1350" spc="-3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senaryolarla</a:t>
            </a:r>
            <a:r>
              <a:rPr dirty="0" sz="1350" spc="-45">
                <a:latin typeface="Calibri"/>
                <a:cs typeface="Calibri"/>
              </a:rPr>
              <a:t> </a:t>
            </a:r>
            <a:r>
              <a:rPr dirty="0" sz="1350" spc="-10">
                <a:latin typeface="Calibri"/>
                <a:cs typeface="Calibri"/>
              </a:rPr>
              <a:t>değerlendirilmiş;</a:t>
            </a:r>
            <a:r>
              <a:rPr dirty="0" sz="1350" spc="-2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gündüz</a:t>
            </a:r>
            <a:r>
              <a:rPr dirty="0" sz="1350" spc="-35">
                <a:latin typeface="Calibri"/>
                <a:cs typeface="Calibri"/>
              </a:rPr>
              <a:t> </a:t>
            </a:r>
            <a:r>
              <a:rPr dirty="0" sz="1350" spc="-25">
                <a:latin typeface="Calibri"/>
                <a:cs typeface="Calibri"/>
              </a:rPr>
              <a:t>ve </a:t>
            </a:r>
            <a:r>
              <a:rPr dirty="0" sz="1350">
                <a:latin typeface="Calibri"/>
                <a:cs typeface="Calibri"/>
              </a:rPr>
              <a:t>çizgili</a:t>
            </a:r>
            <a:r>
              <a:rPr dirty="0" sz="1350" spc="-2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park</a:t>
            </a:r>
            <a:r>
              <a:rPr dirty="0" sz="1350" spc="-30">
                <a:latin typeface="Calibri"/>
                <a:cs typeface="Calibri"/>
              </a:rPr>
              <a:t> </a:t>
            </a:r>
            <a:r>
              <a:rPr dirty="0" sz="1350" spc="-10">
                <a:latin typeface="Calibri"/>
                <a:cs typeface="Calibri"/>
              </a:rPr>
              <a:t>koşullarında</a:t>
            </a:r>
            <a:r>
              <a:rPr dirty="0" sz="1350" spc="-2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boş/dolu</a:t>
            </a:r>
            <a:r>
              <a:rPr dirty="0" sz="1350" spc="-4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ayrımını</a:t>
            </a:r>
            <a:r>
              <a:rPr dirty="0" sz="1350" spc="-2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yüksek</a:t>
            </a:r>
            <a:r>
              <a:rPr dirty="0" sz="1350" spc="-30">
                <a:latin typeface="Calibri"/>
                <a:cs typeface="Calibri"/>
              </a:rPr>
              <a:t> </a:t>
            </a:r>
            <a:r>
              <a:rPr dirty="0" sz="1350" spc="-10">
                <a:latin typeface="Calibri"/>
                <a:cs typeface="Calibri"/>
              </a:rPr>
              <a:t>isabetle</a:t>
            </a:r>
            <a:endParaRPr sz="1350">
              <a:latin typeface="Calibri"/>
              <a:cs typeface="Calibri"/>
            </a:endParaRPr>
          </a:p>
          <a:p>
            <a:pPr marL="203835" marR="382905">
              <a:lnSpc>
                <a:spcPct val="100000"/>
              </a:lnSpc>
              <a:spcBef>
                <a:spcPts val="40"/>
              </a:spcBef>
            </a:pPr>
            <a:r>
              <a:rPr dirty="0" sz="1350" spc="-20">
                <a:latin typeface="Calibri"/>
                <a:cs typeface="Calibri"/>
              </a:rPr>
              <a:t>gerçekleştirmiştir.</a:t>
            </a:r>
            <a:r>
              <a:rPr dirty="0" sz="1350" spc="-2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Sistem,</a:t>
            </a:r>
            <a:r>
              <a:rPr dirty="0" sz="1350" spc="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standart</a:t>
            </a:r>
            <a:r>
              <a:rPr dirty="0" sz="1350" spc="-2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bir</a:t>
            </a:r>
            <a:r>
              <a:rPr dirty="0" sz="1350" spc="-5">
                <a:latin typeface="Calibri"/>
                <a:cs typeface="Calibri"/>
              </a:rPr>
              <a:t> </a:t>
            </a:r>
            <a:r>
              <a:rPr dirty="0" sz="1350" spc="-10">
                <a:latin typeface="Calibri"/>
                <a:cs typeface="Calibri"/>
              </a:rPr>
              <a:t>bilgisayarda</a:t>
            </a:r>
            <a:r>
              <a:rPr dirty="0" sz="1350">
                <a:latin typeface="Calibri"/>
                <a:cs typeface="Calibri"/>
              </a:rPr>
              <a:t> yaklaşık</a:t>
            </a:r>
            <a:r>
              <a:rPr dirty="0" sz="1350" spc="-20">
                <a:latin typeface="Calibri"/>
                <a:cs typeface="Calibri"/>
              </a:rPr>
              <a:t> </a:t>
            </a:r>
            <a:r>
              <a:rPr dirty="0" sz="1350" spc="-10">
                <a:latin typeface="Calibri"/>
                <a:cs typeface="Calibri"/>
              </a:rPr>
              <a:t>gerçek </a:t>
            </a:r>
            <a:r>
              <a:rPr dirty="0" sz="1350">
                <a:latin typeface="Calibri"/>
                <a:cs typeface="Calibri"/>
              </a:rPr>
              <a:t>zamanlı</a:t>
            </a:r>
            <a:r>
              <a:rPr dirty="0" sz="1350" spc="-4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hızda</a:t>
            </a:r>
            <a:r>
              <a:rPr dirty="0" sz="1350" spc="-5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çalışmakta;</a:t>
            </a:r>
            <a:r>
              <a:rPr dirty="0" sz="1350" spc="-4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gece</a:t>
            </a:r>
            <a:r>
              <a:rPr dirty="0" sz="1350" spc="-2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ve</a:t>
            </a:r>
            <a:r>
              <a:rPr dirty="0" sz="1350" spc="-2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düşük</a:t>
            </a:r>
            <a:r>
              <a:rPr dirty="0" sz="1350" spc="-2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ışık</a:t>
            </a:r>
            <a:r>
              <a:rPr dirty="0" sz="1350" spc="-4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gibi</a:t>
            </a:r>
            <a:r>
              <a:rPr dirty="0" sz="1350" spc="-3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zorlu</a:t>
            </a:r>
            <a:r>
              <a:rPr dirty="0" sz="1350" spc="-45">
                <a:latin typeface="Calibri"/>
                <a:cs typeface="Calibri"/>
              </a:rPr>
              <a:t> </a:t>
            </a:r>
            <a:r>
              <a:rPr dirty="0" sz="1350" spc="-10">
                <a:latin typeface="Calibri"/>
                <a:cs typeface="Calibri"/>
              </a:rPr>
              <a:t>koşullarda </a:t>
            </a:r>
            <a:r>
              <a:rPr dirty="0" sz="1350">
                <a:latin typeface="Calibri"/>
                <a:cs typeface="Calibri"/>
              </a:rPr>
              <a:t>doğruluğun</a:t>
            </a:r>
            <a:r>
              <a:rPr dirty="0" sz="1350" spc="-10">
                <a:latin typeface="Calibri"/>
                <a:cs typeface="Calibri"/>
              </a:rPr>
              <a:t> artırılması</a:t>
            </a:r>
            <a:r>
              <a:rPr dirty="0" sz="1350" spc="-4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gelecek</a:t>
            </a:r>
            <a:r>
              <a:rPr dirty="0" sz="1350" spc="-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çalışma</a:t>
            </a:r>
            <a:r>
              <a:rPr dirty="0" sz="1350" spc="-2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olarak</a:t>
            </a:r>
            <a:r>
              <a:rPr dirty="0" sz="1350" spc="-15">
                <a:latin typeface="Calibri"/>
                <a:cs typeface="Calibri"/>
              </a:rPr>
              <a:t> </a:t>
            </a:r>
            <a:r>
              <a:rPr dirty="0" sz="1350" spc="-10">
                <a:latin typeface="Calibri"/>
                <a:cs typeface="Calibri"/>
              </a:rPr>
              <a:t>belirlenmiştir.</a:t>
            </a:r>
            <a:endParaRPr sz="1350">
              <a:latin typeface="Calibri"/>
              <a:cs typeface="Calibri"/>
            </a:endParaRPr>
          </a:p>
          <a:p>
            <a:pPr marL="203835">
              <a:lnSpc>
                <a:spcPct val="100000"/>
              </a:lnSpc>
              <a:spcBef>
                <a:spcPts val="25"/>
              </a:spcBef>
            </a:pPr>
            <a:r>
              <a:rPr dirty="0" sz="1350" spc="-10">
                <a:latin typeface="Calibri"/>
                <a:cs typeface="Calibri"/>
              </a:rPr>
              <a:t>Geliştirilen</a:t>
            </a:r>
            <a:r>
              <a:rPr dirty="0" sz="1350" spc="-2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çözüm,</a:t>
            </a:r>
            <a:r>
              <a:rPr dirty="0" sz="1350" spc="1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ek</a:t>
            </a:r>
            <a:r>
              <a:rPr dirty="0" sz="1350" spc="2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sensör</a:t>
            </a:r>
            <a:r>
              <a:rPr dirty="0" sz="1350" spc="-2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altyapısı</a:t>
            </a:r>
            <a:r>
              <a:rPr dirty="0" sz="1350" spc="10">
                <a:latin typeface="Calibri"/>
                <a:cs typeface="Calibri"/>
              </a:rPr>
              <a:t> </a:t>
            </a:r>
            <a:r>
              <a:rPr dirty="0" sz="1350" spc="-10">
                <a:latin typeface="Calibri"/>
                <a:cs typeface="Calibri"/>
              </a:rPr>
              <a:t>gerektirmeden</a:t>
            </a:r>
            <a:r>
              <a:rPr dirty="0" sz="1350" spc="-20">
                <a:latin typeface="Calibri"/>
                <a:cs typeface="Calibri"/>
              </a:rPr>
              <a:t> </a:t>
            </a:r>
            <a:r>
              <a:rPr dirty="0" sz="1350" spc="-10">
                <a:latin typeface="Calibri"/>
                <a:cs typeface="Calibri"/>
              </a:rPr>
              <a:t>yalnızca</a:t>
            </a:r>
            <a:endParaRPr sz="1350">
              <a:latin typeface="Calibri"/>
              <a:cs typeface="Calibri"/>
            </a:endParaRPr>
          </a:p>
          <a:p>
            <a:pPr marL="203835">
              <a:lnSpc>
                <a:spcPct val="100000"/>
              </a:lnSpc>
              <a:spcBef>
                <a:spcPts val="5"/>
              </a:spcBef>
            </a:pPr>
            <a:r>
              <a:rPr dirty="0" sz="1350">
                <a:latin typeface="Calibri"/>
                <a:cs typeface="Calibri"/>
              </a:rPr>
              <a:t>kamera</a:t>
            </a:r>
            <a:r>
              <a:rPr dirty="0" sz="1350" spc="-3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ile</a:t>
            </a:r>
            <a:r>
              <a:rPr dirty="0" sz="1350" spc="-2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düşük</a:t>
            </a:r>
            <a:r>
              <a:rPr dirty="0" sz="1350" spc="-3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maliyetli</a:t>
            </a:r>
            <a:r>
              <a:rPr dirty="0" sz="1350" spc="-1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ve</a:t>
            </a:r>
            <a:r>
              <a:rPr dirty="0" sz="1350" spc="-20">
                <a:latin typeface="Calibri"/>
                <a:cs typeface="Calibri"/>
              </a:rPr>
              <a:t> </a:t>
            </a:r>
            <a:r>
              <a:rPr dirty="0" sz="1350" spc="-10">
                <a:latin typeface="Calibri"/>
                <a:cs typeface="Calibri"/>
              </a:rPr>
              <a:t>taşınabilir</a:t>
            </a:r>
            <a:r>
              <a:rPr dirty="0" sz="1350" spc="-3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bir</a:t>
            </a:r>
            <a:r>
              <a:rPr dirty="0" sz="1350" spc="-3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akıllı</a:t>
            </a:r>
            <a:r>
              <a:rPr dirty="0" sz="1350" spc="-3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park</a:t>
            </a:r>
            <a:r>
              <a:rPr dirty="0" sz="1350" spc="-2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sistemi</a:t>
            </a:r>
            <a:r>
              <a:rPr dirty="0" sz="1350" spc="-25">
                <a:latin typeface="Calibri"/>
                <a:cs typeface="Calibri"/>
              </a:rPr>
              <a:t> </a:t>
            </a:r>
            <a:r>
              <a:rPr dirty="0" sz="1350" spc="-10">
                <a:latin typeface="Calibri"/>
                <a:cs typeface="Calibri"/>
              </a:rPr>
              <a:t>sunar.</a:t>
            </a:r>
            <a:endParaRPr sz="1350">
              <a:latin typeface="Calibri"/>
              <a:cs typeface="Calibri"/>
            </a:endParaRPr>
          </a:p>
          <a:p>
            <a:pPr marL="203835" marR="497205">
              <a:lnSpc>
                <a:spcPct val="100000"/>
              </a:lnSpc>
              <a:spcBef>
                <a:spcPts val="1635"/>
              </a:spcBef>
            </a:pPr>
            <a:r>
              <a:rPr dirty="0" sz="1350">
                <a:latin typeface="Calibri"/>
                <a:cs typeface="Calibri"/>
              </a:rPr>
              <a:t>Anahtar</a:t>
            </a:r>
            <a:r>
              <a:rPr dirty="0" sz="1350" spc="-15">
                <a:latin typeface="Calibri"/>
                <a:cs typeface="Calibri"/>
              </a:rPr>
              <a:t> </a:t>
            </a:r>
            <a:r>
              <a:rPr dirty="0" sz="1350" spc="-10">
                <a:latin typeface="Calibri"/>
                <a:cs typeface="Calibri"/>
              </a:rPr>
              <a:t>kelimeler:</a:t>
            </a:r>
            <a:r>
              <a:rPr dirty="0" sz="1350" spc="-5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Araç</a:t>
            </a:r>
            <a:r>
              <a:rPr dirty="0" sz="1350" spc="-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tespiti,</a:t>
            </a:r>
            <a:r>
              <a:rPr dirty="0" sz="1350" spc="-3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Park</a:t>
            </a:r>
            <a:r>
              <a:rPr dirty="0" sz="1350" spc="-2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yeri</a:t>
            </a:r>
            <a:r>
              <a:rPr dirty="0" sz="1350" spc="-1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analizi,</a:t>
            </a:r>
            <a:r>
              <a:rPr dirty="0" sz="1350" spc="-3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Derin</a:t>
            </a:r>
            <a:r>
              <a:rPr dirty="0" sz="1350" spc="-40">
                <a:latin typeface="Calibri"/>
                <a:cs typeface="Calibri"/>
              </a:rPr>
              <a:t> </a:t>
            </a:r>
            <a:r>
              <a:rPr dirty="0" sz="1350" spc="-10">
                <a:latin typeface="Calibri"/>
                <a:cs typeface="Calibri"/>
              </a:rPr>
              <a:t>öğrenme, Bilgisayarlı </a:t>
            </a:r>
            <a:r>
              <a:rPr dirty="0" sz="1350">
                <a:latin typeface="Calibri"/>
                <a:cs typeface="Calibri"/>
              </a:rPr>
              <a:t>görü,</a:t>
            </a:r>
            <a:r>
              <a:rPr dirty="0" sz="1350" spc="-5">
                <a:latin typeface="Calibri"/>
                <a:cs typeface="Calibri"/>
              </a:rPr>
              <a:t> </a:t>
            </a:r>
            <a:r>
              <a:rPr dirty="0" sz="1350" spc="-20">
                <a:latin typeface="Calibri"/>
                <a:cs typeface="Calibri"/>
              </a:rPr>
              <a:t>ADAS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62623" y="7994119"/>
            <a:ext cx="5170170" cy="379730"/>
          </a:xfrm>
          <a:prstGeom prst="rect">
            <a:avLst/>
          </a:prstGeom>
          <a:solidFill>
            <a:srgbClr val="0E7A6C"/>
          </a:solidFill>
        </p:spPr>
        <p:txBody>
          <a:bodyPr wrap="square" lIns="0" tIns="47625" rIns="0" bIns="0" rtlCol="0" vert="horz">
            <a:spAutoFit/>
          </a:bodyPr>
          <a:lstStyle/>
          <a:p>
            <a:pPr algn="ctr" marR="30480">
              <a:lnSpc>
                <a:spcPct val="100000"/>
              </a:lnSpc>
              <a:spcBef>
                <a:spcPts val="375"/>
              </a:spcBef>
            </a:pPr>
            <a:r>
              <a:rPr dirty="0" sz="1600" spc="125" b="1">
                <a:solidFill>
                  <a:srgbClr val="FFFFFF"/>
                </a:solidFill>
                <a:latin typeface="Calibri"/>
                <a:cs typeface="Calibri"/>
              </a:rPr>
              <a:t>GİRİŞ</a:t>
            </a:r>
            <a:r>
              <a:rPr dirty="0" sz="1600" spc="28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b="1">
                <a:solidFill>
                  <a:srgbClr val="FFFFFF"/>
                </a:solidFill>
                <a:latin typeface="Calibri"/>
                <a:cs typeface="Calibri"/>
              </a:rPr>
              <a:t>/</a:t>
            </a:r>
            <a:r>
              <a:rPr dirty="0" sz="1600" spc="3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125" b="1">
                <a:solidFill>
                  <a:srgbClr val="FFFFFF"/>
                </a:solidFill>
                <a:latin typeface="Calibri"/>
                <a:cs typeface="Calibri"/>
              </a:rPr>
              <a:t>MOTİVASYON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55328" y="8376910"/>
            <a:ext cx="5170170" cy="2607310"/>
          </a:xfrm>
          <a:prstGeom prst="rect">
            <a:avLst/>
          </a:prstGeom>
          <a:solidFill>
            <a:srgbClr val="FFFFFF"/>
          </a:solidFill>
          <a:ln w="5066">
            <a:solidFill>
              <a:srgbClr val="C2CDD7"/>
            </a:solidFill>
          </a:ln>
        </p:spPr>
        <p:txBody>
          <a:bodyPr wrap="square" lIns="0" tIns="571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5"/>
              </a:spcBef>
            </a:pPr>
            <a:endParaRPr sz="1350">
              <a:latin typeface="Times New Roman"/>
              <a:cs typeface="Times New Roman"/>
            </a:endParaRPr>
          </a:p>
          <a:p>
            <a:pPr marL="203835" marR="325120">
              <a:lnSpc>
                <a:spcPct val="100000"/>
              </a:lnSpc>
            </a:pPr>
            <a:r>
              <a:rPr dirty="0" sz="1350">
                <a:latin typeface="Calibri"/>
                <a:cs typeface="Calibri"/>
              </a:rPr>
              <a:t>Şehir</a:t>
            </a:r>
            <a:r>
              <a:rPr dirty="0" sz="1350" spc="-4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içinde</a:t>
            </a:r>
            <a:r>
              <a:rPr dirty="0" sz="1350" spc="-4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boş</a:t>
            </a:r>
            <a:r>
              <a:rPr dirty="0" sz="1350" spc="-3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park</a:t>
            </a:r>
            <a:r>
              <a:rPr dirty="0" sz="1350" spc="-3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yeri</a:t>
            </a:r>
            <a:r>
              <a:rPr dirty="0" sz="1350" spc="-2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arama;</a:t>
            </a:r>
            <a:r>
              <a:rPr dirty="0" sz="1350" spc="-3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zaman,</a:t>
            </a:r>
            <a:r>
              <a:rPr dirty="0" sz="1350" spc="-3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yakıt</a:t>
            </a:r>
            <a:r>
              <a:rPr dirty="0" sz="1350" spc="-2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ve</a:t>
            </a:r>
            <a:r>
              <a:rPr dirty="0" sz="1350" spc="-2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karbon</a:t>
            </a:r>
            <a:r>
              <a:rPr dirty="0" sz="1350" spc="-25">
                <a:latin typeface="Calibri"/>
                <a:cs typeface="Calibri"/>
              </a:rPr>
              <a:t> </a:t>
            </a:r>
            <a:r>
              <a:rPr dirty="0" sz="1350" spc="-10">
                <a:latin typeface="Calibri"/>
                <a:cs typeface="Calibri"/>
              </a:rPr>
              <a:t>emisyonu </a:t>
            </a:r>
            <a:r>
              <a:rPr dirty="0" sz="1350">
                <a:latin typeface="Calibri"/>
                <a:cs typeface="Calibri"/>
              </a:rPr>
              <a:t>kaybına</a:t>
            </a:r>
            <a:r>
              <a:rPr dirty="0" sz="1350" spc="-5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yol</a:t>
            </a:r>
            <a:r>
              <a:rPr dirty="0" sz="1350" spc="-5">
                <a:latin typeface="Calibri"/>
                <a:cs typeface="Calibri"/>
              </a:rPr>
              <a:t> </a:t>
            </a:r>
            <a:r>
              <a:rPr dirty="0" sz="1350" spc="-25">
                <a:latin typeface="Calibri"/>
                <a:cs typeface="Calibri"/>
              </a:rPr>
              <a:t>açar.</a:t>
            </a:r>
            <a:r>
              <a:rPr dirty="0" sz="1350" spc="-3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Mevcut</a:t>
            </a:r>
            <a:r>
              <a:rPr dirty="0" sz="1350" spc="-2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akıllı</a:t>
            </a:r>
            <a:r>
              <a:rPr dirty="0" sz="1350" spc="-2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otopark</a:t>
            </a:r>
            <a:r>
              <a:rPr dirty="0" sz="1350" spc="-20">
                <a:latin typeface="Calibri"/>
                <a:cs typeface="Calibri"/>
              </a:rPr>
              <a:t> </a:t>
            </a:r>
            <a:r>
              <a:rPr dirty="0" sz="1350" spc="-10">
                <a:latin typeface="Calibri"/>
                <a:cs typeface="Calibri"/>
              </a:rPr>
              <a:t>sistemleri</a:t>
            </a:r>
            <a:r>
              <a:rPr dirty="0" sz="1350" spc="-5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çoğunlukla</a:t>
            </a:r>
            <a:r>
              <a:rPr dirty="0" sz="1350" spc="-45">
                <a:latin typeface="Calibri"/>
                <a:cs typeface="Calibri"/>
              </a:rPr>
              <a:t> </a:t>
            </a:r>
            <a:r>
              <a:rPr dirty="0" sz="1350" spc="-25">
                <a:latin typeface="Calibri"/>
                <a:cs typeface="Calibri"/>
              </a:rPr>
              <a:t>her </a:t>
            </a:r>
            <a:r>
              <a:rPr dirty="0" sz="1350">
                <a:latin typeface="Calibri"/>
                <a:cs typeface="Calibri"/>
              </a:rPr>
              <a:t>yere</a:t>
            </a:r>
            <a:r>
              <a:rPr dirty="0" sz="1350" spc="-10">
                <a:latin typeface="Calibri"/>
                <a:cs typeface="Calibri"/>
              </a:rPr>
              <a:t> yerleştirilen</a:t>
            </a:r>
            <a:r>
              <a:rPr dirty="0" sz="1350" spc="-4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sensörlere</a:t>
            </a:r>
            <a:r>
              <a:rPr dirty="0" sz="1350" spc="-20">
                <a:latin typeface="Calibri"/>
                <a:cs typeface="Calibri"/>
              </a:rPr>
              <a:t> </a:t>
            </a:r>
            <a:r>
              <a:rPr dirty="0" sz="1350" spc="-10">
                <a:latin typeface="Calibri"/>
                <a:cs typeface="Calibri"/>
              </a:rPr>
              <a:t>dayanır;</a:t>
            </a:r>
            <a:r>
              <a:rPr dirty="0" sz="1350" spc="-4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bu</a:t>
            </a:r>
            <a:r>
              <a:rPr dirty="0" sz="1350" spc="-2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kurulum</a:t>
            </a:r>
            <a:r>
              <a:rPr dirty="0" sz="1350" spc="-3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pahalı</a:t>
            </a:r>
            <a:r>
              <a:rPr dirty="0" sz="1350" spc="-3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ve</a:t>
            </a:r>
            <a:r>
              <a:rPr dirty="0" sz="1350" spc="-20">
                <a:latin typeface="Calibri"/>
                <a:cs typeface="Calibri"/>
              </a:rPr>
              <a:t> </a:t>
            </a:r>
            <a:r>
              <a:rPr dirty="0" sz="1350" spc="-10">
                <a:latin typeface="Calibri"/>
                <a:cs typeface="Calibri"/>
              </a:rPr>
              <a:t>bakımı </a:t>
            </a:r>
            <a:r>
              <a:rPr dirty="0" sz="1350" spc="-30">
                <a:latin typeface="Calibri"/>
                <a:cs typeface="Calibri"/>
              </a:rPr>
              <a:t>zordur.</a:t>
            </a:r>
            <a:r>
              <a:rPr dirty="0" sz="1350" spc="-4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Bu</a:t>
            </a:r>
            <a:r>
              <a:rPr dirty="0" sz="1350" spc="-2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projede</a:t>
            </a:r>
            <a:r>
              <a:rPr dirty="0" sz="1350" spc="-2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ek</a:t>
            </a:r>
            <a:r>
              <a:rPr dirty="0" sz="1350" spc="-4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donanım</a:t>
            </a:r>
            <a:r>
              <a:rPr dirty="0" sz="1350" spc="-4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gerektirmeden</a:t>
            </a:r>
            <a:r>
              <a:rPr dirty="0" sz="1350" spc="-50">
                <a:latin typeface="Calibri"/>
                <a:cs typeface="Calibri"/>
              </a:rPr>
              <a:t> </a:t>
            </a:r>
            <a:r>
              <a:rPr dirty="0" sz="1350" spc="-10">
                <a:latin typeface="Calibri"/>
                <a:cs typeface="Calibri"/>
              </a:rPr>
              <a:t>yalnızca</a:t>
            </a:r>
            <a:r>
              <a:rPr dirty="0" sz="1350" spc="-3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kamera</a:t>
            </a:r>
            <a:r>
              <a:rPr dirty="0" sz="1350" spc="-35">
                <a:latin typeface="Calibri"/>
                <a:cs typeface="Calibri"/>
              </a:rPr>
              <a:t> </a:t>
            </a:r>
            <a:r>
              <a:rPr dirty="0" sz="1350" spc="-25">
                <a:latin typeface="Calibri"/>
                <a:cs typeface="Calibri"/>
              </a:rPr>
              <a:t>ile </a:t>
            </a:r>
            <a:r>
              <a:rPr dirty="0" sz="1350">
                <a:latin typeface="Calibri"/>
                <a:cs typeface="Calibri"/>
              </a:rPr>
              <a:t>çalışan,</a:t>
            </a:r>
            <a:r>
              <a:rPr dirty="0" sz="1350" spc="-3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düşük</a:t>
            </a:r>
            <a:r>
              <a:rPr dirty="0" sz="1350" spc="-3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maliyetli</a:t>
            </a:r>
            <a:r>
              <a:rPr dirty="0" sz="1350" spc="-1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ve</a:t>
            </a:r>
            <a:r>
              <a:rPr dirty="0" sz="1350" spc="-20">
                <a:latin typeface="Calibri"/>
                <a:cs typeface="Calibri"/>
              </a:rPr>
              <a:t> </a:t>
            </a:r>
            <a:r>
              <a:rPr dirty="0" sz="1350" spc="-10">
                <a:latin typeface="Calibri"/>
                <a:cs typeface="Calibri"/>
              </a:rPr>
              <a:t>taşınabilir</a:t>
            </a:r>
            <a:r>
              <a:rPr dirty="0" sz="1350" spc="-5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bir</a:t>
            </a:r>
            <a:r>
              <a:rPr dirty="0" sz="1350" spc="-2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çözüm</a:t>
            </a:r>
            <a:r>
              <a:rPr dirty="0" sz="1350" spc="-10">
                <a:latin typeface="Calibri"/>
                <a:cs typeface="Calibri"/>
              </a:rPr>
              <a:t> hedeflenmiştir.</a:t>
            </a:r>
            <a:endParaRPr sz="13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350">
              <a:latin typeface="Calibri"/>
              <a:cs typeface="Calibri"/>
            </a:endParaRPr>
          </a:p>
          <a:p>
            <a:pPr marL="203835" marR="215265">
              <a:lnSpc>
                <a:spcPct val="100000"/>
              </a:lnSpc>
            </a:pPr>
            <a:r>
              <a:rPr dirty="0" sz="1350" spc="-10">
                <a:latin typeface="Calibri"/>
                <a:cs typeface="Calibri"/>
              </a:rPr>
              <a:t>Literatürde</a:t>
            </a:r>
            <a:r>
              <a:rPr dirty="0" sz="1350" spc="-3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otopark</a:t>
            </a:r>
            <a:r>
              <a:rPr dirty="0" sz="1350" spc="-3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doluluk</a:t>
            </a:r>
            <a:r>
              <a:rPr dirty="0" sz="1350" spc="-1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tespiti</a:t>
            </a:r>
            <a:r>
              <a:rPr dirty="0" sz="1350" spc="-3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çalışmaları</a:t>
            </a:r>
            <a:r>
              <a:rPr dirty="0" sz="1350" spc="-5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bulunsa</a:t>
            </a:r>
            <a:r>
              <a:rPr dirty="0" sz="1350" spc="-1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da;</a:t>
            </a:r>
            <a:r>
              <a:rPr dirty="0" sz="1350" spc="-35">
                <a:latin typeface="Calibri"/>
                <a:cs typeface="Calibri"/>
              </a:rPr>
              <a:t> </a:t>
            </a:r>
            <a:r>
              <a:rPr dirty="0" sz="1350" spc="-10">
                <a:latin typeface="Calibri"/>
                <a:cs typeface="Calibri"/>
              </a:rPr>
              <a:t>gerçek </a:t>
            </a:r>
            <a:r>
              <a:rPr dirty="0" sz="1350">
                <a:latin typeface="Calibri"/>
                <a:cs typeface="Calibri"/>
              </a:rPr>
              <a:t>metrik</a:t>
            </a:r>
            <a:r>
              <a:rPr dirty="0" sz="1350" spc="-1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ölçüm,</a:t>
            </a:r>
            <a:r>
              <a:rPr dirty="0" sz="1350" spc="-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sürücüye</a:t>
            </a:r>
            <a:r>
              <a:rPr dirty="0" sz="1350" spc="-15">
                <a:latin typeface="Calibri"/>
                <a:cs typeface="Calibri"/>
              </a:rPr>
              <a:t> </a:t>
            </a:r>
            <a:r>
              <a:rPr dirty="0" sz="1350" spc="-10">
                <a:latin typeface="Calibri"/>
                <a:cs typeface="Calibri"/>
              </a:rPr>
              <a:t>uygun-</a:t>
            </a:r>
            <a:r>
              <a:rPr dirty="0" sz="1350">
                <a:latin typeface="Calibri"/>
                <a:cs typeface="Calibri"/>
              </a:rPr>
              <a:t>yer</a:t>
            </a:r>
            <a:r>
              <a:rPr dirty="0" sz="1350" spc="-1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önerisi</a:t>
            </a:r>
            <a:r>
              <a:rPr dirty="0" sz="1350" spc="-3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ve</a:t>
            </a:r>
            <a:r>
              <a:rPr dirty="0" sz="1350" spc="-10">
                <a:latin typeface="Calibri"/>
                <a:cs typeface="Calibri"/>
              </a:rPr>
              <a:t> çizgili/çizgisiz</a:t>
            </a:r>
            <a:r>
              <a:rPr dirty="0" sz="1350" spc="-20">
                <a:latin typeface="Calibri"/>
                <a:cs typeface="Calibri"/>
              </a:rPr>
              <a:t> </a:t>
            </a:r>
            <a:r>
              <a:rPr dirty="0" sz="1350" spc="-10">
                <a:latin typeface="Calibri"/>
                <a:cs typeface="Calibri"/>
              </a:rPr>
              <a:t>alanlarda </a:t>
            </a:r>
            <a:r>
              <a:rPr dirty="0" sz="1350">
                <a:latin typeface="Calibri"/>
                <a:cs typeface="Calibri"/>
              </a:rPr>
              <a:t>çalışan</a:t>
            </a:r>
            <a:r>
              <a:rPr dirty="0" sz="1350" spc="-2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adaptif</a:t>
            </a:r>
            <a:r>
              <a:rPr dirty="0" sz="1350" spc="-2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tespitin</a:t>
            </a:r>
            <a:r>
              <a:rPr dirty="0" sz="1350" spc="-4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tek</a:t>
            </a:r>
            <a:r>
              <a:rPr dirty="0" sz="1350" spc="-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bir</a:t>
            </a:r>
            <a:r>
              <a:rPr dirty="0" sz="1350" spc="-35">
                <a:latin typeface="Calibri"/>
                <a:cs typeface="Calibri"/>
              </a:rPr>
              <a:t> </a:t>
            </a:r>
            <a:r>
              <a:rPr dirty="0" sz="1350" spc="-10">
                <a:latin typeface="Calibri"/>
                <a:cs typeface="Calibri"/>
              </a:rPr>
              <a:t>gerçek-</a:t>
            </a:r>
            <a:r>
              <a:rPr dirty="0" sz="1350">
                <a:latin typeface="Calibri"/>
                <a:cs typeface="Calibri"/>
              </a:rPr>
              <a:t>zamanlı</a:t>
            </a:r>
            <a:r>
              <a:rPr dirty="0" sz="1350" spc="-35">
                <a:latin typeface="Calibri"/>
                <a:cs typeface="Calibri"/>
              </a:rPr>
              <a:t> </a:t>
            </a:r>
            <a:r>
              <a:rPr dirty="0" sz="1350" spc="-10">
                <a:latin typeface="Calibri"/>
                <a:cs typeface="Calibri"/>
              </a:rPr>
              <a:t>sistemde</a:t>
            </a:r>
            <a:endParaRPr sz="1350">
              <a:latin typeface="Calibri"/>
              <a:cs typeface="Calibri"/>
            </a:endParaRPr>
          </a:p>
          <a:p>
            <a:pPr marL="203835" marR="683260">
              <a:lnSpc>
                <a:spcPct val="100000"/>
              </a:lnSpc>
              <a:spcBef>
                <a:spcPts val="20"/>
              </a:spcBef>
            </a:pPr>
            <a:r>
              <a:rPr dirty="0" sz="1350" spc="-10">
                <a:latin typeface="Calibri"/>
                <a:cs typeface="Calibri"/>
              </a:rPr>
              <a:t>birleştirilmesi</a:t>
            </a:r>
            <a:r>
              <a:rPr dirty="0" sz="1350" spc="-3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bir</a:t>
            </a:r>
            <a:r>
              <a:rPr dirty="0" sz="1350" spc="-20">
                <a:latin typeface="Calibri"/>
                <a:cs typeface="Calibri"/>
              </a:rPr>
              <a:t> boşluktur.</a:t>
            </a:r>
            <a:r>
              <a:rPr dirty="0" sz="1350" spc="-3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Bu</a:t>
            </a:r>
            <a:r>
              <a:rPr dirty="0" sz="1350" spc="-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proje,</a:t>
            </a:r>
            <a:r>
              <a:rPr dirty="0" sz="1350" spc="-1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bu</a:t>
            </a:r>
            <a:r>
              <a:rPr dirty="0" sz="1350" spc="-1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üç yeteneği bir</a:t>
            </a:r>
            <a:r>
              <a:rPr dirty="0" sz="1350" spc="-25">
                <a:latin typeface="Calibri"/>
                <a:cs typeface="Calibri"/>
              </a:rPr>
              <a:t> </a:t>
            </a:r>
            <a:r>
              <a:rPr dirty="0" sz="1350" spc="-10">
                <a:latin typeface="Calibri"/>
                <a:cs typeface="Calibri"/>
              </a:rPr>
              <a:t>araya getirerek</a:t>
            </a:r>
            <a:r>
              <a:rPr dirty="0" sz="1350" spc="-4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hem</a:t>
            </a:r>
            <a:r>
              <a:rPr dirty="0" sz="1350" spc="-1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akademik</a:t>
            </a:r>
            <a:r>
              <a:rPr dirty="0" sz="1350" spc="-3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hem</a:t>
            </a:r>
            <a:r>
              <a:rPr dirty="0" sz="1350" spc="-1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pratik</a:t>
            </a:r>
            <a:r>
              <a:rPr dirty="0" sz="1350" spc="-3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katkı</a:t>
            </a:r>
            <a:r>
              <a:rPr dirty="0" sz="1350" spc="-25">
                <a:latin typeface="Calibri"/>
                <a:cs typeface="Calibri"/>
              </a:rPr>
              <a:t> </a:t>
            </a:r>
            <a:r>
              <a:rPr dirty="0" sz="1350" spc="-10">
                <a:latin typeface="Calibri"/>
                <a:cs typeface="Calibri"/>
              </a:rPr>
              <a:t>sunar.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55328" y="11116526"/>
            <a:ext cx="5170170" cy="379730"/>
          </a:xfrm>
          <a:prstGeom prst="rect">
            <a:avLst/>
          </a:prstGeom>
          <a:solidFill>
            <a:srgbClr val="0E7A6C"/>
          </a:solidFill>
        </p:spPr>
        <p:txBody>
          <a:bodyPr wrap="square" lIns="0" tIns="43815" rIns="0" bIns="0" rtlCol="0" vert="horz">
            <a:spAutoFit/>
          </a:bodyPr>
          <a:lstStyle/>
          <a:p>
            <a:pPr algn="ctr" marR="13335">
              <a:lnSpc>
                <a:spcPct val="100000"/>
              </a:lnSpc>
              <a:spcBef>
                <a:spcPts val="345"/>
              </a:spcBef>
            </a:pPr>
            <a:r>
              <a:rPr dirty="0" sz="1600" spc="125" b="1">
                <a:solidFill>
                  <a:srgbClr val="FFFFFF"/>
                </a:solidFill>
                <a:latin typeface="Calibri"/>
                <a:cs typeface="Calibri"/>
              </a:rPr>
              <a:t>SİSTEM</a:t>
            </a:r>
            <a:r>
              <a:rPr dirty="0" sz="1600" spc="3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125" b="1">
                <a:solidFill>
                  <a:srgbClr val="FFFFFF"/>
                </a:solidFill>
                <a:latin typeface="Calibri"/>
                <a:cs typeface="Calibri"/>
              </a:rPr>
              <a:t>MİMARİSİ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635826" y="14744729"/>
            <a:ext cx="2409190" cy="1828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355"/>
              </a:lnSpc>
            </a:pPr>
            <a:r>
              <a:rPr dirty="0" sz="1400" i="1">
                <a:latin typeface="Calibri"/>
                <a:cs typeface="Calibri"/>
              </a:rPr>
              <a:t>[</a:t>
            </a:r>
            <a:r>
              <a:rPr dirty="0" sz="1400" spc="40" i="1">
                <a:latin typeface="Calibri"/>
                <a:cs typeface="Calibri"/>
              </a:rPr>
              <a:t> </a:t>
            </a:r>
            <a:r>
              <a:rPr dirty="0" sz="1400" i="1">
                <a:latin typeface="Calibri"/>
                <a:cs typeface="Calibri"/>
              </a:rPr>
              <a:t>Görsel</a:t>
            </a:r>
            <a:r>
              <a:rPr dirty="0" sz="1400" spc="50" i="1">
                <a:latin typeface="Calibri"/>
                <a:cs typeface="Calibri"/>
              </a:rPr>
              <a:t> </a:t>
            </a:r>
            <a:r>
              <a:rPr dirty="0" sz="1400" i="1">
                <a:latin typeface="Calibri"/>
                <a:cs typeface="Calibri"/>
              </a:rPr>
              <a:t>/</a:t>
            </a:r>
            <a:r>
              <a:rPr dirty="0" sz="1400" spc="55" i="1">
                <a:latin typeface="Calibri"/>
                <a:cs typeface="Calibri"/>
              </a:rPr>
              <a:t> </a:t>
            </a:r>
            <a:r>
              <a:rPr dirty="0" sz="1400" i="1">
                <a:latin typeface="Calibri"/>
                <a:cs typeface="Calibri"/>
              </a:rPr>
              <a:t>Şema</a:t>
            </a:r>
            <a:r>
              <a:rPr dirty="0" sz="1400" spc="45" i="1">
                <a:latin typeface="Calibri"/>
                <a:cs typeface="Calibri"/>
              </a:rPr>
              <a:t> </a:t>
            </a:r>
            <a:r>
              <a:rPr dirty="0" sz="1400" i="1">
                <a:latin typeface="Calibri"/>
                <a:cs typeface="Calibri"/>
              </a:rPr>
              <a:t>/</a:t>
            </a:r>
            <a:r>
              <a:rPr dirty="0" sz="1400" spc="50" i="1">
                <a:latin typeface="Calibri"/>
                <a:cs typeface="Calibri"/>
              </a:rPr>
              <a:t> </a:t>
            </a:r>
            <a:r>
              <a:rPr dirty="0" sz="1400" i="1">
                <a:latin typeface="Calibri"/>
                <a:cs typeface="Calibri"/>
              </a:rPr>
              <a:t>Akış</a:t>
            </a:r>
            <a:r>
              <a:rPr dirty="0" sz="1400" spc="50" i="1">
                <a:latin typeface="Calibri"/>
                <a:cs typeface="Calibri"/>
              </a:rPr>
              <a:t> </a:t>
            </a:r>
            <a:r>
              <a:rPr dirty="0" sz="1400" i="1">
                <a:latin typeface="Calibri"/>
                <a:cs typeface="Calibri"/>
              </a:rPr>
              <a:t>Diagramı</a:t>
            </a:r>
            <a:r>
              <a:rPr dirty="0" sz="1400" spc="45" i="1">
                <a:latin typeface="Calibri"/>
                <a:cs typeface="Calibri"/>
              </a:rPr>
              <a:t> </a:t>
            </a:r>
            <a:r>
              <a:rPr dirty="0" sz="1400" spc="-50" i="1">
                <a:latin typeface="Calibri"/>
                <a:cs typeface="Calibri"/>
              </a:rPr>
              <a:t>]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585620" y="3078534"/>
            <a:ext cx="8519795" cy="379730"/>
          </a:xfrm>
          <a:prstGeom prst="rect">
            <a:avLst/>
          </a:prstGeom>
          <a:solidFill>
            <a:srgbClr val="0E7A6C"/>
          </a:solidFill>
        </p:spPr>
        <p:txBody>
          <a:bodyPr wrap="square" lIns="0" tIns="54610" rIns="0" bIns="0" rtlCol="0" vert="horz">
            <a:spAutoFit/>
          </a:bodyPr>
          <a:lstStyle/>
          <a:p>
            <a:pPr algn="ctr" marR="13970">
              <a:lnSpc>
                <a:spcPct val="100000"/>
              </a:lnSpc>
              <a:spcBef>
                <a:spcPts val="430"/>
              </a:spcBef>
            </a:pPr>
            <a:r>
              <a:rPr dirty="0" sz="1600" spc="130" b="1">
                <a:solidFill>
                  <a:srgbClr val="FFFFFF"/>
                </a:solidFill>
                <a:latin typeface="Calibri"/>
                <a:cs typeface="Calibri"/>
              </a:rPr>
              <a:t>MATERYAL</a:t>
            </a:r>
            <a:r>
              <a:rPr dirty="0" sz="1600" spc="29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75" b="1">
                <a:solidFill>
                  <a:srgbClr val="FFFFFF"/>
                </a:solidFill>
                <a:latin typeface="Calibri"/>
                <a:cs typeface="Calibri"/>
              </a:rPr>
              <a:t>VE</a:t>
            </a:r>
            <a:r>
              <a:rPr dirty="0" sz="1600" spc="3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114" b="1">
                <a:solidFill>
                  <a:srgbClr val="FFFFFF"/>
                </a:solidFill>
                <a:latin typeface="Calibri"/>
                <a:cs typeface="Calibri"/>
              </a:rPr>
              <a:t>YÖNTEM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252795" y="11499905"/>
            <a:ext cx="5175250" cy="7622540"/>
            <a:chOff x="252795" y="11499905"/>
            <a:chExt cx="5175250" cy="7622540"/>
          </a:xfrm>
        </p:grpSpPr>
        <p:pic>
          <p:nvPicPr>
            <p:cNvPr id="27" name="object 2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2795" y="11499905"/>
              <a:ext cx="5174865" cy="7622374"/>
            </a:xfrm>
            <a:prstGeom prst="rect">
              <a:avLst/>
            </a:prstGeom>
          </p:spPr>
        </p:pic>
        <p:pic>
          <p:nvPicPr>
            <p:cNvPr id="28" name="object 28" descr="metin, ekran görüntüsü, yazılım, bilgisayar simgesi içeren bir resim  Yapay zeka tarafından oluşturulmuş içerik yanlış olabilir.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2623" y="11613486"/>
              <a:ext cx="5162403" cy="7506260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5585620" y="3457880"/>
            <a:ext cx="8519795" cy="3512185"/>
          </a:xfrm>
          <a:prstGeom prst="rect">
            <a:avLst/>
          </a:prstGeom>
          <a:solidFill>
            <a:srgbClr val="FFFFFF"/>
          </a:solidFill>
          <a:ln w="5066">
            <a:solidFill>
              <a:srgbClr val="C2CDD7"/>
            </a:solidFill>
          </a:ln>
        </p:spPr>
        <p:txBody>
          <a:bodyPr wrap="square" lIns="0" tIns="116205" rIns="0" bIns="0" rtlCol="0" vert="horz">
            <a:spAutoFit/>
          </a:bodyPr>
          <a:lstStyle/>
          <a:p>
            <a:pPr marL="204470" marR="227329">
              <a:lnSpc>
                <a:spcPct val="100000"/>
              </a:lnSpc>
              <a:spcBef>
                <a:spcPts val="915"/>
              </a:spcBef>
            </a:pPr>
            <a:r>
              <a:rPr dirty="0" sz="1350" b="1">
                <a:latin typeface="Calibri"/>
                <a:cs typeface="Calibri"/>
              </a:rPr>
              <a:t>Geliştirme</a:t>
            </a:r>
            <a:r>
              <a:rPr dirty="0" sz="1350" spc="-30" b="1">
                <a:latin typeface="Calibri"/>
                <a:cs typeface="Calibri"/>
              </a:rPr>
              <a:t> </a:t>
            </a:r>
            <a:r>
              <a:rPr dirty="0" sz="1350" b="1">
                <a:latin typeface="Calibri"/>
                <a:cs typeface="Calibri"/>
              </a:rPr>
              <a:t>Ortamı:</a:t>
            </a:r>
            <a:r>
              <a:rPr dirty="0" sz="1350" spc="-15" b="1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Python</a:t>
            </a:r>
            <a:r>
              <a:rPr dirty="0" sz="1350" spc="-20">
                <a:latin typeface="Calibri"/>
                <a:cs typeface="Calibri"/>
              </a:rPr>
              <a:t> </a:t>
            </a:r>
            <a:r>
              <a:rPr dirty="0" sz="1350" spc="-10">
                <a:latin typeface="Calibri"/>
                <a:cs typeface="Calibri"/>
              </a:rPr>
              <a:t>programlama</a:t>
            </a:r>
            <a:r>
              <a:rPr dirty="0" sz="1350" spc="-3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dili,</a:t>
            </a:r>
            <a:r>
              <a:rPr dirty="0" sz="1350" spc="-2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PyQt5</a:t>
            </a:r>
            <a:r>
              <a:rPr dirty="0" sz="1350" spc="-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tabanlı</a:t>
            </a:r>
            <a:r>
              <a:rPr dirty="0" sz="1350" spc="-5">
                <a:latin typeface="Calibri"/>
                <a:cs typeface="Calibri"/>
              </a:rPr>
              <a:t> </a:t>
            </a:r>
            <a:r>
              <a:rPr dirty="0" sz="1350" spc="-10">
                <a:latin typeface="Calibri"/>
                <a:cs typeface="Calibri"/>
              </a:rPr>
              <a:t>kullanıcı</a:t>
            </a:r>
            <a:r>
              <a:rPr dirty="0" sz="1350" spc="-2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arayüzü, OpenCV</a:t>
            </a:r>
            <a:r>
              <a:rPr dirty="0" sz="1350" spc="-2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ve</a:t>
            </a:r>
            <a:r>
              <a:rPr dirty="0" sz="1350" spc="-1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NumPy </a:t>
            </a:r>
            <a:r>
              <a:rPr dirty="0" sz="1350" spc="-10">
                <a:latin typeface="Calibri"/>
                <a:cs typeface="Calibri"/>
              </a:rPr>
              <a:t>bilgisayarlı</a:t>
            </a:r>
            <a:r>
              <a:rPr dirty="0" sz="1350" spc="-30">
                <a:latin typeface="Calibri"/>
                <a:cs typeface="Calibri"/>
              </a:rPr>
              <a:t> </a:t>
            </a:r>
            <a:r>
              <a:rPr dirty="0" sz="1350" spc="-10">
                <a:latin typeface="Calibri"/>
                <a:cs typeface="Calibri"/>
              </a:rPr>
              <a:t>görüntü </a:t>
            </a:r>
            <a:r>
              <a:rPr dirty="0" sz="1350">
                <a:latin typeface="Calibri"/>
                <a:cs typeface="Calibri"/>
              </a:rPr>
              <a:t>işleme</a:t>
            </a:r>
            <a:r>
              <a:rPr dirty="0" sz="1350" spc="-10">
                <a:latin typeface="Calibri"/>
                <a:cs typeface="Calibri"/>
              </a:rPr>
              <a:t> kütüphaneleri.</a:t>
            </a:r>
            <a:endParaRPr sz="1350">
              <a:latin typeface="Calibri"/>
              <a:cs typeface="Calibri"/>
            </a:endParaRPr>
          </a:p>
          <a:p>
            <a:pPr marL="204470">
              <a:lnSpc>
                <a:spcPct val="100000"/>
              </a:lnSpc>
              <a:spcBef>
                <a:spcPts val="15"/>
              </a:spcBef>
            </a:pPr>
            <a:r>
              <a:rPr dirty="0" sz="1350" spc="-10" b="1">
                <a:latin typeface="Calibri"/>
                <a:cs typeface="Calibri"/>
              </a:rPr>
              <a:t>Yöntemler:</a:t>
            </a:r>
            <a:endParaRPr sz="1350">
              <a:latin typeface="Calibri"/>
              <a:cs typeface="Calibri"/>
            </a:endParaRPr>
          </a:p>
          <a:p>
            <a:pPr marL="568960">
              <a:lnSpc>
                <a:spcPct val="100000"/>
              </a:lnSpc>
              <a:spcBef>
                <a:spcPts val="10"/>
              </a:spcBef>
            </a:pPr>
            <a:r>
              <a:rPr dirty="0" sz="1350" b="1">
                <a:latin typeface="Calibri"/>
                <a:cs typeface="Calibri"/>
              </a:rPr>
              <a:t>Gerçek</a:t>
            </a:r>
            <a:r>
              <a:rPr dirty="0" sz="1350" spc="-20" b="1">
                <a:latin typeface="Calibri"/>
                <a:cs typeface="Calibri"/>
              </a:rPr>
              <a:t> </a:t>
            </a:r>
            <a:r>
              <a:rPr dirty="0" sz="1350" b="1">
                <a:latin typeface="Calibri"/>
                <a:cs typeface="Calibri"/>
              </a:rPr>
              <a:t>Zamanlı</a:t>
            </a:r>
            <a:r>
              <a:rPr dirty="0" sz="1350" spc="-40" b="1">
                <a:latin typeface="Calibri"/>
                <a:cs typeface="Calibri"/>
              </a:rPr>
              <a:t> </a:t>
            </a:r>
            <a:r>
              <a:rPr dirty="0" sz="1350" b="1">
                <a:latin typeface="Calibri"/>
                <a:cs typeface="Calibri"/>
              </a:rPr>
              <a:t>Araç</a:t>
            </a:r>
            <a:r>
              <a:rPr dirty="0" sz="1350" spc="-25" b="1">
                <a:latin typeface="Calibri"/>
                <a:cs typeface="Calibri"/>
              </a:rPr>
              <a:t> </a:t>
            </a:r>
            <a:r>
              <a:rPr dirty="0" sz="1350" spc="-10" b="1">
                <a:latin typeface="Calibri"/>
                <a:cs typeface="Calibri"/>
              </a:rPr>
              <a:t>Tespiti:</a:t>
            </a:r>
            <a:r>
              <a:rPr dirty="0" sz="1350" spc="-40" b="1">
                <a:latin typeface="Calibri"/>
                <a:cs typeface="Calibri"/>
              </a:rPr>
              <a:t> </a:t>
            </a:r>
            <a:r>
              <a:rPr dirty="0" sz="1350" spc="-10">
                <a:latin typeface="Calibri"/>
                <a:cs typeface="Calibri"/>
              </a:rPr>
              <a:t>YOLOv8</a:t>
            </a:r>
            <a:r>
              <a:rPr dirty="0" sz="1350" spc="-3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ile</a:t>
            </a:r>
            <a:r>
              <a:rPr dirty="0" sz="1350" spc="-40">
                <a:latin typeface="Calibri"/>
                <a:cs typeface="Calibri"/>
              </a:rPr>
              <a:t> </a:t>
            </a:r>
            <a:r>
              <a:rPr dirty="0" sz="1350" spc="-10">
                <a:latin typeface="Calibri"/>
                <a:cs typeface="Calibri"/>
              </a:rPr>
              <a:t>gerçek-</a:t>
            </a:r>
            <a:r>
              <a:rPr dirty="0" sz="1350">
                <a:latin typeface="Calibri"/>
                <a:cs typeface="Calibri"/>
              </a:rPr>
              <a:t>zamanlı</a:t>
            </a:r>
            <a:r>
              <a:rPr dirty="0" sz="1350" spc="-4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tespit;</a:t>
            </a:r>
            <a:r>
              <a:rPr dirty="0" sz="1350" spc="-4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sınıfa</a:t>
            </a:r>
            <a:r>
              <a:rPr dirty="0" sz="1350" spc="-4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göre</a:t>
            </a:r>
            <a:r>
              <a:rPr dirty="0" sz="1350" spc="-3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gerçek</a:t>
            </a:r>
            <a:r>
              <a:rPr dirty="0" sz="1350" spc="-3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boyut</a:t>
            </a:r>
            <a:r>
              <a:rPr dirty="0" sz="1350" spc="-3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ataması</a:t>
            </a:r>
            <a:r>
              <a:rPr dirty="0" sz="1350" spc="-3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ve</a:t>
            </a:r>
            <a:r>
              <a:rPr dirty="0" sz="1350" spc="-20">
                <a:latin typeface="Calibri"/>
                <a:cs typeface="Calibri"/>
              </a:rPr>
              <a:t> </a:t>
            </a:r>
            <a:r>
              <a:rPr dirty="0" sz="1350" spc="-10">
                <a:latin typeface="Calibri"/>
                <a:cs typeface="Calibri"/>
              </a:rPr>
              <a:t>sınıf-</a:t>
            </a:r>
            <a:endParaRPr sz="1350">
              <a:latin typeface="Calibri"/>
              <a:cs typeface="Calibri"/>
            </a:endParaRPr>
          </a:p>
          <a:p>
            <a:pPr marL="568960">
              <a:lnSpc>
                <a:spcPct val="100000"/>
              </a:lnSpc>
              <a:spcBef>
                <a:spcPts val="10"/>
              </a:spcBef>
            </a:pPr>
            <a:r>
              <a:rPr dirty="0" sz="1350">
                <a:latin typeface="Calibri"/>
                <a:cs typeface="Calibri"/>
              </a:rPr>
              <a:t>bağımsız</a:t>
            </a:r>
            <a:r>
              <a:rPr dirty="0" sz="1350" spc="-3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NMS</a:t>
            </a:r>
            <a:r>
              <a:rPr dirty="0" sz="1350" spc="-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ile</a:t>
            </a:r>
            <a:r>
              <a:rPr dirty="0" sz="1350" spc="-1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çift-tespit</a:t>
            </a:r>
            <a:r>
              <a:rPr dirty="0" sz="1350" spc="-10">
                <a:latin typeface="Calibri"/>
                <a:cs typeface="Calibri"/>
              </a:rPr>
              <a:t> eleme.</a:t>
            </a:r>
            <a:endParaRPr sz="1350">
              <a:latin typeface="Calibri"/>
              <a:cs typeface="Calibri"/>
            </a:endParaRPr>
          </a:p>
          <a:p>
            <a:pPr marL="568960" marR="1239520">
              <a:lnSpc>
                <a:spcPct val="100000"/>
              </a:lnSpc>
              <a:spcBef>
                <a:spcPts val="5"/>
              </a:spcBef>
            </a:pPr>
            <a:r>
              <a:rPr dirty="0" sz="1350" b="1">
                <a:latin typeface="Calibri"/>
                <a:cs typeface="Calibri"/>
              </a:rPr>
              <a:t>Adaptif</a:t>
            </a:r>
            <a:r>
              <a:rPr dirty="0" sz="1350" spc="-40" b="1">
                <a:latin typeface="Calibri"/>
                <a:cs typeface="Calibri"/>
              </a:rPr>
              <a:t> </a:t>
            </a:r>
            <a:r>
              <a:rPr dirty="0" sz="1350" b="1">
                <a:latin typeface="Calibri"/>
                <a:cs typeface="Calibri"/>
              </a:rPr>
              <a:t>Boş</a:t>
            </a:r>
            <a:r>
              <a:rPr dirty="0" sz="1350" spc="-35" b="1">
                <a:latin typeface="Calibri"/>
                <a:cs typeface="Calibri"/>
              </a:rPr>
              <a:t> </a:t>
            </a:r>
            <a:r>
              <a:rPr dirty="0" sz="1350" b="1">
                <a:latin typeface="Calibri"/>
                <a:cs typeface="Calibri"/>
              </a:rPr>
              <a:t>Park</a:t>
            </a:r>
            <a:r>
              <a:rPr dirty="0" sz="1350" spc="-40" b="1">
                <a:latin typeface="Calibri"/>
                <a:cs typeface="Calibri"/>
              </a:rPr>
              <a:t> </a:t>
            </a:r>
            <a:r>
              <a:rPr dirty="0" sz="1350" spc="-20" b="1">
                <a:latin typeface="Calibri"/>
                <a:cs typeface="Calibri"/>
              </a:rPr>
              <a:t>Yeri</a:t>
            </a:r>
            <a:r>
              <a:rPr dirty="0" sz="1350" spc="-40" b="1">
                <a:latin typeface="Calibri"/>
                <a:cs typeface="Calibri"/>
              </a:rPr>
              <a:t> </a:t>
            </a:r>
            <a:r>
              <a:rPr dirty="0" sz="1350" b="1">
                <a:latin typeface="Calibri"/>
                <a:cs typeface="Calibri"/>
              </a:rPr>
              <a:t>Analizi:</a:t>
            </a:r>
            <a:r>
              <a:rPr dirty="0" sz="1350" spc="-35" b="1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Hibrid</a:t>
            </a:r>
            <a:r>
              <a:rPr dirty="0" sz="1350" spc="-5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yaklaşım;</a:t>
            </a:r>
            <a:r>
              <a:rPr dirty="0" sz="1350" spc="-5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boyalı</a:t>
            </a:r>
            <a:r>
              <a:rPr dirty="0" sz="1350" spc="-3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şerit</a:t>
            </a:r>
            <a:r>
              <a:rPr dirty="0" sz="1350" spc="-5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varlığında</a:t>
            </a:r>
            <a:r>
              <a:rPr dirty="0" sz="1350" spc="-35">
                <a:latin typeface="Calibri"/>
                <a:cs typeface="Calibri"/>
              </a:rPr>
              <a:t> </a:t>
            </a:r>
            <a:r>
              <a:rPr dirty="0" sz="1350" b="1">
                <a:latin typeface="Calibri"/>
                <a:cs typeface="Calibri"/>
              </a:rPr>
              <a:t>Izgara</a:t>
            </a:r>
            <a:r>
              <a:rPr dirty="0" sz="1350" spc="-35" b="1">
                <a:latin typeface="Calibri"/>
                <a:cs typeface="Calibri"/>
              </a:rPr>
              <a:t> </a:t>
            </a:r>
            <a:r>
              <a:rPr dirty="0" sz="1350" spc="-10" b="1">
                <a:latin typeface="Calibri"/>
                <a:cs typeface="Calibri"/>
              </a:rPr>
              <a:t>Tabanlı</a:t>
            </a:r>
            <a:r>
              <a:rPr dirty="0" sz="1350" spc="-35" b="1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yöntem;</a:t>
            </a:r>
            <a:r>
              <a:rPr dirty="0" sz="1350" spc="-25">
                <a:latin typeface="Calibri"/>
                <a:cs typeface="Calibri"/>
              </a:rPr>
              <a:t> </a:t>
            </a:r>
            <a:r>
              <a:rPr dirty="0" sz="1350" spc="-10">
                <a:latin typeface="Calibri"/>
                <a:cs typeface="Calibri"/>
              </a:rPr>
              <a:t>şerit bulunmadığında</a:t>
            </a:r>
            <a:r>
              <a:rPr dirty="0" sz="1350" spc="-3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ise </a:t>
            </a:r>
            <a:r>
              <a:rPr dirty="0" sz="1350" b="1">
                <a:latin typeface="Calibri"/>
                <a:cs typeface="Calibri"/>
              </a:rPr>
              <a:t>Geometri</a:t>
            </a:r>
            <a:r>
              <a:rPr dirty="0" sz="1350" spc="-5" b="1">
                <a:latin typeface="Calibri"/>
                <a:cs typeface="Calibri"/>
              </a:rPr>
              <a:t> </a:t>
            </a:r>
            <a:r>
              <a:rPr dirty="0" sz="1350" spc="-10" b="1">
                <a:latin typeface="Calibri"/>
                <a:cs typeface="Calibri"/>
              </a:rPr>
              <a:t>Tabanlı</a:t>
            </a:r>
            <a:r>
              <a:rPr dirty="0" sz="1350" spc="-5" b="1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boşluk</a:t>
            </a:r>
            <a:r>
              <a:rPr dirty="0" sz="1350" spc="-35">
                <a:latin typeface="Calibri"/>
                <a:cs typeface="Calibri"/>
              </a:rPr>
              <a:t> </a:t>
            </a:r>
            <a:r>
              <a:rPr dirty="0" sz="1350" spc="-10">
                <a:latin typeface="Calibri"/>
                <a:cs typeface="Calibri"/>
              </a:rPr>
              <a:t>analizi.</a:t>
            </a:r>
            <a:endParaRPr sz="1350">
              <a:latin typeface="Calibri"/>
              <a:cs typeface="Calibri"/>
            </a:endParaRPr>
          </a:p>
          <a:p>
            <a:pPr marL="568960" marR="331470">
              <a:lnSpc>
                <a:spcPct val="100000"/>
              </a:lnSpc>
              <a:spcBef>
                <a:spcPts val="15"/>
              </a:spcBef>
            </a:pPr>
            <a:r>
              <a:rPr dirty="0" sz="1350" spc="-25" b="1">
                <a:latin typeface="Calibri"/>
                <a:cs typeface="Calibri"/>
              </a:rPr>
              <a:t>Ters</a:t>
            </a:r>
            <a:r>
              <a:rPr dirty="0" sz="1350" spc="-10" b="1">
                <a:latin typeface="Calibri"/>
                <a:cs typeface="Calibri"/>
              </a:rPr>
              <a:t> Perspektif</a:t>
            </a:r>
            <a:r>
              <a:rPr dirty="0" sz="1350" spc="-35" b="1">
                <a:latin typeface="Calibri"/>
                <a:cs typeface="Calibri"/>
              </a:rPr>
              <a:t> </a:t>
            </a:r>
            <a:r>
              <a:rPr dirty="0" sz="1350" b="1">
                <a:latin typeface="Calibri"/>
                <a:cs typeface="Calibri"/>
              </a:rPr>
              <a:t>Dönüşümü</a:t>
            </a:r>
            <a:r>
              <a:rPr dirty="0" sz="1350" spc="-15" b="1">
                <a:latin typeface="Calibri"/>
                <a:cs typeface="Calibri"/>
              </a:rPr>
              <a:t> </a:t>
            </a:r>
            <a:r>
              <a:rPr dirty="0" sz="1350" b="1">
                <a:latin typeface="Calibri"/>
                <a:cs typeface="Calibri"/>
              </a:rPr>
              <a:t>(IPM):</a:t>
            </a:r>
            <a:r>
              <a:rPr dirty="0" sz="1350" spc="-15" b="1">
                <a:latin typeface="Calibri"/>
                <a:cs typeface="Calibri"/>
              </a:rPr>
              <a:t> </a:t>
            </a:r>
            <a:r>
              <a:rPr dirty="0" sz="1350" spc="-10">
                <a:latin typeface="Calibri"/>
                <a:cs typeface="Calibri"/>
              </a:rPr>
              <a:t>Görüntünün</a:t>
            </a:r>
            <a:r>
              <a:rPr dirty="0" sz="1350" spc="-4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kuş</a:t>
            </a:r>
            <a:r>
              <a:rPr dirty="0" sz="1350" spc="-1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bakışına</a:t>
            </a:r>
            <a:r>
              <a:rPr dirty="0" sz="1350" spc="-2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çevrilmesi.</a:t>
            </a:r>
            <a:r>
              <a:rPr dirty="0" sz="1350" spc="-3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Manuel</a:t>
            </a:r>
            <a:r>
              <a:rPr dirty="0" sz="1350" spc="-3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4-nokta</a:t>
            </a:r>
            <a:r>
              <a:rPr dirty="0" sz="1350" spc="-1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seçimi</a:t>
            </a:r>
            <a:r>
              <a:rPr dirty="0" sz="1350" spc="-1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veya</a:t>
            </a:r>
            <a:r>
              <a:rPr dirty="0" sz="1350" spc="-5">
                <a:latin typeface="Calibri"/>
                <a:cs typeface="Calibri"/>
              </a:rPr>
              <a:t> </a:t>
            </a:r>
            <a:r>
              <a:rPr dirty="0" sz="1350" spc="-10">
                <a:latin typeface="Calibri"/>
                <a:cs typeface="Calibri"/>
              </a:rPr>
              <a:t>kaybolma </a:t>
            </a:r>
            <a:r>
              <a:rPr dirty="0" sz="1350">
                <a:latin typeface="Calibri"/>
                <a:cs typeface="Calibri"/>
              </a:rPr>
              <a:t>noktası</a:t>
            </a:r>
            <a:r>
              <a:rPr dirty="0" sz="1350" spc="-3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ve</a:t>
            </a:r>
            <a:r>
              <a:rPr dirty="0" sz="1350" spc="-1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araç</a:t>
            </a:r>
            <a:r>
              <a:rPr dirty="0" sz="1350" spc="-2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boyutları</a:t>
            </a:r>
            <a:r>
              <a:rPr dirty="0" sz="1350" spc="-4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tabanlı</a:t>
            </a:r>
            <a:r>
              <a:rPr dirty="0" sz="1350" spc="-1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otomatik</a:t>
            </a:r>
            <a:r>
              <a:rPr dirty="0" sz="1350" spc="-35">
                <a:latin typeface="Calibri"/>
                <a:cs typeface="Calibri"/>
              </a:rPr>
              <a:t> </a:t>
            </a:r>
            <a:r>
              <a:rPr dirty="0" sz="1350" spc="-10">
                <a:latin typeface="Calibri"/>
                <a:cs typeface="Calibri"/>
              </a:rPr>
              <a:t>kalibrasyon.</a:t>
            </a:r>
            <a:r>
              <a:rPr dirty="0" sz="1350" spc="-2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BEV</a:t>
            </a:r>
            <a:r>
              <a:rPr dirty="0" sz="1350" spc="-4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düzleminde</a:t>
            </a:r>
            <a:r>
              <a:rPr dirty="0" sz="1350" spc="-3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sabit</a:t>
            </a:r>
            <a:r>
              <a:rPr dirty="0" sz="1350" spc="-3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ölçek</a:t>
            </a:r>
            <a:r>
              <a:rPr dirty="0" sz="1350" spc="-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ile</a:t>
            </a:r>
            <a:r>
              <a:rPr dirty="0" sz="1350" spc="-2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hassas</a:t>
            </a:r>
            <a:r>
              <a:rPr dirty="0" sz="1350" spc="-4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piksel-</a:t>
            </a:r>
            <a:r>
              <a:rPr dirty="0" sz="1350" spc="-10">
                <a:latin typeface="Calibri"/>
                <a:cs typeface="Calibri"/>
              </a:rPr>
              <a:t>metre </a:t>
            </a:r>
            <a:r>
              <a:rPr dirty="0" sz="1350">
                <a:latin typeface="Calibri"/>
                <a:cs typeface="Calibri"/>
              </a:rPr>
              <a:t>dönüşümü</a:t>
            </a:r>
            <a:r>
              <a:rPr dirty="0" sz="1350" spc="-4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ve</a:t>
            </a:r>
            <a:r>
              <a:rPr dirty="0" sz="1350" spc="-2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fiziksel</a:t>
            </a:r>
            <a:r>
              <a:rPr dirty="0" sz="1350" spc="-2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boyut</a:t>
            </a:r>
            <a:r>
              <a:rPr dirty="0" sz="1350" spc="-15">
                <a:latin typeface="Calibri"/>
                <a:cs typeface="Calibri"/>
              </a:rPr>
              <a:t> </a:t>
            </a:r>
            <a:r>
              <a:rPr dirty="0" sz="1350" spc="-10">
                <a:latin typeface="Calibri"/>
                <a:cs typeface="Calibri"/>
              </a:rPr>
              <a:t>ölçümü.</a:t>
            </a:r>
            <a:endParaRPr sz="1350">
              <a:latin typeface="Calibri"/>
              <a:cs typeface="Calibri"/>
            </a:endParaRPr>
          </a:p>
          <a:p>
            <a:pPr marL="568960" marR="1066800">
              <a:lnSpc>
                <a:spcPct val="100000"/>
              </a:lnSpc>
              <a:spcBef>
                <a:spcPts val="25"/>
              </a:spcBef>
            </a:pPr>
            <a:r>
              <a:rPr dirty="0" sz="1350" spc="-10" b="1">
                <a:latin typeface="Calibri"/>
                <a:cs typeface="Calibri"/>
              </a:rPr>
              <a:t>Kararlılık:</a:t>
            </a:r>
            <a:r>
              <a:rPr dirty="0" sz="1350" spc="-30" b="1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Zaman</a:t>
            </a:r>
            <a:r>
              <a:rPr dirty="0" sz="1350" spc="-2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serisi</a:t>
            </a:r>
            <a:r>
              <a:rPr dirty="0" sz="1350" spc="-4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oylama</a:t>
            </a:r>
            <a:r>
              <a:rPr dirty="0" sz="1350" spc="-1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ve</a:t>
            </a:r>
            <a:r>
              <a:rPr dirty="0" sz="1350" spc="-1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video</a:t>
            </a:r>
            <a:r>
              <a:rPr dirty="0" sz="1350" spc="-3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sabitleme</a:t>
            </a:r>
            <a:r>
              <a:rPr dirty="0" sz="1350" spc="-2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modülleriyle</a:t>
            </a:r>
            <a:r>
              <a:rPr dirty="0" sz="1350" spc="-15">
                <a:latin typeface="Calibri"/>
                <a:cs typeface="Calibri"/>
              </a:rPr>
              <a:t> </a:t>
            </a:r>
            <a:r>
              <a:rPr dirty="0" sz="1350" spc="-10">
                <a:latin typeface="Calibri"/>
                <a:cs typeface="Calibri"/>
              </a:rPr>
              <a:t>sarsıntı</a:t>
            </a:r>
            <a:r>
              <a:rPr dirty="0" sz="1350" spc="-1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ve</a:t>
            </a:r>
            <a:r>
              <a:rPr dirty="0" sz="1350" spc="-3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anlık</a:t>
            </a:r>
            <a:r>
              <a:rPr dirty="0" sz="1350" spc="-3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yanlış</a:t>
            </a:r>
            <a:r>
              <a:rPr dirty="0" sz="1350" spc="-35">
                <a:latin typeface="Calibri"/>
                <a:cs typeface="Calibri"/>
              </a:rPr>
              <a:t> </a:t>
            </a:r>
            <a:r>
              <a:rPr dirty="0" sz="1350" spc="-10">
                <a:latin typeface="Calibri"/>
                <a:cs typeface="Calibri"/>
              </a:rPr>
              <a:t>algılamaların engellenmesi.</a:t>
            </a:r>
            <a:endParaRPr sz="1350">
              <a:latin typeface="Calibri"/>
              <a:cs typeface="Calibri"/>
            </a:endParaRPr>
          </a:p>
          <a:p>
            <a:pPr marL="568960" marR="255904">
              <a:lnSpc>
                <a:spcPct val="100000"/>
              </a:lnSpc>
              <a:spcBef>
                <a:spcPts val="15"/>
              </a:spcBef>
            </a:pPr>
            <a:r>
              <a:rPr dirty="0" sz="1350" b="1">
                <a:latin typeface="Calibri"/>
                <a:cs typeface="Calibri"/>
              </a:rPr>
              <a:t>Sürücü</a:t>
            </a:r>
            <a:r>
              <a:rPr dirty="0" sz="1350" spc="-20" b="1">
                <a:latin typeface="Calibri"/>
                <a:cs typeface="Calibri"/>
              </a:rPr>
              <a:t> </a:t>
            </a:r>
            <a:r>
              <a:rPr dirty="0" sz="1350" b="1">
                <a:latin typeface="Calibri"/>
                <a:cs typeface="Calibri"/>
              </a:rPr>
              <a:t>Asistanı</a:t>
            </a:r>
            <a:r>
              <a:rPr dirty="0" sz="1350" spc="-55" b="1">
                <a:latin typeface="Calibri"/>
                <a:cs typeface="Calibri"/>
              </a:rPr>
              <a:t> </a:t>
            </a:r>
            <a:r>
              <a:rPr dirty="0" sz="1350" spc="-10" b="1">
                <a:latin typeface="Calibri"/>
                <a:cs typeface="Calibri"/>
              </a:rPr>
              <a:t>Sistemleri:</a:t>
            </a:r>
            <a:r>
              <a:rPr dirty="0" sz="1350" spc="-30" b="1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Çok</a:t>
            </a:r>
            <a:r>
              <a:rPr dirty="0" sz="1350" spc="-2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kriterli</a:t>
            </a:r>
            <a:r>
              <a:rPr dirty="0" sz="1350" spc="-4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slot</a:t>
            </a:r>
            <a:r>
              <a:rPr dirty="0" sz="1350" spc="-2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skorlama</a:t>
            </a:r>
            <a:r>
              <a:rPr dirty="0" sz="1350" spc="-5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algoritması,</a:t>
            </a:r>
            <a:r>
              <a:rPr dirty="0" sz="1350" spc="-4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tek</a:t>
            </a:r>
            <a:r>
              <a:rPr dirty="0" sz="1350" spc="-1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kameralı</a:t>
            </a:r>
            <a:r>
              <a:rPr dirty="0" sz="1350" spc="-4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derinlik</a:t>
            </a:r>
            <a:r>
              <a:rPr dirty="0" sz="1350" spc="-4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haritalama,</a:t>
            </a:r>
            <a:r>
              <a:rPr dirty="0" sz="1350" spc="-2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Vosk</a:t>
            </a:r>
            <a:r>
              <a:rPr dirty="0" sz="1350" spc="-30">
                <a:latin typeface="Calibri"/>
                <a:cs typeface="Calibri"/>
              </a:rPr>
              <a:t> </a:t>
            </a:r>
            <a:r>
              <a:rPr dirty="0" sz="1350" spc="-10">
                <a:latin typeface="Calibri"/>
                <a:cs typeface="Calibri"/>
              </a:rPr>
              <a:t>tabanlı </a:t>
            </a:r>
            <a:r>
              <a:rPr dirty="0" sz="1350">
                <a:latin typeface="Calibri"/>
                <a:cs typeface="Calibri"/>
              </a:rPr>
              <a:t>çevrimdışı</a:t>
            </a:r>
            <a:r>
              <a:rPr dirty="0" sz="1350" spc="-40">
                <a:latin typeface="Calibri"/>
                <a:cs typeface="Calibri"/>
              </a:rPr>
              <a:t> </a:t>
            </a:r>
            <a:r>
              <a:rPr dirty="0" sz="1350" spc="-20">
                <a:latin typeface="Calibri"/>
                <a:cs typeface="Calibri"/>
              </a:rPr>
              <a:t>Türkçe</a:t>
            </a:r>
            <a:r>
              <a:rPr dirty="0" sz="1350" spc="-2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sesli</a:t>
            </a:r>
            <a:r>
              <a:rPr dirty="0" sz="1350" spc="-1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komut</a:t>
            </a:r>
            <a:r>
              <a:rPr dirty="0" sz="1350" spc="-3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alımı</a:t>
            </a:r>
            <a:r>
              <a:rPr dirty="0" sz="1350" spc="-1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ve</a:t>
            </a:r>
            <a:r>
              <a:rPr dirty="0" sz="1350" spc="-10">
                <a:latin typeface="Calibri"/>
                <a:cs typeface="Calibri"/>
              </a:rPr>
              <a:t> edge-</a:t>
            </a:r>
            <a:r>
              <a:rPr dirty="0" sz="1350">
                <a:latin typeface="Calibri"/>
                <a:cs typeface="Calibri"/>
              </a:rPr>
              <a:t>tts</a:t>
            </a:r>
            <a:r>
              <a:rPr dirty="0" sz="1350" spc="-2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ile</a:t>
            </a:r>
            <a:r>
              <a:rPr dirty="0" sz="1350" spc="-1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sesli</a:t>
            </a:r>
            <a:r>
              <a:rPr dirty="0" sz="1350" spc="-3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yanıt</a:t>
            </a:r>
            <a:r>
              <a:rPr dirty="0" sz="1350" spc="-1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ve</a:t>
            </a:r>
            <a:r>
              <a:rPr dirty="0" sz="1350" spc="-20">
                <a:latin typeface="Calibri"/>
                <a:cs typeface="Calibri"/>
              </a:rPr>
              <a:t> </a:t>
            </a:r>
            <a:r>
              <a:rPr dirty="0" sz="1350" spc="-10">
                <a:latin typeface="Calibri"/>
                <a:cs typeface="Calibri"/>
              </a:rPr>
              <a:t>kontrast</a:t>
            </a:r>
            <a:r>
              <a:rPr dirty="0" sz="1350" spc="-4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iyileştirmeli</a:t>
            </a:r>
            <a:r>
              <a:rPr dirty="0" sz="1350" spc="-4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gece</a:t>
            </a:r>
            <a:r>
              <a:rPr dirty="0" sz="1350" spc="-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görüşü</a:t>
            </a:r>
            <a:r>
              <a:rPr dirty="0" sz="1350" spc="-45">
                <a:latin typeface="Calibri"/>
                <a:cs typeface="Calibri"/>
              </a:rPr>
              <a:t> </a:t>
            </a:r>
            <a:r>
              <a:rPr dirty="0" sz="1350" spc="-10">
                <a:latin typeface="Calibri"/>
                <a:cs typeface="Calibri"/>
              </a:rPr>
              <a:t>modu.</a:t>
            </a:r>
            <a:endParaRPr sz="1350">
              <a:latin typeface="Calibri"/>
              <a:cs typeface="Calibri"/>
            </a:endParaRPr>
          </a:p>
          <a:p>
            <a:pPr marL="568960" marR="229870">
              <a:lnSpc>
                <a:spcPct val="100000"/>
              </a:lnSpc>
              <a:spcBef>
                <a:spcPts val="15"/>
              </a:spcBef>
            </a:pPr>
            <a:r>
              <a:rPr dirty="0" sz="1350" b="1">
                <a:latin typeface="Calibri"/>
                <a:cs typeface="Calibri"/>
              </a:rPr>
              <a:t>Doğrulama</a:t>
            </a:r>
            <a:r>
              <a:rPr dirty="0" sz="1350" spc="-35" b="1">
                <a:latin typeface="Calibri"/>
                <a:cs typeface="Calibri"/>
              </a:rPr>
              <a:t> </a:t>
            </a:r>
            <a:r>
              <a:rPr dirty="0" sz="1350" b="1">
                <a:latin typeface="Calibri"/>
                <a:cs typeface="Calibri"/>
              </a:rPr>
              <a:t>ve</a:t>
            </a:r>
            <a:r>
              <a:rPr dirty="0" sz="1350" spc="-15" b="1">
                <a:latin typeface="Calibri"/>
                <a:cs typeface="Calibri"/>
              </a:rPr>
              <a:t> </a:t>
            </a:r>
            <a:r>
              <a:rPr dirty="0" sz="1350" spc="-20" b="1">
                <a:latin typeface="Calibri"/>
                <a:cs typeface="Calibri"/>
              </a:rPr>
              <a:t>Test:</a:t>
            </a:r>
            <a:r>
              <a:rPr dirty="0" sz="1350" spc="-15" b="1">
                <a:latin typeface="Calibri"/>
                <a:cs typeface="Calibri"/>
              </a:rPr>
              <a:t> </a:t>
            </a:r>
            <a:r>
              <a:rPr dirty="0" sz="1350" spc="-10">
                <a:latin typeface="Calibri"/>
                <a:cs typeface="Calibri"/>
              </a:rPr>
              <a:t>Performans</a:t>
            </a:r>
            <a:r>
              <a:rPr dirty="0" sz="1350" spc="-4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ölçümleri</a:t>
            </a:r>
            <a:r>
              <a:rPr dirty="0" sz="1350" spc="-2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için</a:t>
            </a:r>
            <a:r>
              <a:rPr dirty="0" sz="1350" spc="-4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metrik</a:t>
            </a:r>
            <a:r>
              <a:rPr dirty="0" sz="1350" spc="-2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kütüphanesi</a:t>
            </a:r>
            <a:r>
              <a:rPr dirty="0" sz="1350" spc="-5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sentetik</a:t>
            </a:r>
            <a:r>
              <a:rPr dirty="0" sz="1350" spc="-2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veri</a:t>
            </a:r>
            <a:r>
              <a:rPr dirty="0" sz="1350" spc="-4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üreteci,</a:t>
            </a:r>
            <a:r>
              <a:rPr dirty="0" sz="1350" spc="-2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bileşen</a:t>
            </a:r>
            <a:r>
              <a:rPr dirty="0" sz="1350" spc="-4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analiz</a:t>
            </a:r>
            <a:r>
              <a:rPr dirty="0" sz="1350" spc="-35">
                <a:latin typeface="Calibri"/>
                <a:cs typeface="Calibri"/>
              </a:rPr>
              <a:t> </a:t>
            </a:r>
            <a:r>
              <a:rPr dirty="0" sz="1350" spc="-10">
                <a:latin typeface="Calibri"/>
                <a:cs typeface="Calibri"/>
              </a:rPr>
              <a:t>çerçevesi </a:t>
            </a:r>
            <a:r>
              <a:rPr dirty="0" sz="1350">
                <a:latin typeface="Calibri"/>
                <a:cs typeface="Calibri"/>
              </a:rPr>
              <a:t>ve</a:t>
            </a:r>
            <a:r>
              <a:rPr dirty="0" sz="1350" spc="-2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211</a:t>
            </a:r>
            <a:r>
              <a:rPr dirty="0" sz="1350" spc="-1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adet</a:t>
            </a:r>
            <a:r>
              <a:rPr dirty="0" sz="1350" spc="-20">
                <a:latin typeface="Calibri"/>
                <a:cs typeface="Calibri"/>
              </a:rPr>
              <a:t> </a:t>
            </a:r>
            <a:r>
              <a:rPr dirty="0" sz="1350" spc="-10">
                <a:latin typeface="Calibri"/>
                <a:cs typeface="Calibri"/>
              </a:rPr>
              <a:t>regresyon</a:t>
            </a:r>
            <a:r>
              <a:rPr dirty="0" sz="1350" spc="-2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test</a:t>
            </a:r>
            <a:r>
              <a:rPr dirty="0" sz="1350" spc="-10">
                <a:latin typeface="Calibri"/>
                <a:cs typeface="Calibri"/>
              </a:rPr>
              <a:t> senaryosu.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585620" y="9328618"/>
            <a:ext cx="8519795" cy="379730"/>
          </a:xfrm>
          <a:prstGeom prst="rect">
            <a:avLst/>
          </a:prstGeom>
          <a:solidFill>
            <a:srgbClr val="5B9BD4"/>
          </a:solidFill>
        </p:spPr>
        <p:txBody>
          <a:bodyPr wrap="square" lIns="0" tIns="53975" rIns="0" bIns="0" rtlCol="0" vert="horz">
            <a:spAutoFit/>
          </a:bodyPr>
          <a:lstStyle/>
          <a:p>
            <a:pPr algn="ctr" marR="11430">
              <a:lnSpc>
                <a:spcPct val="100000"/>
              </a:lnSpc>
              <a:spcBef>
                <a:spcPts val="425"/>
              </a:spcBef>
            </a:pPr>
            <a:r>
              <a:rPr dirty="0" sz="1600" spc="120" b="1">
                <a:solidFill>
                  <a:srgbClr val="FFFFFF"/>
                </a:solidFill>
                <a:latin typeface="Calibri"/>
                <a:cs typeface="Calibri"/>
              </a:rPr>
              <a:t>BULGULAR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5585620" y="9706646"/>
            <a:ext cx="8519795" cy="5133975"/>
          </a:xfrm>
          <a:custGeom>
            <a:avLst/>
            <a:gdLst/>
            <a:ahLst/>
            <a:cxnLst/>
            <a:rect l="l" t="t" r="r" b="b"/>
            <a:pathLst>
              <a:path w="8519794" h="5133975">
                <a:moveTo>
                  <a:pt x="8519470" y="0"/>
                </a:moveTo>
                <a:lnTo>
                  <a:pt x="0" y="0"/>
                </a:lnTo>
                <a:lnTo>
                  <a:pt x="0" y="5133526"/>
                </a:lnTo>
                <a:lnTo>
                  <a:pt x="8519470" y="5133526"/>
                </a:lnTo>
                <a:lnTo>
                  <a:pt x="851947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5585620" y="9706646"/>
            <a:ext cx="8519795" cy="5133975"/>
          </a:xfrm>
          <a:prstGeom prst="rect">
            <a:avLst/>
          </a:prstGeom>
          <a:ln w="5066">
            <a:solidFill>
              <a:srgbClr val="C2CDD7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84"/>
              </a:spcBef>
            </a:pPr>
            <a:endParaRPr sz="1350">
              <a:latin typeface="Times New Roman"/>
              <a:cs typeface="Times New Roman"/>
            </a:endParaRPr>
          </a:p>
          <a:p>
            <a:pPr marL="918210" indent="-123825">
              <a:lnSpc>
                <a:spcPct val="100000"/>
              </a:lnSpc>
              <a:spcBef>
                <a:spcPts val="5"/>
              </a:spcBef>
              <a:buChar char="•"/>
              <a:tabLst>
                <a:tab pos="918210" algn="l"/>
              </a:tabLst>
            </a:pPr>
            <a:r>
              <a:rPr dirty="0" sz="1350">
                <a:latin typeface="Calibri"/>
                <a:cs typeface="Calibri"/>
              </a:rPr>
              <a:t>Boş/dolu</a:t>
            </a:r>
            <a:r>
              <a:rPr dirty="0" sz="1350" spc="-3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slot</a:t>
            </a:r>
            <a:r>
              <a:rPr dirty="0" sz="1350" spc="-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tespiti</a:t>
            </a:r>
            <a:r>
              <a:rPr dirty="0" sz="1350" spc="-2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•</a:t>
            </a:r>
            <a:r>
              <a:rPr dirty="0" sz="1350" spc="-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2B</a:t>
            </a:r>
            <a:r>
              <a:rPr dirty="0" sz="1350" spc="-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Şematik</a:t>
            </a:r>
            <a:r>
              <a:rPr dirty="0" sz="1350" spc="-1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Park</a:t>
            </a:r>
            <a:r>
              <a:rPr dirty="0" sz="1350" spc="-2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Haritası</a:t>
            </a:r>
            <a:r>
              <a:rPr dirty="0" sz="1350" spc="-2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•</a:t>
            </a:r>
            <a:r>
              <a:rPr dirty="0" sz="1350" spc="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Sığma</a:t>
            </a:r>
            <a:r>
              <a:rPr dirty="0" sz="1350" spc="-10">
                <a:latin typeface="Calibri"/>
                <a:cs typeface="Calibri"/>
              </a:rPr>
              <a:t> kontrolü</a:t>
            </a:r>
            <a:r>
              <a:rPr dirty="0" sz="1350" spc="-4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•</a:t>
            </a:r>
            <a:r>
              <a:rPr dirty="0" sz="1350" spc="-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Kuş</a:t>
            </a:r>
            <a:r>
              <a:rPr dirty="0" sz="1350" spc="-2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bakışı</a:t>
            </a:r>
            <a:r>
              <a:rPr dirty="0" sz="1350" spc="-3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modu</a:t>
            </a:r>
            <a:r>
              <a:rPr dirty="0" sz="1350" spc="-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•</a:t>
            </a:r>
            <a:r>
              <a:rPr dirty="0" sz="1350" spc="-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Gece</a:t>
            </a:r>
            <a:r>
              <a:rPr dirty="0" sz="1350" spc="-5">
                <a:latin typeface="Calibri"/>
                <a:cs typeface="Calibri"/>
              </a:rPr>
              <a:t> </a:t>
            </a:r>
            <a:r>
              <a:rPr dirty="0" sz="1350" spc="-10">
                <a:latin typeface="Calibri"/>
                <a:cs typeface="Calibri"/>
              </a:rPr>
              <a:t>görüşü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585620" y="15015255"/>
            <a:ext cx="8519795" cy="379730"/>
          </a:xfrm>
          <a:prstGeom prst="rect">
            <a:avLst/>
          </a:prstGeom>
          <a:solidFill>
            <a:srgbClr val="EC7C30"/>
          </a:solidFill>
        </p:spPr>
        <p:txBody>
          <a:bodyPr wrap="square" lIns="0" tIns="55244" rIns="0" bIns="0" rtlCol="0" vert="horz">
            <a:spAutoFit/>
          </a:bodyPr>
          <a:lstStyle/>
          <a:p>
            <a:pPr algn="ctr" marR="15240">
              <a:lnSpc>
                <a:spcPct val="100000"/>
              </a:lnSpc>
              <a:spcBef>
                <a:spcPts val="434"/>
              </a:spcBef>
            </a:pPr>
            <a:r>
              <a:rPr dirty="0" sz="1600" spc="120" b="1">
                <a:solidFill>
                  <a:srgbClr val="FFFFFF"/>
                </a:solidFill>
                <a:latin typeface="Calibri"/>
                <a:cs typeface="Calibri"/>
              </a:rPr>
              <a:t>SONUÇ</a:t>
            </a:r>
            <a:r>
              <a:rPr dirty="0" sz="1600" spc="28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75" b="1">
                <a:solidFill>
                  <a:srgbClr val="FFFFFF"/>
                </a:solidFill>
                <a:latin typeface="Calibri"/>
                <a:cs typeface="Calibri"/>
              </a:rPr>
              <a:t>VE</a:t>
            </a:r>
            <a:r>
              <a:rPr dirty="0" sz="1600" spc="30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125" b="1">
                <a:solidFill>
                  <a:srgbClr val="FFFFFF"/>
                </a:solidFill>
                <a:latin typeface="Calibri"/>
                <a:cs typeface="Calibri"/>
              </a:rPr>
              <a:t>ÖNERİLER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585620" y="15394277"/>
            <a:ext cx="8519795" cy="3725545"/>
          </a:xfrm>
          <a:prstGeom prst="rect">
            <a:avLst/>
          </a:prstGeom>
          <a:solidFill>
            <a:srgbClr val="FFFFFF"/>
          </a:solidFill>
          <a:ln w="5066">
            <a:solidFill>
              <a:srgbClr val="C2CDD7"/>
            </a:solidFill>
          </a:ln>
        </p:spPr>
        <p:txBody>
          <a:bodyPr wrap="square" lIns="0" tIns="67945" rIns="0" bIns="0" rtlCol="0" vert="horz">
            <a:spAutoFit/>
          </a:bodyPr>
          <a:lstStyle/>
          <a:p>
            <a:pPr marL="204470">
              <a:lnSpc>
                <a:spcPct val="100000"/>
              </a:lnSpc>
              <a:spcBef>
                <a:spcPts val="535"/>
              </a:spcBef>
            </a:pPr>
            <a:r>
              <a:rPr dirty="0" sz="1350" spc="-35">
                <a:latin typeface="Calibri"/>
                <a:cs typeface="Calibri"/>
              </a:rPr>
              <a:t>Tek</a:t>
            </a:r>
            <a:r>
              <a:rPr dirty="0" sz="1350" spc="5">
                <a:latin typeface="Calibri"/>
                <a:cs typeface="Calibri"/>
              </a:rPr>
              <a:t> </a:t>
            </a:r>
            <a:r>
              <a:rPr dirty="0" sz="1350" spc="-10">
                <a:latin typeface="Calibri"/>
                <a:cs typeface="Calibri"/>
              </a:rPr>
              <a:t>kameradan,</a:t>
            </a:r>
            <a:r>
              <a:rPr dirty="0" sz="1350" spc="-2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ek</a:t>
            </a:r>
            <a:r>
              <a:rPr dirty="0" sz="1350" spc="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donanım</a:t>
            </a:r>
            <a:r>
              <a:rPr dirty="0" sz="1350" spc="-20">
                <a:latin typeface="Calibri"/>
                <a:cs typeface="Calibri"/>
              </a:rPr>
              <a:t> </a:t>
            </a:r>
            <a:r>
              <a:rPr dirty="0" sz="1350" spc="-10">
                <a:latin typeface="Calibri"/>
                <a:cs typeface="Calibri"/>
              </a:rPr>
              <a:t>gerektirmeden</a:t>
            </a:r>
            <a:r>
              <a:rPr dirty="0" sz="1350" spc="-3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park</a:t>
            </a:r>
            <a:r>
              <a:rPr dirty="0" sz="1350" spc="-1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yeri</a:t>
            </a:r>
            <a:r>
              <a:rPr dirty="0" sz="1350" spc="-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analizi,</a:t>
            </a:r>
            <a:r>
              <a:rPr dirty="0" sz="1350" spc="-3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metrik ölçüm</a:t>
            </a:r>
            <a:r>
              <a:rPr dirty="0" sz="1350" spc="-1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ve sürücü</a:t>
            </a:r>
            <a:r>
              <a:rPr dirty="0" sz="1350" spc="-35">
                <a:latin typeface="Calibri"/>
                <a:cs typeface="Calibri"/>
              </a:rPr>
              <a:t> </a:t>
            </a:r>
            <a:r>
              <a:rPr dirty="0" sz="1350" spc="-10">
                <a:latin typeface="Calibri"/>
                <a:cs typeface="Calibri"/>
              </a:rPr>
              <a:t>yönlendirmesi</a:t>
            </a:r>
            <a:endParaRPr sz="1350">
              <a:latin typeface="Calibri"/>
              <a:cs typeface="Calibri"/>
            </a:endParaRPr>
          </a:p>
          <a:p>
            <a:pPr marL="204470" marR="258445">
              <a:lnSpc>
                <a:spcPct val="100000"/>
              </a:lnSpc>
              <a:spcBef>
                <a:spcPts val="10"/>
              </a:spcBef>
            </a:pPr>
            <a:r>
              <a:rPr dirty="0" sz="1350" spc="-10">
                <a:latin typeface="Calibri"/>
                <a:cs typeface="Calibri"/>
              </a:rPr>
              <a:t>gerçekleştirilmiştir.</a:t>
            </a:r>
            <a:r>
              <a:rPr dirty="0" sz="1350" spc="-3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Adaptif</a:t>
            </a:r>
            <a:r>
              <a:rPr dirty="0" sz="1350" spc="-4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tespit</a:t>
            </a:r>
            <a:r>
              <a:rPr dirty="0" sz="1350" spc="-4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yaklaşımı</a:t>
            </a:r>
            <a:r>
              <a:rPr dirty="0" sz="1350" spc="-4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sayesinde</a:t>
            </a:r>
            <a:r>
              <a:rPr dirty="0" sz="1350" spc="-5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sistem</a:t>
            </a:r>
            <a:r>
              <a:rPr dirty="0" sz="1350" spc="-3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hem</a:t>
            </a:r>
            <a:r>
              <a:rPr dirty="0" sz="1350" spc="-2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çizgili</a:t>
            </a:r>
            <a:r>
              <a:rPr dirty="0" sz="1350" spc="-5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otoparklarda</a:t>
            </a:r>
            <a:r>
              <a:rPr dirty="0" sz="1350" spc="-5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hem</a:t>
            </a:r>
            <a:r>
              <a:rPr dirty="0" sz="1350" spc="-2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de</a:t>
            </a:r>
            <a:r>
              <a:rPr dirty="0" sz="1350" spc="-3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çizgisiz</a:t>
            </a:r>
            <a:r>
              <a:rPr dirty="0" sz="1350" spc="-4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yol</a:t>
            </a:r>
            <a:r>
              <a:rPr dirty="0" sz="1350" spc="-20">
                <a:latin typeface="Calibri"/>
                <a:cs typeface="Calibri"/>
              </a:rPr>
              <a:t> </a:t>
            </a:r>
            <a:r>
              <a:rPr dirty="0" sz="1350" spc="-10">
                <a:latin typeface="Calibri"/>
                <a:cs typeface="Calibri"/>
              </a:rPr>
              <a:t>kenarı</a:t>
            </a:r>
            <a:r>
              <a:rPr dirty="0" sz="1350" spc="-45">
                <a:latin typeface="Calibri"/>
                <a:cs typeface="Calibri"/>
              </a:rPr>
              <a:t> </a:t>
            </a:r>
            <a:r>
              <a:rPr dirty="0" sz="1350" spc="-20">
                <a:latin typeface="Calibri"/>
                <a:cs typeface="Calibri"/>
              </a:rPr>
              <a:t>park </a:t>
            </a:r>
            <a:r>
              <a:rPr dirty="0" sz="1350" spc="-10">
                <a:latin typeface="Calibri"/>
                <a:cs typeface="Calibri"/>
              </a:rPr>
              <a:t>alanlarında</a:t>
            </a:r>
            <a:r>
              <a:rPr dirty="0" sz="1350" spc="-45">
                <a:latin typeface="Calibri"/>
                <a:cs typeface="Calibri"/>
              </a:rPr>
              <a:t> </a:t>
            </a:r>
            <a:r>
              <a:rPr dirty="0" sz="1350" spc="-10">
                <a:latin typeface="Calibri"/>
                <a:cs typeface="Calibri"/>
              </a:rPr>
              <a:t>çalışabilmektedir.</a:t>
            </a:r>
            <a:r>
              <a:rPr dirty="0" sz="1350" spc="-4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Gündüz</a:t>
            </a:r>
            <a:r>
              <a:rPr dirty="0" sz="1350" spc="-3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ve</a:t>
            </a:r>
            <a:r>
              <a:rPr dirty="0" sz="1350" spc="-2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çizgili</a:t>
            </a:r>
            <a:r>
              <a:rPr dirty="0" sz="1350" spc="-30">
                <a:latin typeface="Calibri"/>
                <a:cs typeface="Calibri"/>
              </a:rPr>
              <a:t> </a:t>
            </a:r>
            <a:r>
              <a:rPr dirty="0" sz="1350" spc="-10">
                <a:latin typeface="Calibri"/>
                <a:cs typeface="Calibri"/>
              </a:rPr>
              <a:t>koşullarda</a:t>
            </a:r>
            <a:r>
              <a:rPr dirty="0" sz="1350" spc="-4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boş/dolu</a:t>
            </a:r>
            <a:r>
              <a:rPr dirty="0" sz="1350" spc="-4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ayrımı</a:t>
            </a:r>
            <a:r>
              <a:rPr dirty="0" sz="1350" spc="-2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yüksek</a:t>
            </a:r>
            <a:r>
              <a:rPr dirty="0" sz="1350" spc="-3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isabetle</a:t>
            </a:r>
            <a:r>
              <a:rPr dirty="0" sz="1350" spc="-4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yapılmakta;</a:t>
            </a:r>
            <a:r>
              <a:rPr dirty="0" sz="1350" spc="-30">
                <a:latin typeface="Calibri"/>
                <a:cs typeface="Calibri"/>
              </a:rPr>
              <a:t> </a:t>
            </a:r>
            <a:r>
              <a:rPr dirty="0" sz="1350" spc="-10">
                <a:latin typeface="Calibri"/>
                <a:cs typeface="Calibri"/>
              </a:rPr>
              <a:t>sistem</a:t>
            </a:r>
            <a:endParaRPr sz="1350">
              <a:latin typeface="Calibri"/>
              <a:cs typeface="Calibri"/>
            </a:endParaRPr>
          </a:p>
          <a:p>
            <a:pPr marL="204470">
              <a:lnSpc>
                <a:spcPct val="100000"/>
              </a:lnSpc>
              <a:spcBef>
                <a:spcPts val="15"/>
              </a:spcBef>
            </a:pPr>
            <a:r>
              <a:rPr dirty="0" sz="1350">
                <a:latin typeface="Calibri"/>
                <a:cs typeface="Calibri"/>
              </a:rPr>
              <a:t>etkileşimli</a:t>
            </a:r>
            <a:r>
              <a:rPr dirty="0" sz="1350" spc="-5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hızda</a:t>
            </a:r>
            <a:r>
              <a:rPr dirty="0" sz="1350" spc="-50">
                <a:latin typeface="Calibri"/>
                <a:cs typeface="Calibri"/>
              </a:rPr>
              <a:t> </a:t>
            </a:r>
            <a:r>
              <a:rPr dirty="0" sz="1350" spc="-10">
                <a:latin typeface="Calibri"/>
                <a:cs typeface="Calibri"/>
              </a:rPr>
              <a:t>çalışmaktadır.</a:t>
            </a:r>
            <a:endParaRPr sz="1350">
              <a:latin typeface="Calibri"/>
              <a:cs typeface="Calibri"/>
            </a:endParaRPr>
          </a:p>
          <a:p>
            <a:pPr marL="204470">
              <a:lnSpc>
                <a:spcPct val="100000"/>
              </a:lnSpc>
              <a:spcBef>
                <a:spcPts val="1635"/>
              </a:spcBef>
            </a:pPr>
            <a:r>
              <a:rPr dirty="0" sz="1350">
                <a:latin typeface="Calibri"/>
                <a:cs typeface="Calibri"/>
              </a:rPr>
              <a:t>Proje</a:t>
            </a:r>
            <a:r>
              <a:rPr dirty="0" sz="1350" spc="-5">
                <a:latin typeface="Calibri"/>
                <a:cs typeface="Calibri"/>
              </a:rPr>
              <a:t> </a:t>
            </a:r>
            <a:r>
              <a:rPr dirty="0" sz="1350" spc="-10">
                <a:latin typeface="Calibri"/>
                <a:cs typeface="Calibri"/>
              </a:rPr>
              <a:t>kapsamında</a:t>
            </a:r>
            <a:r>
              <a:rPr dirty="0" sz="1350" spc="-3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edinilen</a:t>
            </a:r>
            <a:r>
              <a:rPr dirty="0" sz="1350" spc="-10">
                <a:latin typeface="Calibri"/>
                <a:cs typeface="Calibri"/>
              </a:rPr>
              <a:t> kazanımlar:</a:t>
            </a:r>
            <a:endParaRPr sz="1350">
              <a:latin typeface="Calibri"/>
              <a:cs typeface="Calibri"/>
            </a:endParaRPr>
          </a:p>
          <a:p>
            <a:pPr marL="1057910" indent="-123825">
              <a:lnSpc>
                <a:spcPct val="100000"/>
              </a:lnSpc>
              <a:spcBef>
                <a:spcPts val="10"/>
              </a:spcBef>
              <a:buChar char="•"/>
              <a:tabLst>
                <a:tab pos="1057910" algn="l"/>
              </a:tabLst>
            </a:pPr>
            <a:r>
              <a:rPr dirty="0" sz="1350" spc="-10">
                <a:latin typeface="Calibri"/>
                <a:cs typeface="Calibri"/>
              </a:rPr>
              <a:t>Bilgisayarlı</a:t>
            </a:r>
            <a:r>
              <a:rPr dirty="0" sz="1350" spc="-3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görü</a:t>
            </a:r>
            <a:r>
              <a:rPr dirty="0" sz="1350" spc="-2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ve</a:t>
            </a:r>
            <a:r>
              <a:rPr dirty="0" sz="1350" spc="-2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derin</a:t>
            </a:r>
            <a:r>
              <a:rPr dirty="0" sz="1350" spc="-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öğrenme</a:t>
            </a:r>
            <a:r>
              <a:rPr dirty="0" sz="1350" spc="-2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uygulama</a:t>
            </a:r>
            <a:r>
              <a:rPr dirty="0" sz="1350" spc="-30">
                <a:latin typeface="Calibri"/>
                <a:cs typeface="Calibri"/>
              </a:rPr>
              <a:t> </a:t>
            </a:r>
            <a:r>
              <a:rPr dirty="0" sz="1350" spc="-10">
                <a:latin typeface="Calibri"/>
                <a:cs typeface="Calibri"/>
              </a:rPr>
              <a:t>deneyimi</a:t>
            </a:r>
            <a:endParaRPr sz="1350">
              <a:latin typeface="Calibri"/>
              <a:cs typeface="Calibri"/>
            </a:endParaRPr>
          </a:p>
          <a:p>
            <a:pPr marL="1057910" indent="-123825">
              <a:lnSpc>
                <a:spcPct val="100000"/>
              </a:lnSpc>
              <a:spcBef>
                <a:spcPts val="5"/>
              </a:spcBef>
              <a:buChar char="•"/>
              <a:tabLst>
                <a:tab pos="1057910" algn="l"/>
              </a:tabLst>
            </a:pPr>
            <a:r>
              <a:rPr dirty="0" sz="1350">
                <a:latin typeface="Calibri"/>
                <a:cs typeface="Calibri"/>
              </a:rPr>
              <a:t>Geometrik</a:t>
            </a:r>
            <a:r>
              <a:rPr dirty="0" sz="1350" spc="-25">
                <a:latin typeface="Calibri"/>
                <a:cs typeface="Calibri"/>
              </a:rPr>
              <a:t> </a:t>
            </a:r>
            <a:r>
              <a:rPr dirty="0" sz="1350" spc="-10">
                <a:latin typeface="Calibri"/>
                <a:cs typeface="Calibri"/>
              </a:rPr>
              <a:t>bilgisayarlı</a:t>
            </a:r>
            <a:r>
              <a:rPr dirty="0" sz="1350" spc="-3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görü,</a:t>
            </a:r>
            <a:r>
              <a:rPr dirty="0" sz="1350" spc="-3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ters</a:t>
            </a:r>
            <a:r>
              <a:rPr dirty="0" sz="1350" spc="-2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perspektif</a:t>
            </a:r>
            <a:r>
              <a:rPr dirty="0" sz="1350" spc="-30">
                <a:latin typeface="Calibri"/>
                <a:cs typeface="Calibri"/>
              </a:rPr>
              <a:t> </a:t>
            </a:r>
            <a:r>
              <a:rPr dirty="0" sz="1350" spc="-10">
                <a:latin typeface="Calibri"/>
                <a:cs typeface="Calibri"/>
              </a:rPr>
              <a:t>dönüşümü</a:t>
            </a:r>
            <a:endParaRPr sz="1350">
              <a:latin typeface="Calibri"/>
              <a:cs typeface="Calibri"/>
            </a:endParaRPr>
          </a:p>
          <a:p>
            <a:pPr marL="1057910" indent="-123825">
              <a:lnSpc>
                <a:spcPct val="100000"/>
              </a:lnSpc>
              <a:spcBef>
                <a:spcPts val="10"/>
              </a:spcBef>
              <a:buChar char="•"/>
              <a:tabLst>
                <a:tab pos="1057910" algn="l"/>
              </a:tabLst>
            </a:pPr>
            <a:r>
              <a:rPr dirty="0" sz="1350" spc="-10">
                <a:latin typeface="Calibri"/>
                <a:cs typeface="Calibri"/>
              </a:rPr>
              <a:t>Gerçek-</a:t>
            </a:r>
            <a:r>
              <a:rPr dirty="0" sz="1350">
                <a:latin typeface="Calibri"/>
                <a:cs typeface="Calibri"/>
              </a:rPr>
              <a:t>zamanlı</a:t>
            </a:r>
            <a:r>
              <a:rPr dirty="0" sz="1350" spc="-2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sistem</a:t>
            </a:r>
            <a:r>
              <a:rPr dirty="0" sz="1350" spc="-3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tasarımı</a:t>
            </a:r>
            <a:r>
              <a:rPr dirty="0" sz="1350" spc="-4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ve</a:t>
            </a:r>
            <a:r>
              <a:rPr dirty="0" sz="1350" spc="-3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performans</a:t>
            </a:r>
            <a:r>
              <a:rPr dirty="0" sz="1350" spc="-20">
                <a:latin typeface="Calibri"/>
                <a:cs typeface="Calibri"/>
              </a:rPr>
              <a:t> </a:t>
            </a:r>
            <a:r>
              <a:rPr dirty="0" sz="1350" spc="-10">
                <a:latin typeface="Calibri"/>
                <a:cs typeface="Calibri"/>
              </a:rPr>
              <a:t>optimizasyonu</a:t>
            </a:r>
            <a:endParaRPr sz="1350">
              <a:latin typeface="Calibri"/>
              <a:cs typeface="Calibri"/>
            </a:endParaRPr>
          </a:p>
          <a:p>
            <a:pPr marL="1057910" indent="-123825">
              <a:lnSpc>
                <a:spcPct val="100000"/>
              </a:lnSpc>
              <a:spcBef>
                <a:spcPts val="5"/>
              </a:spcBef>
              <a:buChar char="•"/>
              <a:tabLst>
                <a:tab pos="1057910" algn="l"/>
              </a:tabLst>
            </a:pPr>
            <a:r>
              <a:rPr dirty="0" sz="1350" spc="-10">
                <a:latin typeface="Calibri"/>
                <a:cs typeface="Calibri"/>
              </a:rPr>
              <a:t>Yazılım</a:t>
            </a:r>
            <a:r>
              <a:rPr dirty="0" sz="1350" spc="-2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mühendisliği</a:t>
            </a:r>
            <a:r>
              <a:rPr dirty="0" sz="1350" spc="-30">
                <a:latin typeface="Calibri"/>
                <a:cs typeface="Calibri"/>
              </a:rPr>
              <a:t> </a:t>
            </a:r>
            <a:r>
              <a:rPr dirty="0" sz="1350" spc="-10">
                <a:latin typeface="Calibri"/>
                <a:cs typeface="Calibri"/>
              </a:rPr>
              <a:t>disiplini:</a:t>
            </a:r>
            <a:r>
              <a:rPr dirty="0" sz="1350" spc="-3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modüler</a:t>
            </a:r>
            <a:r>
              <a:rPr dirty="0" sz="1350" spc="-3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mimari</a:t>
            </a:r>
            <a:r>
              <a:rPr dirty="0" sz="1350" spc="-1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ve</a:t>
            </a:r>
            <a:r>
              <a:rPr dirty="0" sz="1350" spc="-2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211</a:t>
            </a:r>
            <a:r>
              <a:rPr dirty="0" sz="1350" spc="-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otomatik</a:t>
            </a:r>
            <a:r>
              <a:rPr dirty="0" sz="1350" spc="-20">
                <a:latin typeface="Calibri"/>
                <a:cs typeface="Calibri"/>
              </a:rPr>
              <a:t> test</a:t>
            </a:r>
            <a:endParaRPr sz="1350">
              <a:latin typeface="Calibri"/>
              <a:cs typeface="Calibri"/>
            </a:endParaRPr>
          </a:p>
          <a:p>
            <a:pPr marL="1057910" indent="-123825">
              <a:lnSpc>
                <a:spcPct val="100000"/>
              </a:lnSpc>
              <a:spcBef>
                <a:spcPts val="10"/>
              </a:spcBef>
              <a:buChar char="•"/>
              <a:tabLst>
                <a:tab pos="1057910" algn="l"/>
              </a:tabLst>
            </a:pPr>
            <a:r>
              <a:rPr dirty="0" sz="1350">
                <a:latin typeface="Calibri"/>
                <a:cs typeface="Calibri"/>
              </a:rPr>
              <a:t>Bilimsel</a:t>
            </a:r>
            <a:r>
              <a:rPr dirty="0" sz="1350" spc="-4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değerlendirme:</a:t>
            </a:r>
            <a:r>
              <a:rPr dirty="0" sz="1350" spc="-4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metrik,</a:t>
            </a:r>
            <a:r>
              <a:rPr dirty="0" sz="1350" spc="-2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ablation</a:t>
            </a:r>
            <a:r>
              <a:rPr dirty="0" sz="1350" spc="-1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ve</a:t>
            </a:r>
            <a:r>
              <a:rPr dirty="0" sz="1350" spc="-4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veri</a:t>
            </a:r>
            <a:r>
              <a:rPr dirty="0" sz="1350" spc="-3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seti</a:t>
            </a:r>
            <a:r>
              <a:rPr dirty="0" sz="1350" spc="-3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tabanlı</a:t>
            </a:r>
            <a:r>
              <a:rPr dirty="0" sz="1350" spc="-15">
                <a:latin typeface="Calibri"/>
                <a:cs typeface="Calibri"/>
              </a:rPr>
              <a:t> </a:t>
            </a:r>
            <a:r>
              <a:rPr dirty="0" sz="1350" spc="-10">
                <a:latin typeface="Calibri"/>
                <a:cs typeface="Calibri"/>
              </a:rPr>
              <a:t>analiz</a:t>
            </a:r>
            <a:endParaRPr sz="1350">
              <a:latin typeface="Calibri"/>
              <a:cs typeface="Calibri"/>
            </a:endParaRPr>
          </a:p>
          <a:p>
            <a:pPr marL="204470">
              <a:lnSpc>
                <a:spcPct val="100000"/>
              </a:lnSpc>
              <a:spcBef>
                <a:spcPts val="1635"/>
              </a:spcBef>
            </a:pPr>
            <a:r>
              <a:rPr dirty="0" sz="1350">
                <a:latin typeface="Calibri"/>
                <a:cs typeface="Calibri"/>
              </a:rPr>
              <a:t>İleriye</a:t>
            </a:r>
            <a:r>
              <a:rPr dirty="0" sz="1350" spc="-3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dönük</a:t>
            </a:r>
            <a:r>
              <a:rPr dirty="0" sz="1350" spc="-40">
                <a:latin typeface="Calibri"/>
                <a:cs typeface="Calibri"/>
              </a:rPr>
              <a:t> </a:t>
            </a:r>
            <a:r>
              <a:rPr dirty="0" sz="1350" spc="-10">
                <a:latin typeface="Calibri"/>
                <a:cs typeface="Calibri"/>
              </a:rPr>
              <a:t>öneriler:</a:t>
            </a:r>
            <a:endParaRPr sz="1350">
              <a:latin typeface="Calibri"/>
              <a:cs typeface="Calibri"/>
            </a:endParaRPr>
          </a:p>
          <a:p>
            <a:pPr marL="1057910" indent="-123825">
              <a:lnSpc>
                <a:spcPct val="100000"/>
              </a:lnSpc>
              <a:spcBef>
                <a:spcPts val="5"/>
              </a:spcBef>
              <a:buChar char="•"/>
              <a:tabLst>
                <a:tab pos="1057910" algn="l"/>
              </a:tabLst>
            </a:pPr>
            <a:r>
              <a:rPr dirty="0" sz="1350">
                <a:latin typeface="Calibri"/>
                <a:cs typeface="Calibri"/>
              </a:rPr>
              <a:t>Kendi</a:t>
            </a:r>
            <a:r>
              <a:rPr dirty="0" sz="1350" spc="-2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verisiyle</a:t>
            </a:r>
            <a:r>
              <a:rPr dirty="0" sz="1350" spc="-2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eğitilen</a:t>
            </a:r>
            <a:r>
              <a:rPr dirty="0" sz="1350" spc="-4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doluluk</a:t>
            </a:r>
            <a:r>
              <a:rPr dirty="0" sz="1350" spc="-35">
                <a:latin typeface="Calibri"/>
                <a:cs typeface="Calibri"/>
              </a:rPr>
              <a:t> </a:t>
            </a:r>
            <a:r>
              <a:rPr dirty="0" sz="1350" spc="-10">
                <a:latin typeface="Calibri"/>
                <a:cs typeface="Calibri"/>
              </a:rPr>
              <a:t>sınıflandırıcı</a:t>
            </a:r>
            <a:r>
              <a:rPr dirty="0" sz="1350" spc="-1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ile</a:t>
            </a:r>
            <a:r>
              <a:rPr dirty="0" sz="1350" spc="-1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gece/zor</a:t>
            </a:r>
            <a:r>
              <a:rPr dirty="0" sz="1350" spc="-15">
                <a:latin typeface="Calibri"/>
                <a:cs typeface="Calibri"/>
              </a:rPr>
              <a:t> </a:t>
            </a:r>
            <a:r>
              <a:rPr dirty="0" sz="1350" spc="-10">
                <a:latin typeface="Calibri"/>
                <a:cs typeface="Calibri"/>
              </a:rPr>
              <a:t>koşullarda</a:t>
            </a:r>
            <a:r>
              <a:rPr dirty="0" sz="1350" spc="-4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doğruluğun</a:t>
            </a:r>
            <a:r>
              <a:rPr dirty="0" sz="1350" spc="-45">
                <a:latin typeface="Calibri"/>
                <a:cs typeface="Calibri"/>
              </a:rPr>
              <a:t> </a:t>
            </a:r>
            <a:r>
              <a:rPr dirty="0" sz="1350" spc="-10">
                <a:latin typeface="Calibri"/>
                <a:cs typeface="Calibri"/>
              </a:rPr>
              <a:t>artırılması</a:t>
            </a:r>
            <a:endParaRPr sz="1350">
              <a:latin typeface="Calibri"/>
              <a:cs typeface="Calibri"/>
            </a:endParaRPr>
          </a:p>
          <a:p>
            <a:pPr marL="1057910" indent="-123825">
              <a:lnSpc>
                <a:spcPct val="100000"/>
              </a:lnSpc>
              <a:spcBef>
                <a:spcPts val="10"/>
              </a:spcBef>
              <a:buChar char="•"/>
              <a:tabLst>
                <a:tab pos="1057910" algn="l"/>
              </a:tabLst>
            </a:pPr>
            <a:r>
              <a:rPr dirty="0" sz="1350">
                <a:latin typeface="Calibri"/>
                <a:cs typeface="Calibri"/>
              </a:rPr>
              <a:t>İşlem</a:t>
            </a:r>
            <a:r>
              <a:rPr dirty="0" sz="1350" spc="-1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hattının</a:t>
            </a:r>
            <a:r>
              <a:rPr dirty="0" sz="1350" spc="-5">
                <a:latin typeface="Calibri"/>
                <a:cs typeface="Calibri"/>
              </a:rPr>
              <a:t> </a:t>
            </a:r>
            <a:r>
              <a:rPr dirty="0" sz="1350" spc="-10">
                <a:latin typeface="Calibri"/>
                <a:cs typeface="Calibri"/>
              </a:rPr>
              <a:t>hızlandırılması</a:t>
            </a:r>
            <a:r>
              <a:rPr dirty="0" sz="1350" spc="-2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ile</a:t>
            </a:r>
            <a:r>
              <a:rPr dirty="0" sz="1350" spc="-1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yüksek</a:t>
            </a:r>
            <a:r>
              <a:rPr dirty="0" sz="1350" spc="-2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kare</a:t>
            </a:r>
            <a:r>
              <a:rPr dirty="0" sz="1350" spc="-1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hızına</a:t>
            </a:r>
            <a:r>
              <a:rPr dirty="0" sz="1350" spc="-30">
                <a:latin typeface="Calibri"/>
                <a:cs typeface="Calibri"/>
              </a:rPr>
              <a:t> </a:t>
            </a:r>
            <a:r>
              <a:rPr dirty="0" sz="1350" spc="-10">
                <a:latin typeface="Calibri"/>
                <a:cs typeface="Calibri"/>
              </a:rPr>
              <a:t>ulaşılması</a:t>
            </a:r>
            <a:endParaRPr sz="1350">
              <a:latin typeface="Calibri"/>
              <a:cs typeface="Calibri"/>
            </a:endParaRPr>
          </a:p>
          <a:p>
            <a:pPr marL="1057910" indent="-123825">
              <a:lnSpc>
                <a:spcPct val="100000"/>
              </a:lnSpc>
              <a:spcBef>
                <a:spcPts val="5"/>
              </a:spcBef>
              <a:buChar char="•"/>
              <a:tabLst>
                <a:tab pos="1057910" algn="l"/>
              </a:tabLst>
            </a:pPr>
            <a:r>
              <a:rPr dirty="0" sz="1350">
                <a:latin typeface="Calibri"/>
                <a:cs typeface="Calibri"/>
              </a:rPr>
              <a:t>Çoklu</a:t>
            </a:r>
            <a:r>
              <a:rPr dirty="0" sz="1350" spc="-3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kamera</a:t>
            </a:r>
            <a:r>
              <a:rPr dirty="0" sz="1350" spc="-2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füzyonu</a:t>
            </a:r>
            <a:r>
              <a:rPr dirty="0" sz="1350" spc="-4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ile</a:t>
            </a:r>
            <a:r>
              <a:rPr dirty="0" sz="1350" spc="-2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tüm</a:t>
            </a:r>
            <a:r>
              <a:rPr dirty="0" sz="1350" spc="-2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otoparkın</a:t>
            </a:r>
            <a:r>
              <a:rPr dirty="0" sz="1350" spc="-5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tek</a:t>
            </a:r>
            <a:r>
              <a:rPr dirty="0" sz="1350" spc="-1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haritada</a:t>
            </a:r>
            <a:r>
              <a:rPr dirty="0" sz="1350" spc="-45">
                <a:latin typeface="Calibri"/>
                <a:cs typeface="Calibri"/>
              </a:rPr>
              <a:t> </a:t>
            </a:r>
            <a:r>
              <a:rPr dirty="0" sz="1350" spc="-10">
                <a:latin typeface="Calibri"/>
                <a:cs typeface="Calibri"/>
              </a:rPr>
              <a:t>birleştirilmesi,</a:t>
            </a:r>
            <a:endParaRPr sz="1350">
              <a:latin typeface="Calibri"/>
              <a:cs typeface="Calibri"/>
            </a:endParaRPr>
          </a:p>
          <a:p>
            <a:pPr marL="1057910" indent="-123825">
              <a:lnSpc>
                <a:spcPct val="100000"/>
              </a:lnSpc>
              <a:spcBef>
                <a:spcPts val="10"/>
              </a:spcBef>
              <a:buChar char="•"/>
              <a:tabLst>
                <a:tab pos="1057910" algn="l"/>
              </a:tabLst>
            </a:pPr>
            <a:r>
              <a:rPr dirty="0" sz="1350">
                <a:latin typeface="Calibri"/>
                <a:cs typeface="Calibri"/>
              </a:rPr>
              <a:t>Gerçek</a:t>
            </a:r>
            <a:r>
              <a:rPr dirty="0" sz="1350" spc="-1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veri</a:t>
            </a:r>
            <a:r>
              <a:rPr dirty="0" sz="1350" spc="-2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seti</a:t>
            </a:r>
            <a:r>
              <a:rPr dirty="0" sz="1350" spc="-5">
                <a:latin typeface="Calibri"/>
                <a:cs typeface="Calibri"/>
              </a:rPr>
              <a:t> </a:t>
            </a:r>
            <a:r>
              <a:rPr dirty="0" sz="1350" spc="-10">
                <a:latin typeface="Calibri"/>
                <a:cs typeface="Calibri"/>
              </a:rPr>
              <a:t>üzerinde</a:t>
            </a:r>
            <a:r>
              <a:rPr dirty="0" sz="1350" spc="-2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ince</a:t>
            </a:r>
            <a:r>
              <a:rPr dirty="0" sz="1350" spc="-1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ayar</a:t>
            </a:r>
            <a:r>
              <a:rPr dirty="0" sz="1350" spc="-1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ve </a:t>
            </a:r>
            <a:r>
              <a:rPr dirty="0" sz="1350" spc="-10">
                <a:latin typeface="Calibri"/>
                <a:cs typeface="Calibri"/>
              </a:rPr>
              <a:t>karşılaştırmalı</a:t>
            </a:r>
            <a:r>
              <a:rPr dirty="0" sz="1350" spc="-30">
                <a:latin typeface="Calibri"/>
                <a:cs typeface="Calibri"/>
              </a:rPr>
              <a:t> </a:t>
            </a:r>
            <a:r>
              <a:rPr dirty="0" sz="1350" spc="-10">
                <a:latin typeface="Calibri"/>
                <a:cs typeface="Calibri"/>
              </a:rPr>
              <a:t>değerlendirme.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-5066" y="19187631"/>
            <a:ext cx="14370685" cy="922019"/>
            <a:chOff x="-5066" y="19187631"/>
            <a:chExt cx="14370685" cy="922019"/>
          </a:xfrm>
        </p:grpSpPr>
        <p:sp>
          <p:nvSpPr>
            <p:cNvPr id="36" name="object 36"/>
            <p:cNvSpPr/>
            <p:nvPr/>
          </p:nvSpPr>
          <p:spPr>
            <a:xfrm>
              <a:off x="0" y="19192697"/>
              <a:ext cx="14360525" cy="58419"/>
            </a:xfrm>
            <a:custGeom>
              <a:avLst/>
              <a:gdLst/>
              <a:ahLst/>
              <a:cxnLst/>
              <a:rect l="l" t="t" r="r" b="b"/>
              <a:pathLst>
                <a:path w="14360525" h="58419">
                  <a:moveTo>
                    <a:pt x="14360419" y="0"/>
                  </a:moveTo>
                  <a:lnTo>
                    <a:pt x="0" y="0"/>
                  </a:lnTo>
                  <a:lnTo>
                    <a:pt x="0" y="58360"/>
                  </a:lnTo>
                  <a:lnTo>
                    <a:pt x="14360419" y="58360"/>
                  </a:lnTo>
                  <a:lnTo>
                    <a:pt x="14360419" y="0"/>
                  </a:lnTo>
                  <a:close/>
                </a:path>
              </a:pathLst>
            </a:custGeom>
            <a:solidFill>
              <a:srgbClr val="E89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0" y="19192697"/>
              <a:ext cx="14360525" cy="58419"/>
            </a:xfrm>
            <a:custGeom>
              <a:avLst/>
              <a:gdLst/>
              <a:ahLst/>
              <a:cxnLst/>
              <a:rect l="l" t="t" r="r" b="b"/>
              <a:pathLst>
                <a:path w="14360525" h="58419">
                  <a:moveTo>
                    <a:pt x="0" y="58360"/>
                  </a:moveTo>
                  <a:lnTo>
                    <a:pt x="14360419" y="58360"/>
                  </a:lnTo>
                  <a:lnTo>
                    <a:pt x="14360419" y="0"/>
                  </a:lnTo>
                  <a:lnTo>
                    <a:pt x="0" y="0"/>
                  </a:lnTo>
                  <a:lnTo>
                    <a:pt x="0" y="58360"/>
                  </a:lnTo>
                  <a:close/>
                </a:path>
              </a:pathLst>
            </a:custGeom>
            <a:ln w="10132">
              <a:solidFill>
                <a:srgbClr val="E89F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0" y="19251058"/>
              <a:ext cx="14360525" cy="854075"/>
            </a:xfrm>
            <a:custGeom>
              <a:avLst/>
              <a:gdLst/>
              <a:ahLst/>
              <a:cxnLst/>
              <a:rect l="l" t="t" r="r" b="b"/>
              <a:pathLst>
                <a:path w="14360525" h="854075">
                  <a:moveTo>
                    <a:pt x="14360419" y="0"/>
                  </a:moveTo>
                  <a:lnTo>
                    <a:pt x="0" y="0"/>
                  </a:lnTo>
                  <a:lnTo>
                    <a:pt x="0" y="853527"/>
                  </a:lnTo>
                  <a:lnTo>
                    <a:pt x="14360419" y="853527"/>
                  </a:lnTo>
                  <a:lnTo>
                    <a:pt x="14360419" y="0"/>
                  </a:lnTo>
                  <a:close/>
                </a:path>
              </a:pathLst>
            </a:custGeom>
            <a:solidFill>
              <a:srgbClr val="0D2B5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0" y="19251058"/>
              <a:ext cx="14360525" cy="854075"/>
            </a:xfrm>
            <a:custGeom>
              <a:avLst/>
              <a:gdLst/>
              <a:ahLst/>
              <a:cxnLst/>
              <a:rect l="l" t="t" r="r" b="b"/>
              <a:pathLst>
                <a:path w="14360525" h="854075">
                  <a:moveTo>
                    <a:pt x="0" y="853527"/>
                  </a:moveTo>
                  <a:lnTo>
                    <a:pt x="14360419" y="853527"/>
                  </a:lnTo>
                  <a:lnTo>
                    <a:pt x="14360419" y="0"/>
                  </a:lnTo>
                  <a:lnTo>
                    <a:pt x="0" y="0"/>
                  </a:lnTo>
                  <a:lnTo>
                    <a:pt x="0" y="853527"/>
                  </a:lnTo>
                  <a:close/>
                </a:path>
              </a:pathLst>
            </a:custGeom>
            <a:ln w="10132">
              <a:solidFill>
                <a:srgbClr val="0D2B5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" name="object 40"/>
          <p:cNvSpPr txBox="1"/>
          <p:nvPr/>
        </p:nvSpPr>
        <p:spPr>
          <a:xfrm>
            <a:off x="3514991" y="19242608"/>
            <a:ext cx="7330440" cy="678815"/>
          </a:xfrm>
          <a:prstGeom prst="rect">
            <a:avLst/>
          </a:prstGeom>
        </p:spPr>
        <p:txBody>
          <a:bodyPr wrap="square" lIns="0" tIns="1441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135"/>
              </a:spcBef>
            </a:pPr>
            <a:r>
              <a:rPr dirty="0" sz="1400">
                <a:solidFill>
                  <a:srgbClr val="9FB8D7"/>
                </a:solidFill>
                <a:latin typeface="Calibri"/>
                <a:cs typeface="Calibri"/>
              </a:rPr>
              <a:t>BALIKESİR</a:t>
            </a:r>
            <a:r>
              <a:rPr dirty="0" sz="1400" spc="30">
                <a:solidFill>
                  <a:srgbClr val="9FB8D7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9FB8D7"/>
                </a:solidFill>
                <a:latin typeface="Calibri"/>
                <a:cs typeface="Calibri"/>
              </a:rPr>
              <a:t>UNİVERSİTESİ</a:t>
            </a:r>
            <a:r>
              <a:rPr dirty="0" sz="1400" spc="40">
                <a:solidFill>
                  <a:srgbClr val="9FB8D7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9FB8D7"/>
                </a:solidFill>
                <a:latin typeface="Calibri"/>
                <a:cs typeface="Calibri"/>
              </a:rPr>
              <a:t>|</a:t>
            </a:r>
            <a:r>
              <a:rPr dirty="0" sz="1400" spc="55">
                <a:solidFill>
                  <a:srgbClr val="9FB8D7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9FB8D7"/>
                </a:solidFill>
                <a:latin typeface="Calibri"/>
                <a:cs typeface="Calibri"/>
              </a:rPr>
              <a:t>MÜHENDİSLİK</a:t>
            </a:r>
            <a:r>
              <a:rPr dirty="0" sz="1400" spc="70">
                <a:solidFill>
                  <a:srgbClr val="9FB8D7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9FB8D7"/>
                </a:solidFill>
                <a:latin typeface="Calibri"/>
                <a:cs typeface="Calibri"/>
              </a:rPr>
              <a:t>FAKÜLTESİ</a:t>
            </a:r>
            <a:r>
              <a:rPr dirty="0" sz="1400" spc="40">
                <a:solidFill>
                  <a:srgbClr val="9FB8D7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9FB8D7"/>
                </a:solidFill>
                <a:latin typeface="Calibri"/>
                <a:cs typeface="Calibri"/>
              </a:rPr>
              <a:t>/</a:t>
            </a:r>
            <a:r>
              <a:rPr dirty="0" sz="1400" spc="65">
                <a:solidFill>
                  <a:srgbClr val="9FB8D7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9FB8D7"/>
                </a:solidFill>
                <a:latin typeface="Calibri"/>
                <a:cs typeface="Calibri"/>
              </a:rPr>
              <a:t>BİLGİSAYAR</a:t>
            </a:r>
            <a:r>
              <a:rPr dirty="0" sz="1400" spc="35">
                <a:solidFill>
                  <a:srgbClr val="9FB8D7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9FB8D7"/>
                </a:solidFill>
                <a:latin typeface="Calibri"/>
                <a:cs typeface="Calibri"/>
              </a:rPr>
              <a:t>MÜHENDİSLİĞİ</a:t>
            </a:r>
            <a:r>
              <a:rPr dirty="0" sz="1400" spc="55">
                <a:solidFill>
                  <a:srgbClr val="9FB8D7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9FB8D7"/>
                </a:solidFill>
                <a:latin typeface="Calibri"/>
                <a:cs typeface="Calibri"/>
              </a:rPr>
              <a:t>|</a:t>
            </a:r>
            <a:r>
              <a:rPr dirty="0" sz="1400" spc="434">
                <a:solidFill>
                  <a:srgbClr val="9FB8D7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9FB8D7"/>
                </a:solidFill>
                <a:latin typeface="Calibri"/>
                <a:cs typeface="Calibri"/>
              </a:rPr>
              <a:t>HAZİRAN/</a:t>
            </a:r>
            <a:r>
              <a:rPr dirty="0" sz="1400" spc="45">
                <a:solidFill>
                  <a:srgbClr val="9FB8D7"/>
                </a:solidFill>
                <a:latin typeface="Calibri"/>
                <a:cs typeface="Calibri"/>
              </a:rPr>
              <a:t> </a:t>
            </a:r>
            <a:r>
              <a:rPr dirty="0" sz="1400" spc="-20">
                <a:solidFill>
                  <a:srgbClr val="9FB8D7"/>
                </a:solidFill>
                <a:latin typeface="Calibri"/>
                <a:cs typeface="Calibri"/>
              </a:rPr>
              <a:t>2026</a:t>
            </a:r>
            <a:endParaRPr sz="1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919"/>
              </a:spcBef>
            </a:pPr>
            <a:r>
              <a:rPr dirty="0" u="sng" sz="1250" i="1">
                <a:solidFill>
                  <a:srgbClr val="6A89AD"/>
                </a:solidFill>
                <a:uFill>
                  <a:solidFill>
                    <a:srgbClr val="6A89AD"/>
                  </a:solidFill>
                </a:uFill>
                <a:latin typeface="Calibri"/>
                <a:cs typeface="Calibri"/>
                <a:hlinkClick r:id="rId6"/>
              </a:rPr>
              <a:t>ceng@balikesir.edu.tr</a:t>
            </a:r>
            <a:r>
              <a:rPr dirty="0" sz="1250" i="1">
                <a:solidFill>
                  <a:srgbClr val="6A89AD"/>
                </a:solidFill>
                <a:latin typeface="Calibri"/>
                <a:cs typeface="Calibri"/>
              </a:rPr>
              <a:t> |</a:t>
            </a:r>
            <a:r>
              <a:rPr dirty="0" sz="1250" spc="290" i="1">
                <a:solidFill>
                  <a:srgbClr val="6A89AD"/>
                </a:solidFill>
                <a:latin typeface="Calibri"/>
                <a:cs typeface="Calibri"/>
              </a:rPr>
              <a:t> </a:t>
            </a:r>
            <a:r>
              <a:rPr dirty="0" sz="1250" spc="-10" i="1">
                <a:solidFill>
                  <a:srgbClr val="6A89AD"/>
                </a:solidFill>
                <a:latin typeface="Calibri"/>
                <a:cs typeface="Calibri"/>
                <a:hlinkClick r:id="rId7"/>
              </a:rPr>
              <a:t>https://ceng.balikesir.edu.tr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585620" y="7138261"/>
            <a:ext cx="8519795" cy="379730"/>
          </a:xfrm>
          <a:prstGeom prst="rect">
            <a:avLst/>
          </a:prstGeom>
          <a:solidFill>
            <a:srgbClr val="0E7A6C"/>
          </a:solidFill>
        </p:spPr>
        <p:txBody>
          <a:bodyPr wrap="square" lIns="0" tIns="66040" rIns="0" bIns="0" rtlCol="0" vert="horz">
            <a:spAutoFit/>
          </a:bodyPr>
          <a:lstStyle/>
          <a:p>
            <a:pPr algn="ctr" marR="15240">
              <a:lnSpc>
                <a:spcPct val="100000"/>
              </a:lnSpc>
              <a:spcBef>
                <a:spcPts val="520"/>
              </a:spcBef>
            </a:pPr>
            <a:r>
              <a:rPr dirty="0" sz="1600" spc="135" b="1">
                <a:solidFill>
                  <a:srgbClr val="FFFFFF"/>
                </a:solidFill>
                <a:latin typeface="Calibri"/>
                <a:cs typeface="Calibri"/>
              </a:rPr>
              <a:t>KULLANILAN</a:t>
            </a:r>
            <a:r>
              <a:rPr dirty="0" sz="1600" spc="30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130" b="1">
                <a:solidFill>
                  <a:srgbClr val="FFFFFF"/>
                </a:solidFill>
                <a:latin typeface="Calibri"/>
                <a:cs typeface="Calibri"/>
              </a:rPr>
              <a:t>TEKNOLOJİLER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5583087" y="7515074"/>
            <a:ext cx="8524875" cy="1649095"/>
            <a:chOff x="5583087" y="7515074"/>
            <a:chExt cx="8524875" cy="1649095"/>
          </a:xfrm>
        </p:grpSpPr>
        <p:sp>
          <p:nvSpPr>
            <p:cNvPr id="43" name="object 43"/>
            <p:cNvSpPr/>
            <p:nvPr/>
          </p:nvSpPr>
          <p:spPr>
            <a:xfrm>
              <a:off x="5585620" y="7517607"/>
              <a:ext cx="8519795" cy="1644014"/>
            </a:xfrm>
            <a:custGeom>
              <a:avLst/>
              <a:gdLst/>
              <a:ahLst/>
              <a:cxnLst/>
              <a:rect l="l" t="t" r="r" b="b"/>
              <a:pathLst>
                <a:path w="8519794" h="1644015">
                  <a:moveTo>
                    <a:pt x="8519470" y="0"/>
                  </a:moveTo>
                  <a:lnTo>
                    <a:pt x="0" y="0"/>
                  </a:lnTo>
                  <a:lnTo>
                    <a:pt x="0" y="1643830"/>
                  </a:lnTo>
                  <a:lnTo>
                    <a:pt x="8519470" y="1643830"/>
                  </a:lnTo>
                  <a:lnTo>
                    <a:pt x="851947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5585620" y="7517607"/>
              <a:ext cx="8519795" cy="1644014"/>
            </a:xfrm>
            <a:custGeom>
              <a:avLst/>
              <a:gdLst/>
              <a:ahLst/>
              <a:cxnLst/>
              <a:rect l="l" t="t" r="r" b="b"/>
              <a:pathLst>
                <a:path w="8519794" h="1644015">
                  <a:moveTo>
                    <a:pt x="0" y="1643830"/>
                  </a:moveTo>
                  <a:lnTo>
                    <a:pt x="8519470" y="1643830"/>
                  </a:lnTo>
                  <a:lnTo>
                    <a:pt x="8519470" y="0"/>
                  </a:lnTo>
                  <a:lnTo>
                    <a:pt x="0" y="0"/>
                  </a:lnTo>
                  <a:lnTo>
                    <a:pt x="0" y="1643830"/>
                  </a:lnTo>
                  <a:close/>
                </a:path>
              </a:pathLst>
            </a:custGeom>
            <a:ln w="5066">
              <a:solidFill>
                <a:srgbClr val="C2CDD7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5" name="object 45" descr="kırpıntı çizim, simge, sembol, grafik, çizgi film içeren bir resim  Yapay zeka tarafından oluşturulmuş içerik yanlış olabilir.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726659" y="7925262"/>
              <a:ext cx="918737" cy="918737"/>
            </a:xfrm>
            <a:prstGeom prst="rect">
              <a:avLst/>
            </a:prstGeom>
          </p:spPr>
        </p:pic>
        <p:pic>
          <p:nvPicPr>
            <p:cNvPr id="46" name="object 46" descr="grafik, yazı tipi, grafik tasarım, logo içeren bir resim  Yapay zeka tarafından oluşturulmuş içerik yanlış olabilir.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078040" y="7567863"/>
              <a:ext cx="2218928" cy="443785"/>
            </a:xfrm>
            <a:prstGeom prst="rect">
              <a:avLst/>
            </a:prstGeom>
          </p:spPr>
        </p:pic>
        <p:pic>
          <p:nvPicPr>
            <p:cNvPr id="47" name="object 47" descr="metin, grafik, ekran görüntüsü, yazı tipi içeren bir resim  Yapay zeka tarafından oluşturulmuş içerik yanlış olabilir.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428458" y="7589647"/>
              <a:ext cx="1892168" cy="993147"/>
            </a:xfrm>
            <a:prstGeom prst="rect">
              <a:avLst/>
            </a:prstGeom>
          </p:spPr>
        </p:pic>
        <p:pic>
          <p:nvPicPr>
            <p:cNvPr id="48" name="object 48" descr="grafik, daire, grafik tasarım, yazı tipi içeren bir resim  Yapay zeka tarafından oluşturulmuş içerik yanlış olabilir.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501472" y="8126638"/>
              <a:ext cx="750514" cy="924462"/>
            </a:xfrm>
            <a:prstGeom prst="rect">
              <a:avLst/>
            </a:prstGeom>
          </p:spPr>
        </p:pic>
        <p:pic>
          <p:nvPicPr>
            <p:cNvPr id="49" name="object 49" descr="grafik, yazı tipi, grafik tasarım, logo içeren bir resim  Yapay zeka tarafından oluşturulmuş içerik yanlış olabilir.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2497026" y="7727038"/>
              <a:ext cx="1225881" cy="485428"/>
            </a:xfrm>
            <a:prstGeom prst="rect">
              <a:avLst/>
            </a:prstGeom>
          </p:spPr>
        </p:pic>
        <p:pic>
          <p:nvPicPr>
            <p:cNvPr id="50" name="object 50" descr="yazı tipi, logo, grafik, simge, sembol içeren bir resim  Yapay zeka tarafından oluşturulmuş içerik yanlış olabilir.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2527219" y="8485547"/>
              <a:ext cx="1340070" cy="604561"/>
            </a:xfrm>
            <a:prstGeom prst="rect">
              <a:avLst/>
            </a:prstGeom>
          </p:spPr>
        </p:pic>
        <p:pic>
          <p:nvPicPr>
            <p:cNvPr id="51" name="object 51" descr="metin, ekran görüntüsü, dağ içeren bir resim  Yapay zeka tarafından oluşturulmuş içerik yanlış olabilir.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854463" y="8161826"/>
              <a:ext cx="1705535" cy="959387"/>
            </a:xfrm>
            <a:prstGeom prst="rect">
              <a:avLst/>
            </a:prstGeom>
          </p:spPr>
        </p:pic>
        <p:pic>
          <p:nvPicPr>
            <p:cNvPr id="52" name="object 52" descr="grafik, ekran görüntüsü, çizgi, renklilik içeren bir resim  Yapay zeka tarafından oluşturulmuş içerik yanlış olabilir.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644196" y="8158493"/>
              <a:ext cx="742661" cy="690674"/>
            </a:xfrm>
            <a:prstGeom prst="rect">
              <a:avLst/>
            </a:prstGeom>
          </p:spPr>
        </p:pic>
        <p:pic>
          <p:nvPicPr>
            <p:cNvPr id="53" name="object 53" descr="grafik, yazı tipi, grafik tasarım, ekran görüntüsü içeren bir resim  Yapay zeka tarafından oluşturulmuş içerik yanlış olabilir.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553108" y="7546677"/>
              <a:ext cx="1724178" cy="581895"/>
            </a:xfrm>
            <a:prstGeom prst="rect">
              <a:avLst/>
            </a:prstGeom>
          </p:spPr>
        </p:pic>
        <p:pic>
          <p:nvPicPr>
            <p:cNvPr id="54" name="object 54" descr="grafik, logo, simge, sembol, yazı tipi içeren bir resim  Yapay zeka tarafından oluşturulmuş içerik yanlış olabilir.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0470506" y="8680742"/>
              <a:ext cx="1724178" cy="344825"/>
            </a:xfrm>
            <a:prstGeom prst="rect">
              <a:avLst/>
            </a:prstGeom>
          </p:spPr>
        </p:pic>
      </p:grpSp>
      <p:sp>
        <p:nvSpPr>
          <p:cNvPr id="55" name="object 55"/>
          <p:cNvSpPr txBox="1"/>
          <p:nvPr/>
        </p:nvSpPr>
        <p:spPr>
          <a:xfrm>
            <a:off x="5637158" y="2190698"/>
            <a:ext cx="2222500" cy="597535"/>
          </a:xfrm>
          <a:prstGeom prst="rect">
            <a:avLst/>
          </a:prstGeom>
        </p:spPr>
        <p:txBody>
          <a:bodyPr wrap="square" lIns="0" tIns="66040" rIns="0" bIns="0" rtlCol="0" vert="horz">
            <a:spAutoFit/>
          </a:bodyPr>
          <a:lstStyle/>
          <a:p>
            <a:pPr marL="21590">
              <a:lnSpc>
                <a:spcPct val="100000"/>
              </a:lnSpc>
              <a:spcBef>
                <a:spcPts val="520"/>
              </a:spcBef>
            </a:pPr>
            <a:r>
              <a:rPr dirty="0" sz="1900" b="1">
                <a:solidFill>
                  <a:srgbClr val="1A2240"/>
                </a:solidFill>
                <a:latin typeface="Calibri"/>
                <a:cs typeface="Calibri"/>
              </a:rPr>
              <a:t>Ezgi</a:t>
            </a:r>
            <a:r>
              <a:rPr dirty="0" sz="1900" spc="15" b="1">
                <a:solidFill>
                  <a:srgbClr val="1A2240"/>
                </a:solidFill>
                <a:latin typeface="Calibri"/>
                <a:cs typeface="Calibri"/>
              </a:rPr>
              <a:t> </a:t>
            </a:r>
            <a:r>
              <a:rPr dirty="0" sz="1900" spc="-10" b="1">
                <a:solidFill>
                  <a:srgbClr val="1A2240"/>
                </a:solidFill>
                <a:latin typeface="Calibri"/>
                <a:cs typeface="Calibri"/>
              </a:rPr>
              <a:t>KIRNAPCI</a:t>
            </a:r>
            <a:endParaRPr sz="1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dirty="0" sz="1250" i="1">
                <a:solidFill>
                  <a:srgbClr val="6B7180"/>
                </a:solidFill>
                <a:latin typeface="Calibri"/>
                <a:cs typeface="Calibri"/>
              </a:rPr>
              <a:t>[Bilgisayar</a:t>
            </a:r>
            <a:r>
              <a:rPr dirty="0" sz="1250" spc="50" i="1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6B7180"/>
                </a:solidFill>
                <a:latin typeface="Calibri"/>
                <a:cs typeface="Calibri"/>
              </a:rPr>
              <a:t>Mühendisliği</a:t>
            </a:r>
            <a:r>
              <a:rPr dirty="0" sz="1250" spc="50" i="1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6B7180"/>
                </a:solidFill>
                <a:latin typeface="Calibri"/>
                <a:cs typeface="Calibri"/>
              </a:rPr>
              <a:t>/</a:t>
            </a:r>
            <a:r>
              <a:rPr dirty="0" sz="1250" spc="50" i="1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6B7180"/>
                </a:solidFill>
                <a:latin typeface="Calibri"/>
                <a:cs typeface="Calibri"/>
              </a:rPr>
              <a:t>4.</a:t>
            </a:r>
            <a:r>
              <a:rPr dirty="0" sz="1250" spc="45" i="1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1250" spc="-10" i="1">
                <a:solidFill>
                  <a:srgbClr val="6B7180"/>
                </a:solidFill>
                <a:latin typeface="Calibri"/>
                <a:cs typeface="Calibri"/>
              </a:rPr>
              <a:t>Sınıf]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2994606" y="1864488"/>
            <a:ext cx="2222500" cy="916305"/>
          </a:xfrm>
          <a:prstGeom prst="rect">
            <a:avLst/>
          </a:prstGeom>
        </p:spPr>
        <p:txBody>
          <a:bodyPr wrap="square" lIns="0" tIns="711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60"/>
              </a:spcBef>
            </a:pPr>
            <a:r>
              <a:rPr dirty="0" sz="1250">
                <a:solidFill>
                  <a:srgbClr val="6B7180"/>
                </a:solidFill>
                <a:latin typeface="Calibri"/>
                <a:cs typeface="Calibri"/>
              </a:rPr>
              <a:t>Proje</a:t>
            </a:r>
            <a:r>
              <a:rPr dirty="0" sz="1250" spc="25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1250" spc="-10">
                <a:solidFill>
                  <a:srgbClr val="6B7180"/>
                </a:solidFill>
                <a:latin typeface="Calibri"/>
                <a:cs typeface="Calibri"/>
              </a:rPr>
              <a:t>Öğrencisi</a:t>
            </a:r>
            <a:endParaRPr sz="12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dirty="0" sz="1900" b="1">
                <a:solidFill>
                  <a:srgbClr val="1A2240"/>
                </a:solidFill>
                <a:latin typeface="Calibri"/>
                <a:cs typeface="Calibri"/>
              </a:rPr>
              <a:t>Ahmet</a:t>
            </a:r>
            <a:r>
              <a:rPr dirty="0" sz="1900" spc="-10" b="1">
                <a:solidFill>
                  <a:srgbClr val="1A2240"/>
                </a:solidFill>
                <a:latin typeface="Calibri"/>
                <a:cs typeface="Calibri"/>
              </a:rPr>
              <a:t> EKŞİOĞLU</a:t>
            </a:r>
            <a:endParaRPr sz="1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dirty="0" sz="1250" i="1">
                <a:solidFill>
                  <a:srgbClr val="6B7180"/>
                </a:solidFill>
                <a:latin typeface="Calibri"/>
                <a:cs typeface="Calibri"/>
              </a:rPr>
              <a:t>[Bilgisayar</a:t>
            </a:r>
            <a:r>
              <a:rPr dirty="0" sz="1250" spc="50" i="1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6B7180"/>
                </a:solidFill>
                <a:latin typeface="Calibri"/>
                <a:cs typeface="Calibri"/>
              </a:rPr>
              <a:t>Mühendisliği</a:t>
            </a:r>
            <a:r>
              <a:rPr dirty="0" sz="1250" spc="50" i="1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6B7180"/>
                </a:solidFill>
                <a:latin typeface="Calibri"/>
                <a:cs typeface="Calibri"/>
              </a:rPr>
              <a:t>/</a:t>
            </a:r>
            <a:r>
              <a:rPr dirty="0" sz="1250" spc="50" i="1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1250" i="1">
                <a:solidFill>
                  <a:srgbClr val="6B7180"/>
                </a:solidFill>
                <a:latin typeface="Calibri"/>
                <a:cs typeface="Calibri"/>
              </a:rPr>
              <a:t>4.</a:t>
            </a:r>
            <a:r>
              <a:rPr dirty="0" sz="1250" spc="45" i="1">
                <a:solidFill>
                  <a:srgbClr val="6B7180"/>
                </a:solidFill>
                <a:latin typeface="Calibri"/>
                <a:cs typeface="Calibri"/>
              </a:rPr>
              <a:t> </a:t>
            </a:r>
            <a:r>
              <a:rPr dirty="0" sz="1250" spc="-10" i="1">
                <a:solidFill>
                  <a:srgbClr val="6B7180"/>
                </a:solidFill>
                <a:latin typeface="Calibri"/>
                <a:cs typeface="Calibri"/>
              </a:rPr>
              <a:t>Sınıf]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5755839" y="8791987"/>
            <a:ext cx="829944" cy="3657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dirty="0" sz="2200" spc="-10">
                <a:latin typeface="Calibri"/>
                <a:cs typeface="Calibri"/>
              </a:rPr>
              <a:t>Python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8750684" y="8777397"/>
            <a:ext cx="550545" cy="3657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dirty="0" sz="2200" spc="-20">
                <a:latin typeface="Calibri"/>
                <a:cs typeface="Calibri"/>
              </a:rPr>
              <a:t>Vosk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5712576" y="9918306"/>
            <a:ext cx="8283575" cy="4439920"/>
            <a:chOff x="5712576" y="9918306"/>
            <a:chExt cx="8283575" cy="4439920"/>
          </a:xfrm>
        </p:grpSpPr>
        <p:pic>
          <p:nvPicPr>
            <p:cNvPr id="60" name="object 60" descr="metin, ekran görüntüsü, kara taşıtı, araba içeren bir resim  Yapay zeka tarafından oluşturulmuş içerik yanlış olabilir.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712576" y="9918306"/>
              <a:ext cx="4006634" cy="2170294"/>
            </a:xfrm>
            <a:prstGeom prst="rect">
              <a:avLst/>
            </a:prstGeom>
          </p:spPr>
        </p:pic>
        <p:pic>
          <p:nvPicPr>
            <p:cNvPr id="61" name="object 61" descr="metin, ekran görüntüsü, multimedya yazılımı, grafik yazılımı içeren bir resim  Yapay zeka tarafından oluşturulmuş içerik yanlış olabilir.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712576" y="12189009"/>
              <a:ext cx="3996401" cy="2164721"/>
            </a:xfrm>
            <a:prstGeom prst="rect">
              <a:avLst/>
            </a:prstGeom>
          </p:spPr>
        </p:pic>
        <p:pic>
          <p:nvPicPr>
            <p:cNvPr id="62" name="object 62" descr="metin, kara taşıtı, taşıt, araç, ekran görüntüsü içeren bir resim  Yapay zeka tarafından oluşturulmuş içerik yanlış olabilir.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9989028" y="9918306"/>
              <a:ext cx="4006534" cy="2170294"/>
            </a:xfrm>
            <a:prstGeom prst="rect">
              <a:avLst/>
            </a:prstGeom>
          </p:spPr>
        </p:pic>
        <p:pic>
          <p:nvPicPr>
            <p:cNvPr id="63" name="object 63" descr="metin, ekran görüntüsü, yazılım, multimedya yazılımı içeren bir resim  Yapay zeka tarafından oluşturulmuş içerik yanlış olabilir.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9974844" y="12189111"/>
              <a:ext cx="4004304" cy="216897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6A89AD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dc:subject>PptxGenJS Presentation</dc:subject>
  <dc:title>PptxGenJS Presentation</dc:title>
  <dcterms:created xsi:type="dcterms:W3CDTF">2026-08-02T00:35:35Z</dcterms:created>
  <dcterms:modified xsi:type="dcterms:W3CDTF">2026-08-02T00:35:35Z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2026-06-13T00:00:00Z</vt:filetime>
  </property>
  <property fmtid="{D5CDD505-2E9C-101B-9397-08002B2CF9AE}" pid="4" name="Creator">
    <vt:lpwstr>Microsoft® PowerPoint® Microsoft 365 için</vt:lpwstr>
  </property>
  <property fmtid="{D5CDD505-2E9C-101B-9397-08002B2CF9AE}" pid="5" name="LastSaved">
    <vt:filetime>2026-08-02T00:00:00Z</vt:filetime>
  </property>
  <property fmtid="{D5CDD505-2E9C-101B-9397-08002B2CF9AE}" pid="6" name="Producer">
    <vt:lpwstr>Microsoft® PowerPoint® Microsoft 365 için</vt:lpwstr>
  </property>
</Properties>
</file>