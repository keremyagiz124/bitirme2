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18000663" cy="25199975"/>
  <p:notesSz cx="25199975" cy="18000663"/>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7B6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013" autoAdjust="0"/>
    <p:restoredTop sz="94610"/>
  </p:normalViewPr>
  <p:slideViewPr>
    <p:cSldViewPr snapToGrid="0" snapToObjects="1">
      <p:cViewPr varScale="1">
        <p:scale>
          <a:sx n="31" d="100"/>
          <a:sy n="31" d="100"/>
        </p:scale>
        <p:origin x="317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32457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0.png"/><Relationship Id="rId18" Type="http://schemas.openxmlformats.org/officeDocument/2006/relationships/image" Target="../media/image15.png"/><Relationship Id="rId3" Type="http://schemas.openxmlformats.org/officeDocument/2006/relationships/hyperlink" Target="mailto:ceng@balikesir.edu.tr" TargetMode="External"/><Relationship Id="rId21" Type="http://schemas.openxmlformats.org/officeDocument/2006/relationships/image" Target="../media/image18.png"/><Relationship Id="rId7" Type="http://schemas.openxmlformats.org/officeDocument/2006/relationships/image" Target="../media/image4.png"/><Relationship Id="rId12" Type="http://schemas.openxmlformats.org/officeDocument/2006/relationships/image" Target="../media/image9.png"/><Relationship Id="rId17" Type="http://schemas.openxmlformats.org/officeDocument/2006/relationships/image" Target="../media/image14.png"/><Relationship Id="rId2" Type="http://schemas.openxmlformats.org/officeDocument/2006/relationships/notesSlide" Target="../notesSlides/notesSlide1.xml"/><Relationship Id="rId16" Type="http://schemas.openxmlformats.org/officeDocument/2006/relationships/image" Target="../media/image13.png"/><Relationship Id="rId20" Type="http://schemas.openxmlformats.org/officeDocument/2006/relationships/image" Target="../media/image17.png"/><Relationship Id="rId1" Type="http://schemas.openxmlformats.org/officeDocument/2006/relationships/slideLayout" Target="../slideLayouts/slideLayout1.xml"/><Relationship Id="rId6" Type="http://schemas.openxmlformats.org/officeDocument/2006/relationships/image" Target="../media/image3.png"/><Relationship Id="rId11" Type="http://schemas.openxmlformats.org/officeDocument/2006/relationships/image" Target="../media/image8.png"/><Relationship Id="rId5" Type="http://schemas.openxmlformats.org/officeDocument/2006/relationships/image" Target="../media/image2.png"/><Relationship Id="rId15" Type="http://schemas.openxmlformats.org/officeDocument/2006/relationships/image" Target="../media/image12.png"/><Relationship Id="rId10" Type="http://schemas.openxmlformats.org/officeDocument/2006/relationships/image" Target="../media/image7.png"/><Relationship Id="rId19" Type="http://schemas.openxmlformats.org/officeDocument/2006/relationships/image" Target="../media/image16.png"/><Relationship Id="rId4" Type="http://schemas.openxmlformats.org/officeDocument/2006/relationships/image" Target="../media/image1.png"/><Relationship Id="rId9" Type="http://schemas.openxmlformats.org/officeDocument/2006/relationships/image" Target="../media/image6.png"/><Relationship Id="rId14" Type="http://schemas.openxmlformats.org/officeDocument/2006/relationships/image" Target="../media/image11.jp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7FA"/>
        </a:solidFill>
        <a:effectLst/>
      </p:bgPr>
    </p:bg>
    <p:spTree>
      <p:nvGrpSpPr>
        <p:cNvPr id="1" name=""/>
        <p:cNvGrpSpPr/>
        <p:nvPr/>
      </p:nvGrpSpPr>
      <p:grpSpPr>
        <a:xfrm>
          <a:off x="0" y="0"/>
          <a:ext cx="0" cy="0"/>
          <a:chOff x="0" y="0"/>
          <a:chExt cx="0" cy="0"/>
        </a:xfrm>
      </p:grpSpPr>
      <p:sp>
        <p:nvSpPr>
          <p:cNvPr id="2" name="Shape 0"/>
          <p:cNvSpPr>
            <a:spLocks noGrp="1" noRot="1" noMove="1" noResize="1" noEditPoints="1" noAdjustHandles="1" noChangeArrowheads="1" noChangeShapeType="1"/>
          </p:cNvSpPr>
          <p:nvPr/>
        </p:nvSpPr>
        <p:spPr>
          <a:xfrm>
            <a:off x="699" y="-1089"/>
            <a:ext cx="17999964" cy="2194560"/>
          </a:xfrm>
          <a:prstGeom prst="rect">
            <a:avLst/>
          </a:prstGeom>
          <a:solidFill>
            <a:schemeClr val="accent3">
              <a:lumMod val="20000"/>
              <a:lumOff val="80000"/>
            </a:schemeClr>
          </a:solidFill>
          <a:ln w="12700">
            <a:solidFill>
              <a:srgbClr val="0D2B5E"/>
            </a:solidFill>
            <a:prstDash val="solid"/>
          </a:ln>
        </p:spPr>
        <p:txBody>
          <a:bodyPr/>
          <a:lstStyle/>
          <a:p>
            <a:endParaRPr lang="en-US" sz="2800" dirty="0"/>
          </a:p>
        </p:txBody>
      </p:sp>
      <p:sp>
        <p:nvSpPr>
          <p:cNvPr id="6" name="Text 4"/>
          <p:cNvSpPr/>
          <p:nvPr/>
        </p:nvSpPr>
        <p:spPr>
          <a:xfrm>
            <a:off x="15073884" y="228600"/>
            <a:ext cx="2560320" cy="1737360"/>
          </a:xfrm>
          <a:prstGeom prst="rect">
            <a:avLst/>
          </a:prstGeom>
          <a:noFill/>
          <a:ln/>
        </p:spPr>
        <p:txBody>
          <a:bodyPr wrap="square" rtlCol="0" anchor="ctr"/>
          <a:lstStyle/>
          <a:p>
            <a:pPr marL="0" indent="0" algn="ctr">
              <a:buNone/>
            </a:pPr>
            <a:r>
              <a:rPr lang="en-US" sz="2000" dirty="0">
                <a:solidFill>
                  <a:srgbClr val="FFFFFF"/>
                </a:solidFill>
                <a:latin typeface="Calibri" pitchFamily="34" charset="0"/>
                <a:ea typeface="Calibri" pitchFamily="34" charset="-122"/>
                <a:cs typeface="Calibri" pitchFamily="34" charset="-120"/>
              </a:rPr>
              <a:t>ÜNİVERSİTE</a:t>
            </a:r>
            <a:endParaRPr lang="en-US" sz="2000" dirty="0"/>
          </a:p>
          <a:p>
            <a:pPr marL="0" indent="0" algn="ctr">
              <a:buNone/>
            </a:pPr>
            <a:r>
              <a:rPr lang="en-US" sz="2000" dirty="0">
                <a:solidFill>
                  <a:srgbClr val="FFFFFF"/>
                </a:solidFill>
                <a:latin typeface="Calibri" pitchFamily="34" charset="0"/>
                <a:ea typeface="Calibri" pitchFamily="34" charset="-122"/>
                <a:cs typeface="Calibri" pitchFamily="34" charset="-120"/>
              </a:rPr>
              <a:t>LOGOSU</a:t>
            </a:r>
            <a:endParaRPr lang="en-US" sz="2000" dirty="0"/>
          </a:p>
        </p:txBody>
      </p:sp>
      <p:sp>
        <p:nvSpPr>
          <p:cNvPr id="7" name="Text 5"/>
          <p:cNvSpPr/>
          <p:nvPr/>
        </p:nvSpPr>
        <p:spPr>
          <a:xfrm>
            <a:off x="3108960" y="256032"/>
            <a:ext cx="11782044" cy="1082728"/>
          </a:xfrm>
          <a:prstGeom prst="rect">
            <a:avLst/>
          </a:prstGeom>
          <a:noFill/>
          <a:ln/>
        </p:spPr>
        <p:txBody>
          <a:bodyPr wrap="square" rtlCol="0" anchor="ctr"/>
          <a:lstStyle/>
          <a:p>
            <a:pPr marL="0" indent="0" algn="ctr">
              <a:buNone/>
            </a:pPr>
            <a:r>
              <a:rPr lang="tr-TR" sz="2800" b="1" kern="0" spc="300" dirty="0">
                <a:latin typeface="Calibri" pitchFamily="34" charset="0"/>
                <a:ea typeface="Calibri" pitchFamily="34" charset="-122"/>
                <a:cs typeface="Calibri" pitchFamily="34" charset="-120"/>
              </a:rPr>
              <a:t>BALIKESİR ÜNİVERSİTESİ</a:t>
            </a:r>
          </a:p>
          <a:p>
            <a:pPr marL="0" indent="0" algn="ctr">
              <a:buNone/>
            </a:pPr>
            <a:r>
              <a:rPr lang="tr-TR" sz="2800" b="1" kern="0" spc="300" dirty="0">
                <a:latin typeface="Calibri" pitchFamily="34" charset="0"/>
                <a:ea typeface="Calibri" pitchFamily="34" charset="-122"/>
                <a:cs typeface="Calibri" pitchFamily="34" charset="-120"/>
              </a:rPr>
              <a:t>BİLGİSAYAR </a:t>
            </a:r>
            <a:r>
              <a:rPr lang="tr-TR" sz="2400" b="1" kern="0" spc="300" dirty="0">
                <a:latin typeface="Calibri" pitchFamily="34" charset="0"/>
                <a:ea typeface="Calibri" pitchFamily="34" charset="-122"/>
                <a:cs typeface="Calibri" pitchFamily="34" charset="-120"/>
              </a:rPr>
              <a:t>MÜHENDİSLİĞİ</a:t>
            </a:r>
            <a:endParaRPr lang="tr-TR" sz="2800" b="1" kern="0" spc="300" dirty="0">
              <a:latin typeface="Calibri" pitchFamily="34" charset="0"/>
              <a:ea typeface="Calibri" pitchFamily="34" charset="-122"/>
              <a:cs typeface="Calibri" pitchFamily="34" charset="-120"/>
            </a:endParaRPr>
          </a:p>
          <a:p>
            <a:pPr marL="0" indent="0" algn="ctr">
              <a:buNone/>
            </a:pPr>
            <a:r>
              <a:rPr lang="tr-TR" sz="2800" b="1" kern="0" spc="300" dirty="0">
                <a:latin typeface="Calibri" pitchFamily="34" charset="0"/>
                <a:ea typeface="Calibri" pitchFamily="34" charset="-122"/>
                <a:cs typeface="Calibri" pitchFamily="34" charset="-120"/>
              </a:rPr>
              <a:t>BİTİRME </a:t>
            </a:r>
            <a:r>
              <a:rPr lang="en-US" sz="2800" b="1" kern="0" spc="300" dirty="0">
                <a:latin typeface="Calibri" pitchFamily="34" charset="0"/>
                <a:ea typeface="Calibri" pitchFamily="34" charset="-122"/>
                <a:cs typeface="Calibri" pitchFamily="34" charset="-120"/>
              </a:rPr>
              <a:t>PROJESİ POSTER SERGİSİ</a:t>
            </a:r>
            <a:endParaRPr lang="en-US" sz="2800" b="1" dirty="0"/>
          </a:p>
        </p:txBody>
      </p:sp>
      <p:sp>
        <p:nvSpPr>
          <p:cNvPr id="9" name="Text 7"/>
          <p:cNvSpPr/>
          <p:nvPr/>
        </p:nvSpPr>
        <p:spPr>
          <a:xfrm>
            <a:off x="3108960" y="1371600"/>
            <a:ext cx="11782044" cy="749808"/>
          </a:xfrm>
          <a:prstGeom prst="rect">
            <a:avLst/>
          </a:prstGeom>
          <a:noFill/>
          <a:ln/>
        </p:spPr>
        <p:txBody>
          <a:bodyPr wrap="square" rtlCol="0" anchor="ctr"/>
          <a:lstStyle/>
          <a:p>
            <a:pPr algn="ctr"/>
            <a:r>
              <a:rPr lang="tr-TR" sz="2800" b="1" dirty="0">
                <a:latin typeface="Cambria" panose="02040503050406030204" pitchFamily="18" charset="0"/>
                <a:ea typeface="Cambria" panose="02040503050406030204" pitchFamily="18" charset="0"/>
              </a:rPr>
              <a:t>Kamera Görüntülerinden Araç Tespiti ve Park Uygunluğu Analizi için Yapay Zekâ Tabanlı Sistem</a:t>
            </a:r>
            <a:endParaRPr lang="en-US" sz="2800" b="1" dirty="0">
              <a:latin typeface="Cambria" panose="02040503050406030204" pitchFamily="18" charset="0"/>
              <a:ea typeface="Cambria" panose="02040503050406030204" pitchFamily="18" charset="0"/>
            </a:endParaRPr>
          </a:p>
        </p:txBody>
      </p:sp>
      <p:sp>
        <p:nvSpPr>
          <p:cNvPr id="10" name="Shape 8"/>
          <p:cNvSpPr>
            <a:spLocks noGrp="1" noRot="1" noMove="1" noResize="1" noEditPoints="1" noAdjustHandles="1" noChangeArrowheads="1" noChangeShapeType="1"/>
          </p:cNvSpPr>
          <p:nvPr/>
        </p:nvSpPr>
        <p:spPr>
          <a:xfrm>
            <a:off x="0" y="2194560"/>
            <a:ext cx="17999964" cy="109728"/>
          </a:xfrm>
          <a:prstGeom prst="rect">
            <a:avLst/>
          </a:prstGeom>
          <a:solidFill>
            <a:srgbClr val="E8A020"/>
          </a:solidFill>
          <a:ln w="12700">
            <a:solidFill>
              <a:srgbClr val="E8A020"/>
            </a:solidFill>
            <a:prstDash val="solid"/>
          </a:ln>
        </p:spPr>
        <p:txBody>
          <a:bodyPr/>
          <a:lstStyle/>
          <a:p>
            <a:endParaRPr lang="en-US" sz="2800"/>
          </a:p>
        </p:txBody>
      </p:sp>
      <p:sp>
        <p:nvSpPr>
          <p:cNvPr id="11" name="Shape 9"/>
          <p:cNvSpPr>
            <a:spLocks noGrp="1" noRot="1" noMove="1" noResize="1" noEditPoints="1" noAdjustHandles="1" noChangeArrowheads="1" noChangeShapeType="1"/>
          </p:cNvSpPr>
          <p:nvPr/>
        </p:nvSpPr>
        <p:spPr>
          <a:xfrm>
            <a:off x="0" y="2304288"/>
            <a:ext cx="17999964" cy="1371600"/>
          </a:xfrm>
          <a:prstGeom prst="rect">
            <a:avLst/>
          </a:prstGeom>
          <a:solidFill>
            <a:srgbClr val="E6EDF5"/>
          </a:solidFill>
          <a:ln w="6350">
            <a:solidFill>
              <a:srgbClr val="C2CDD8"/>
            </a:solidFill>
            <a:prstDash val="solid"/>
          </a:ln>
        </p:spPr>
        <p:txBody>
          <a:bodyPr/>
          <a:lstStyle/>
          <a:p>
            <a:endParaRPr lang="en-US" sz="2800"/>
          </a:p>
        </p:txBody>
      </p:sp>
      <p:sp>
        <p:nvSpPr>
          <p:cNvPr id="12" name="Shape 10"/>
          <p:cNvSpPr/>
          <p:nvPr/>
        </p:nvSpPr>
        <p:spPr>
          <a:xfrm>
            <a:off x="274320" y="2395728"/>
            <a:ext cx="54864" cy="1097280"/>
          </a:xfrm>
          <a:prstGeom prst="rect">
            <a:avLst/>
          </a:prstGeom>
          <a:solidFill>
            <a:srgbClr val="0F7B6C"/>
          </a:solidFill>
          <a:ln w="12700">
            <a:solidFill>
              <a:srgbClr val="0F7B6C"/>
            </a:solidFill>
            <a:prstDash val="solid"/>
          </a:ln>
        </p:spPr>
        <p:txBody>
          <a:bodyPr/>
          <a:lstStyle/>
          <a:p>
            <a:endParaRPr lang="en-US" sz="2800"/>
          </a:p>
        </p:txBody>
      </p:sp>
      <p:sp>
        <p:nvSpPr>
          <p:cNvPr id="13" name="Text 11"/>
          <p:cNvSpPr/>
          <p:nvPr/>
        </p:nvSpPr>
        <p:spPr>
          <a:xfrm>
            <a:off x="502920" y="2487168"/>
            <a:ext cx="1738835" cy="256032"/>
          </a:xfrm>
          <a:prstGeom prst="rect">
            <a:avLst/>
          </a:prstGeom>
          <a:noFill/>
          <a:ln/>
        </p:spPr>
        <p:txBody>
          <a:bodyPr wrap="square" rtlCol="0" anchor="ctr"/>
          <a:lstStyle/>
          <a:p>
            <a:r>
              <a:rPr lang="en-US" sz="1600" dirty="0" err="1">
                <a:solidFill>
                  <a:srgbClr val="6B7280"/>
                </a:solidFill>
                <a:latin typeface="Calibri" pitchFamily="34" charset="0"/>
                <a:ea typeface="Calibri" pitchFamily="34" charset="-122"/>
                <a:cs typeface="Calibri" pitchFamily="34" charset="-120"/>
              </a:rPr>
              <a:t>Proje</a:t>
            </a:r>
            <a:r>
              <a:rPr lang="en-US" sz="1600" dirty="0">
                <a:solidFill>
                  <a:srgbClr val="6B7280"/>
                </a:solidFill>
                <a:latin typeface="Calibri" pitchFamily="34" charset="0"/>
                <a:ea typeface="Calibri" pitchFamily="34" charset="-122"/>
                <a:cs typeface="Calibri" pitchFamily="34" charset="-120"/>
              </a:rPr>
              <a:t> </a:t>
            </a:r>
            <a:r>
              <a:rPr lang="en-US" sz="1600" dirty="0" err="1">
                <a:solidFill>
                  <a:srgbClr val="6B7280"/>
                </a:solidFill>
                <a:latin typeface="Calibri" pitchFamily="34" charset="0"/>
                <a:ea typeface="Calibri" pitchFamily="34" charset="-122"/>
                <a:cs typeface="Calibri" pitchFamily="34" charset="-120"/>
              </a:rPr>
              <a:t>Öğrencisi</a:t>
            </a:r>
            <a:endParaRPr lang="en-US" sz="1600" dirty="0"/>
          </a:p>
        </p:txBody>
      </p:sp>
      <p:sp>
        <p:nvSpPr>
          <p:cNvPr id="14" name="Text 12"/>
          <p:cNvSpPr/>
          <p:nvPr/>
        </p:nvSpPr>
        <p:spPr>
          <a:xfrm>
            <a:off x="502920" y="2715768"/>
            <a:ext cx="3037634" cy="502920"/>
          </a:xfrm>
          <a:prstGeom prst="rect">
            <a:avLst/>
          </a:prstGeom>
          <a:noFill/>
          <a:ln/>
        </p:spPr>
        <p:txBody>
          <a:bodyPr wrap="square" rtlCol="0" anchor="ctr"/>
          <a:lstStyle/>
          <a:p>
            <a:pPr marL="0" indent="0">
              <a:buNone/>
            </a:pPr>
            <a:r>
              <a:rPr lang="tr-TR" sz="2400" b="1" dirty="0">
                <a:solidFill>
                  <a:srgbClr val="1A2340"/>
                </a:solidFill>
                <a:latin typeface="Calibri" pitchFamily="34" charset="0"/>
                <a:ea typeface="Calibri" pitchFamily="34" charset="-122"/>
                <a:cs typeface="Calibri" pitchFamily="34" charset="-120"/>
              </a:rPr>
              <a:t>Kerem Yağız KARAKAŞ</a:t>
            </a:r>
            <a:endParaRPr lang="en-US" sz="2400" dirty="0"/>
          </a:p>
        </p:txBody>
      </p:sp>
      <p:sp>
        <p:nvSpPr>
          <p:cNvPr id="15" name="Text 13"/>
          <p:cNvSpPr/>
          <p:nvPr/>
        </p:nvSpPr>
        <p:spPr>
          <a:xfrm>
            <a:off x="502920" y="3145536"/>
            <a:ext cx="5359908" cy="320040"/>
          </a:xfrm>
          <a:prstGeom prst="rect">
            <a:avLst/>
          </a:prstGeom>
          <a:noFill/>
          <a:ln/>
        </p:spPr>
        <p:txBody>
          <a:bodyPr wrap="square" rtlCol="0" anchor="ctr"/>
          <a:lstStyle/>
          <a:p>
            <a:pPr marL="0" indent="0">
              <a:buNone/>
            </a:pPr>
            <a:r>
              <a:rPr lang="en-US" sz="1600" i="1" dirty="0">
                <a:solidFill>
                  <a:srgbClr val="6B7280"/>
                </a:solidFill>
                <a:latin typeface="Calibri" pitchFamily="34" charset="0"/>
                <a:ea typeface="Calibri" pitchFamily="34" charset="-122"/>
                <a:cs typeface="Calibri" pitchFamily="34" charset="-120"/>
              </a:rPr>
              <a:t>[</a:t>
            </a:r>
            <a:r>
              <a:rPr lang="tr-TR" sz="1600" i="1" dirty="0">
                <a:solidFill>
                  <a:srgbClr val="6B7280"/>
                </a:solidFill>
                <a:latin typeface="Calibri" pitchFamily="34" charset="0"/>
                <a:ea typeface="Calibri" pitchFamily="34" charset="-122"/>
                <a:cs typeface="Calibri" pitchFamily="34" charset="-120"/>
              </a:rPr>
              <a:t>Bilgisayar Mühendisliği</a:t>
            </a:r>
            <a:r>
              <a:rPr lang="en-US" sz="1600" i="1" dirty="0">
                <a:solidFill>
                  <a:srgbClr val="6B7280"/>
                </a:solidFill>
                <a:latin typeface="Calibri" pitchFamily="34" charset="0"/>
                <a:ea typeface="Calibri" pitchFamily="34" charset="-122"/>
                <a:cs typeface="Calibri" pitchFamily="34" charset="-120"/>
              </a:rPr>
              <a:t> / </a:t>
            </a:r>
            <a:r>
              <a:rPr lang="tr-TR" sz="1600" i="1" dirty="0">
                <a:solidFill>
                  <a:srgbClr val="6B7280"/>
                </a:solidFill>
                <a:latin typeface="Calibri" pitchFamily="34" charset="0"/>
                <a:ea typeface="Calibri" pitchFamily="34" charset="-122"/>
                <a:cs typeface="Calibri" pitchFamily="34" charset="-120"/>
              </a:rPr>
              <a:t>4. </a:t>
            </a:r>
            <a:r>
              <a:rPr lang="en-US" sz="1600" i="1" dirty="0" err="1">
                <a:solidFill>
                  <a:srgbClr val="6B7280"/>
                </a:solidFill>
                <a:latin typeface="Calibri" pitchFamily="34" charset="0"/>
                <a:ea typeface="Calibri" pitchFamily="34" charset="-122"/>
                <a:cs typeface="Calibri" pitchFamily="34" charset="-120"/>
              </a:rPr>
              <a:t>Sınıf</a:t>
            </a:r>
            <a:r>
              <a:rPr lang="en-US" sz="1600" i="1" dirty="0">
                <a:solidFill>
                  <a:srgbClr val="6B7280"/>
                </a:solidFill>
                <a:latin typeface="Calibri" pitchFamily="34" charset="0"/>
                <a:ea typeface="Calibri" pitchFamily="34" charset="-122"/>
                <a:cs typeface="Calibri" pitchFamily="34" charset="-120"/>
              </a:rPr>
              <a:t>]</a:t>
            </a:r>
            <a:endParaRPr lang="en-US" sz="1600" dirty="0"/>
          </a:p>
        </p:txBody>
      </p:sp>
      <p:sp>
        <p:nvSpPr>
          <p:cNvPr id="17" name="Text 15"/>
          <p:cNvSpPr/>
          <p:nvPr/>
        </p:nvSpPr>
        <p:spPr>
          <a:xfrm>
            <a:off x="6989795" y="2419104"/>
            <a:ext cx="2358562" cy="295656"/>
          </a:xfrm>
          <a:prstGeom prst="rect">
            <a:avLst/>
          </a:prstGeom>
          <a:noFill/>
          <a:ln/>
        </p:spPr>
        <p:txBody>
          <a:bodyPr wrap="square" rtlCol="0" anchor="ctr"/>
          <a:lstStyle/>
          <a:p>
            <a:r>
              <a:rPr lang="en-US" sz="1600" dirty="0" err="1">
                <a:solidFill>
                  <a:srgbClr val="6B7280"/>
                </a:solidFill>
                <a:latin typeface="Calibri" pitchFamily="34" charset="0"/>
                <a:ea typeface="Calibri" pitchFamily="34" charset="-122"/>
                <a:cs typeface="Calibri" pitchFamily="34" charset="-120"/>
              </a:rPr>
              <a:t>Proje</a:t>
            </a:r>
            <a:r>
              <a:rPr lang="en-US" sz="1600" dirty="0">
                <a:solidFill>
                  <a:srgbClr val="6B7280"/>
                </a:solidFill>
                <a:latin typeface="Calibri" pitchFamily="34" charset="0"/>
                <a:ea typeface="Calibri" pitchFamily="34" charset="-122"/>
                <a:cs typeface="Calibri" pitchFamily="34" charset="-120"/>
              </a:rPr>
              <a:t> </a:t>
            </a:r>
            <a:r>
              <a:rPr lang="en-US" sz="1600" dirty="0" err="1">
                <a:solidFill>
                  <a:srgbClr val="6B7280"/>
                </a:solidFill>
                <a:latin typeface="Calibri" pitchFamily="34" charset="0"/>
                <a:ea typeface="Calibri" pitchFamily="34" charset="-122"/>
                <a:cs typeface="Calibri" pitchFamily="34" charset="-120"/>
              </a:rPr>
              <a:t>Öğrencisi</a:t>
            </a:r>
            <a:endParaRPr lang="en-US" sz="1600" dirty="0"/>
          </a:p>
        </p:txBody>
      </p:sp>
      <p:sp>
        <p:nvSpPr>
          <p:cNvPr id="18" name="Text 16"/>
          <p:cNvSpPr/>
          <p:nvPr/>
        </p:nvSpPr>
        <p:spPr>
          <a:xfrm>
            <a:off x="7001194" y="2777810"/>
            <a:ext cx="2889489" cy="502920"/>
          </a:xfrm>
          <a:prstGeom prst="rect">
            <a:avLst/>
          </a:prstGeom>
          <a:noFill/>
          <a:ln/>
        </p:spPr>
        <p:txBody>
          <a:bodyPr wrap="square" rtlCol="0" anchor="ctr"/>
          <a:lstStyle/>
          <a:p>
            <a:r>
              <a:rPr lang="tr-TR" sz="2400" b="1" dirty="0">
                <a:solidFill>
                  <a:srgbClr val="1A2340"/>
                </a:solidFill>
                <a:latin typeface="Calibri" pitchFamily="34" charset="0"/>
                <a:ea typeface="Calibri" pitchFamily="34" charset="-122"/>
                <a:cs typeface="Calibri" pitchFamily="34" charset="-120"/>
              </a:rPr>
              <a:t>Ezgi KIRNAPCI</a:t>
            </a:r>
            <a:endParaRPr lang="en-US" sz="2400" dirty="0"/>
          </a:p>
        </p:txBody>
      </p:sp>
      <p:sp>
        <p:nvSpPr>
          <p:cNvPr id="20" name="Shape 18"/>
          <p:cNvSpPr/>
          <p:nvPr/>
        </p:nvSpPr>
        <p:spPr>
          <a:xfrm>
            <a:off x="12274296" y="2395728"/>
            <a:ext cx="54864" cy="1097280"/>
          </a:xfrm>
          <a:prstGeom prst="rect">
            <a:avLst/>
          </a:prstGeom>
          <a:solidFill>
            <a:srgbClr val="E8A020"/>
          </a:solidFill>
          <a:ln w="12700">
            <a:solidFill>
              <a:srgbClr val="E8A020"/>
            </a:solidFill>
            <a:prstDash val="solid"/>
          </a:ln>
        </p:spPr>
        <p:txBody>
          <a:bodyPr/>
          <a:lstStyle/>
          <a:p>
            <a:endParaRPr lang="en-US" sz="2800"/>
          </a:p>
        </p:txBody>
      </p:sp>
      <p:sp>
        <p:nvSpPr>
          <p:cNvPr id="21" name="Text 19"/>
          <p:cNvSpPr/>
          <p:nvPr/>
        </p:nvSpPr>
        <p:spPr>
          <a:xfrm>
            <a:off x="12502896" y="2395728"/>
            <a:ext cx="5359908" cy="347472"/>
          </a:xfrm>
          <a:prstGeom prst="rect">
            <a:avLst/>
          </a:prstGeom>
          <a:noFill/>
          <a:ln/>
        </p:spPr>
        <p:txBody>
          <a:bodyPr wrap="square" rtlCol="0" anchor="ctr"/>
          <a:lstStyle/>
          <a:p>
            <a:pPr marL="0" indent="0">
              <a:buNone/>
            </a:pPr>
            <a:r>
              <a:rPr lang="en-US" sz="1600" dirty="0">
                <a:solidFill>
                  <a:srgbClr val="6B7280"/>
                </a:solidFill>
                <a:latin typeface="Calibri" pitchFamily="34" charset="0"/>
                <a:ea typeface="Calibri" pitchFamily="34" charset="-122"/>
                <a:cs typeface="Calibri" pitchFamily="34" charset="-120"/>
              </a:rPr>
              <a:t>Danışman (Akademik)</a:t>
            </a:r>
            <a:endParaRPr lang="en-US" sz="1600" dirty="0"/>
          </a:p>
        </p:txBody>
      </p:sp>
      <p:sp>
        <p:nvSpPr>
          <p:cNvPr id="22" name="Text 20"/>
          <p:cNvSpPr/>
          <p:nvPr/>
        </p:nvSpPr>
        <p:spPr>
          <a:xfrm>
            <a:off x="12502896" y="2715768"/>
            <a:ext cx="5359908" cy="502920"/>
          </a:xfrm>
          <a:prstGeom prst="rect">
            <a:avLst/>
          </a:prstGeom>
          <a:noFill/>
          <a:ln/>
        </p:spPr>
        <p:txBody>
          <a:bodyPr wrap="square" rtlCol="0" anchor="ctr"/>
          <a:lstStyle/>
          <a:p>
            <a:pPr marL="0" indent="0">
              <a:buNone/>
            </a:pPr>
            <a:r>
              <a:rPr lang="tr-TR" sz="2400" b="1" dirty="0">
                <a:solidFill>
                  <a:srgbClr val="1A2340"/>
                </a:solidFill>
                <a:latin typeface="Calibri" pitchFamily="34" charset="0"/>
                <a:ea typeface="Calibri" pitchFamily="34" charset="-122"/>
                <a:cs typeface="Calibri" pitchFamily="34" charset="-120"/>
              </a:rPr>
              <a:t>Selçuk Kavut</a:t>
            </a:r>
            <a:endParaRPr lang="en-US" sz="2400" dirty="0"/>
          </a:p>
        </p:txBody>
      </p:sp>
      <p:sp>
        <p:nvSpPr>
          <p:cNvPr id="23" name="Text 21"/>
          <p:cNvSpPr/>
          <p:nvPr/>
        </p:nvSpPr>
        <p:spPr>
          <a:xfrm>
            <a:off x="12502896" y="3145536"/>
            <a:ext cx="5359908" cy="320040"/>
          </a:xfrm>
          <a:prstGeom prst="rect">
            <a:avLst/>
          </a:prstGeom>
          <a:noFill/>
          <a:ln/>
        </p:spPr>
        <p:txBody>
          <a:bodyPr wrap="square" rtlCol="0" anchor="ctr"/>
          <a:lstStyle/>
          <a:p>
            <a:pPr marL="0" indent="0">
              <a:buNone/>
            </a:pPr>
            <a:r>
              <a:rPr lang="en-US" sz="1600" i="1" dirty="0">
                <a:solidFill>
                  <a:srgbClr val="6B7280"/>
                </a:solidFill>
                <a:latin typeface="Calibri" pitchFamily="34" charset="0"/>
                <a:ea typeface="Calibri" pitchFamily="34" charset="-122"/>
                <a:cs typeface="Calibri" pitchFamily="34" charset="-120"/>
              </a:rPr>
              <a:t>[</a:t>
            </a:r>
            <a:r>
              <a:rPr lang="tr-TR" sz="1600" i="1" dirty="0">
                <a:solidFill>
                  <a:srgbClr val="6B7280"/>
                </a:solidFill>
                <a:latin typeface="Calibri" pitchFamily="34" charset="0"/>
                <a:ea typeface="Calibri" pitchFamily="34" charset="-122"/>
                <a:cs typeface="Calibri" pitchFamily="34" charset="-120"/>
              </a:rPr>
              <a:t>Prof. Dr. </a:t>
            </a:r>
            <a:r>
              <a:rPr lang="en-US" sz="1600" i="1" dirty="0">
                <a:solidFill>
                  <a:srgbClr val="6B7280"/>
                </a:solidFill>
                <a:latin typeface="Calibri" pitchFamily="34" charset="0"/>
                <a:ea typeface="Calibri" pitchFamily="34" charset="-122"/>
                <a:cs typeface="Calibri" pitchFamily="34" charset="-120"/>
              </a:rPr>
              <a:t>/ </a:t>
            </a:r>
            <a:r>
              <a:rPr lang="tr-TR" sz="1600" i="1" dirty="0">
                <a:solidFill>
                  <a:srgbClr val="6B7280"/>
                </a:solidFill>
                <a:latin typeface="Calibri" pitchFamily="34" charset="0"/>
                <a:ea typeface="Calibri" pitchFamily="34" charset="-122"/>
                <a:cs typeface="Calibri" pitchFamily="34" charset="-120"/>
              </a:rPr>
              <a:t>Mühendislik </a:t>
            </a:r>
            <a:r>
              <a:rPr lang="en-US" sz="1600" i="1" dirty="0" err="1">
                <a:solidFill>
                  <a:srgbClr val="6B7280"/>
                </a:solidFill>
                <a:latin typeface="Calibri" pitchFamily="34" charset="0"/>
                <a:ea typeface="Calibri" pitchFamily="34" charset="-122"/>
                <a:cs typeface="Calibri" pitchFamily="34" charset="-120"/>
              </a:rPr>
              <a:t>Fakülte</a:t>
            </a:r>
            <a:r>
              <a:rPr lang="tr-TR" sz="1600" i="1" dirty="0">
                <a:solidFill>
                  <a:srgbClr val="6B7280"/>
                </a:solidFill>
                <a:latin typeface="Calibri" pitchFamily="34" charset="0"/>
                <a:ea typeface="Calibri" pitchFamily="34" charset="-122"/>
                <a:cs typeface="Calibri" pitchFamily="34" charset="-120"/>
              </a:rPr>
              <a:t>si</a:t>
            </a:r>
            <a:r>
              <a:rPr lang="en-US" sz="1600" i="1" dirty="0">
                <a:solidFill>
                  <a:srgbClr val="6B7280"/>
                </a:solidFill>
                <a:latin typeface="Calibri" pitchFamily="34" charset="0"/>
                <a:ea typeface="Calibri" pitchFamily="34" charset="-122"/>
                <a:cs typeface="Calibri" pitchFamily="34" charset="-120"/>
              </a:rPr>
              <a:t>]</a:t>
            </a:r>
            <a:endParaRPr lang="en-US" sz="1600" dirty="0"/>
          </a:p>
        </p:txBody>
      </p:sp>
      <p:sp>
        <p:nvSpPr>
          <p:cNvPr id="24" name="Shape 22"/>
          <p:cNvSpPr/>
          <p:nvPr/>
        </p:nvSpPr>
        <p:spPr>
          <a:xfrm>
            <a:off x="320040" y="3858768"/>
            <a:ext cx="6479987" cy="475488"/>
          </a:xfrm>
          <a:prstGeom prst="rect">
            <a:avLst/>
          </a:prstGeom>
          <a:solidFill>
            <a:srgbClr val="0D2B5E"/>
          </a:solidFill>
          <a:ln w="12700">
            <a:noFill/>
            <a:prstDash val="solid"/>
          </a:ln>
        </p:spPr>
        <p:txBody>
          <a:bodyPr/>
          <a:lstStyle/>
          <a:p>
            <a:endParaRPr lang="en-US" sz="2800"/>
          </a:p>
        </p:txBody>
      </p:sp>
      <p:sp>
        <p:nvSpPr>
          <p:cNvPr id="25" name="Text 23"/>
          <p:cNvSpPr/>
          <p:nvPr/>
        </p:nvSpPr>
        <p:spPr>
          <a:xfrm>
            <a:off x="320040" y="3858768"/>
            <a:ext cx="6479987" cy="475488"/>
          </a:xfrm>
          <a:prstGeom prst="rect">
            <a:avLst/>
          </a:prstGeom>
          <a:noFill/>
          <a:ln/>
        </p:spPr>
        <p:txBody>
          <a:bodyPr wrap="square" rtlCol="0" anchor="ctr"/>
          <a:lstStyle/>
          <a:p>
            <a:pPr marL="0" indent="0" algn="ctr">
              <a:buNone/>
            </a:pPr>
            <a:r>
              <a:rPr lang="en-US" sz="2000" b="1" kern="0" spc="200" dirty="0">
                <a:solidFill>
                  <a:srgbClr val="FFFFFF"/>
                </a:solidFill>
                <a:latin typeface="Calibri" pitchFamily="34" charset="0"/>
                <a:ea typeface="Calibri" pitchFamily="34" charset="-122"/>
                <a:cs typeface="Calibri" pitchFamily="34" charset="-120"/>
              </a:rPr>
              <a:t>PROJE ÖZETİ</a:t>
            </a:r>
            <a:endParaRPr lang="en-US" sz="2000" dirty="0"/>
          </a:p>
        </p:txBody>
      </p:sp>
      <p:sp>
        <p:nvSpPr>
          <p:cNvPr id="26" name="Shape 24"/>
          <p:cNvSpPr/>
          <p:nvPr/>
        </p:nvSpPr>
        <p:spPr>
          <a:xfrm>
            <a:off x="320040" y="4334255"/>
            <a:ext cx="6479987" cy="5521296"/>
          </a:xfrm>
          <a:prstGeom prst="rect">
            <a:avLst/>
          </a:prstGeom>
          <a:solidFill>
            <a:srgbClr val="FFFFFF"/>
          </a:solidFill>
          <a:ln w="6350">
            <a:solidFill>
              <a:srgbClr val="C2CDD8"/>
            </a:solidFill>
            <a:prstDash val="solid"/>
          </a:ln>
        </p:spPr>
        <p:txBody>
          <a:bodyPr/>
          <a:lstStyle/>
          <a:p>
            <a:endParaRPr lang="en-US" sz="2800"/>
          </a:p>
        </p:txBody>
      </p:sp>
      <p:sp>
        <p:nvSpPr>
          <p:cNvPr id="27" name="Text 25"/>
          <p:cNvSpPr/>
          <p:nvPr/>
        </p:nvSpPr>
        <p:spPr>
          <a:xfrm>
            <a:off x="484632" y="4498847"/>
            <a:ext cx="6150803" cy="5291017"/>
          </a:xfrm>
          <a:prstGeom prst="rect">
            <a:avLst/>
          </a:prstGeom>
          <a:noFill/>
          <a:ln/>
        </p:spPr>
        <p:txBody>
          <a:bodyPr wrap="square" rtlCol="0" anchor="t"/>
          <a:lstStyle/>
          <a:p>
            <a:r>
              <a:rPr lang="tr-TR" sz="1700" dirty="0">
                <a:ea typeface="Cambria" panose="02040503050406030204" pitchFamily="18" charset="0"/>
              </a:rPr>
              <a:t>Bu projede, tek bir kameradan araçları tespit eden ve park alanlarının uygunluğunu gerçek zamanlı analiz eden yapay zekâ tabanlı bir sistem geliştirilmiştir. Araç tespiti YOLOv8 ile yapılmış; boş yerler, boyalı şerit varsa ızgara tabanlı, yoksa geometri tabanlı adaptif yöntemle belirlenmiştir. Ters Perspektif Dönüşümü ile görüntü kuş bakışına çevrilerek çapraz açı bozulması giderilmiş ve park yerlerinin gerçek metrik boyutları ölçülmüştür. Sistem, sürücünün aracına uygun en yakın boş yeri çok kriterli bir skorla önerir; gece görüşü iyileştirme, tek kameralı derinlik ve çevrimdışı sesli komut gibi sürücü-asistanı özellikleri içerir. Yöntem, etiketli test görüntüleri ve sentetik senaryolarla değerlendirilmiş; gündüz ve çizgili park koşullarında boş/dolu ayrımını yüksek isabetle gerçekleştirmiştir. Sistem, standart bir bilgisayarda yaklaşık gerçek zamanlı hızda çalışmakta; gece ve düşük ışık gibi zorlu koşullarda doğruluğun artırılması gelecek çalışma olarak belirlenmiştir. Geliştirilen çözüm, ek sensör altyapısı gerektirmeden yalnızca kamera ile düşük maliyetli ve taşınabilir bir akıllı park sistemi sunar.</a:t>
            </a:r>
          </a:p>
          <a:p>
            <a:endParaRPr lang="tr-TR" sz="1700" dirty="0">
              <a:ea typeface="Cambria" panose="02040503050406030204" pitchFamily="18" charset="0"/>
            </a:endParaRPr>
          </a:p>
          <a:p>
            <a:r>
              <a:rPr lang="tr-TR" sz="1700" dirty="0">
                <a:ea typeface="Cambria" panose="02040503050406030204" pitchFamily="18" charset="0"/>
              </a:rPr>
              <a:t>Anahtar kelimeler: Araç tespiti, Park yeri analizi, Derin öğrenme, Bilgisayarlı görü, ADAS</a:t>
            </a:r>
          </a:p>
        </p:txBody>
      </p:sp>
      <p:sp>
        <p:nvSpPr>
          <p:cNvPr id="28" name="Shape 26"/>
          <p:cNvSpPr/>
          <p:nvPr/>
        </p:nvSpPr>
        <p:spPr>
          <a:xfrm>
            <a:off x="329185" y="10020143"/>
            <a:ext cx="6479987" cy="475488"/>
          </a:xfrm>
          <a:prstGeom prst="rect">
            <a:avLst/>
          </a:prstGeom>
          <a:solidFill>
            <a:srgbClr val="0F7B6C"/>
          </a:solidFill>
          <a:ln w="12700">
            <a:noFill/>
            <a:prstDash val="solid"/>
          </a:ln>
        </p:spPr>
        <p:txBody>
          <a:bodyPr/>
          <a:lstStyle/>
          <a:p>
            <a:endParaRPr lang="en-US" sz="2800"/>
          </a:p>
        </p:txBody>
      </p:sp>
      <p:sp>
        <p:nvSpPr>
          <p:cNvPr id="29" name="Text 27"/>
          <p:cNvSpPr/>
          <p:nvPr/>
        </p:nvSpPr>
        <p:spPr>
          <a:xfrm>
            <a:off x="320040" y="10011482"/>
            <a:ext cx="6479987" cy="475488"/>
          </a:xfrm>
          <a:prstGeom prst="rect">
            <a:avLst/>
          </a:prstGeom>
          <a:noFill/>
          <a:ln/>
        </p:spPr>
        <p:txBody>
          <a:bodyPr wrap="square" rtlCol="0" anchor="ctr"/>
          <a:lstStyle/>
          <a:p>
            <a:pPr marL="0" indent="0" algn="ctr">
              <a:buNone/>
            </a:pPr>
            <a:r>
              <a:rPr lang="en-US" sz="2000" b="1" kern="0" spc="200" dirty="0">
                <a:solidFill>
                  <a:srgbClr val="FFFFFF"/>
                </a:solidFill>
                <a:latin typeface="Calibri" pitchFamily="34" charset="0"/>
                <a:ea typeface="Calibri" pitchFamily="34" charset="-122"/>
                <a:cs typeface="Calibri" pitchFamily="34" charset="-120"/>
              </a:rPr>
              <a:t>GİRİŞ / MOTİVASYON</a:t>
            </a:r>
            <a:endParaRPr lang="en-US" sz="2000" dirty="0"/>
          </a:p>
        </p:txBody>
      </p:sp>
      <p:sp>
        <p:nvSpPr>
          <p:cNvPr id="30" name="Shape 28"/>
          <p:cNvSpPr/>
          <p:nvPr/>
        </p:nvSpPr>
        <p:spPr>
          <a:xfrm>
            <a:off x="320040" y="10499961"/>
            <a:ext cx="6479987" cy="3268078"/>
          </a:xfrm>
          <a:prstGeom prst="rect">
            <a:avLst/>
          </a:prstGeom>
          <a:solidFill>
            <a:srgbClr val="FFFFFF"/>
          </a:solidFill>
          <a:ln w="6350">
            <a:solidFill>
              <a:srgbClr val="C2CDD8"/>
            </a:solidFill>
            <a:prstDash val="solid"/>
          </a:ln>
        </p:spPr>
        <p:txBody>
          <a:bodyPr/>
          <a:lstStyle/>
          <a:p>
            <a:endParaRPr lang="en-US" sz="2800"/>
          </a:p>
        </p:txBody>
      </p:sp>
      <p:sp>
        <p:nvSpPr>
          <p:cNvPr id="31" name="Text 29"/>
          <p:cNvSpPr/>
          <p:nvPr/>
        </p:nvSpPr>
        <p:spPr>
          <a:xfrm>
            <a:off x="484632" y="10720480"/>
            <a:ext cx="6150803" cy="2846391"/>
          </a:xfrm>
          <a:prstGeom prst="rect">
            <a:avLst/>
          </a:prstGeom>
          <a:noFill/>
          <a:ln/>
        </p:spPr>
        <p:txBody>
          <a:bodyPr wrap="square" rtlCol="0" anchor="t"/>
          <a:lstStyle/>
          <a:p>
            <a:r>
              <a:rPr lang="tr-TR" sz="1700" dirty="0">
                <a:ea typeface="Cambria" panose="02040503050406030204" pitchFamily="18" charset="0"/>
              </a:rPr>
              <a:t>Şehir içinde boş park yeri arama; zaman, yakıt ve karbon emisyonu kaybına yol açar. Mevcut akıllı otopark sistemleri çoğunlukla her yere yerleştirilen sensörlere dayanır; bu kurulum pahalı ve bakımı zordur. Bu projede ek donanım gerektirmeden yalnızca kamera ile çalışan, düşük maliyetli ve taşınabilir bir çözüm hedeflenmiştir.</a:t>
            </a:r>
          </a:p>
          <a:p>
            <a:endParaRPr lang="tr-TR" sz="1700" dirty="0">
              <a:ea typeface="Cambria" panose="02040503050406030204" pitchFamily="18" charset="0"/>
            </a:endParaRPr>
          </a:p>
          <a:p>
            <a:r>
              <a:rPr lang="tr-TR" sz="1700" dirty="0">
                <a:ea typeface="Cambria" panose="02040503050406030204" pitchFamily="18" charset="0"/>
              </a:rPr>
              <a:t>Literatürde otopark doluluk tespiti çalışmaları bulunsa da; gerçek metrik ölçüm, sürücüye uygun-yer önerisi ve çizgili/çizgisiz alanlarda çalışan adaptif tespitin tek bir gerçek-zamanlı sistemde birleştirilmesi bir boşluktur. Bu proje, bu üç yeteneği bir araya getirerek hem akademik hem pratik katkı sunar.</a:t>
            </a:r>
          </a:p>
        </p:txBody>
      </p:sp>
      <p:sp>
        <p:nvSpPr>
          <p:cNvPr id="32" name="Shape 30"/>
          <p:cNvSpPr/>
          <p:nvPr/>
        </p:nvSpPr>
        <p:spPr>
          <a:xfrm>
            <a:off x="320040" y="13933972"/>
            <a:ext cx="6479987" cy="475488"/>
          </a:xfrm>
          <a:prstGeom prst="rect">
            <a:avLst/>
          </a:prstGeom>
          <a:solidFill>
            <a:srgbClr val="0F7B6C"/>
          </a:solidFill>
          <a:ln w="12700">
            <a:noFill/>
            <a:prstDash val="solid"/>
          </a:ln>
        </p:spPr>
        <p:txBody>
          <a:bodyPr/>
          <a:lstStyle/>
          <a:p>
            <a:endParaRPr lang="en-US" sz="2800"/>
          </a:p>
        </p:txBody>
      </p:sp>
      <p:sp>
        <p:nvSpPr>
          <p:cNvPr id="33" name="Text 31"/>
          <p:cNvSpPr/>
          <p:nvPr/>
        </p:nvSpPr>
        <p:spPr>
          <a:xfrm>
            <a:off x="320040" y="13919992"/>
            <a:ext cx="6479987" cy="475488"/>
          </a:xfrm>
          <a:prstGeom prst="rect">
            <a:avLst/>
          </a:prstGeom>
          <a:noFill/>
          <a:ln/>
        </p:spPr>
        <p:txBody>
          <a:bodyPr wrap="square" rtlCol="0" anchor="ctr"/>
          <a:lstStyle/>
          <a:p>
            <a:pPr marL="0" indent="0" algn="ctr">
              <a:buNone/>
            </a:pPr>
            <a:r>
              <a:rPr lang="tr-TR" sz="2000" b="1" kern="0" spc="200" dirty="0">
                <a:solidFill>
                  <a:srgbClr val="FFFFFF"/>
                </a:solidFill>
                <a:latin typeface="Calibri" pitchFamily="34" charset="0"/>
                <a:ea typeface="Calibri" pitchFamily="34" charset="-122"/>
                <a:cs typeface="Calibri" pitchFamily="34" charset="-120"/>
              </a:rPr>
              <a:t>SİSTEM MİMARİSİ</a:t>
            </a:r>
            <a:endParaRPr lang="en-US" sz="2000" dirty="0"/>
          </a:p>
        </p:txBody>
      </p:sp>
      <p:sp>
        <p:nvSpPr>
          <p:cNvPr id="34" name="Shape 32"/>
          <p:cNvSpPr/>
          <p:nvPr/>
        </p:nvSpPr>
        <p:spPr>
          <a:xfrm>
            <a:off x="320040" y="14556778"/>
            <a:ext cx="6479987" cy="9408732"/>
          </a:xfrm>
          <a:prstGeom prst="rect">
            <a:avLst/>
          </a:prstGeom>
          <a:solidFill>
            <a:srgbClr val="DDE6EF"/>
          </a:solidFill>
          <a:ln w="6350">
            <a:solidFill>
              <a:srgbClr val="C2CDD8"/>
            </a:solidFill>
            <a:prstDash val="solid"/>
          </a:ln>
        </p:spPr>
        <p:txBody>
          <a:bodyPr/>
          <a:lstStyle/>
          <a:p>
            <a:endParaRPr lang="en-US" sz="2800"/>
          </a:p>
        </p:txBody>
      </p:sp>
      <p:sp>
        <p:nvSpPr>
          <p:cNvPr id="35" name="Text 33"/>
          <p:cNvSpPr/>
          <p:nvPr/>
        </p:nvSpPr>
        <p:spPr>
          <a:xfrm>
            <a:off x="320040" y="13185648"/>
            <a:ext cx="6479987" cy="10779862"/>
          </a:xfrm>
          <a:prstGeom prst="rect">
            <a:avLst/>
          </a:prstGeom>
          <a:noFill/>
          <a:ln/>
        </p:spPr>
        <p:txBody>
          <a:bodyPr wrap="square" rtlCol="0" anchor="ctr"/>
          <a:lstStyle/>
          <a:p>
            <a:pPr marL="0" indent="0" algn="ctr">
              <a:buNone/>
            </a:pPr>
            <a:r>
              <a:rPr lang="en-US" i="1" dirty="0">
                <a:latin typeface="Calibri" pitchFamily="34" charset="0"/>
                <a:ea typeface="Calibri" pitchFamily="34" charset="-122"/>
                <a:cs typeface="Calibri" pitchFamily="34" charset="-120"/>
              </a:rPr>
              <a:t>[ Görsel / Şema / </a:t>
            </a:r>
            <a:r>
              <a:rPr lang="en-US" i="1" dirty="0" err="1">
                <a:latin typeface="Calibri" pitchFamily="34" charset="0"/>
                <a:ea typeface="Calibri" pitchFamily="34" charset="-122"/>
                <a:cs typeface="Calibri" pitchFamily="34" charset="-120"/>
              </a:rPr>
              <a:t>Akış</a:t>
            </a:r>
            <a:r>
              <a:rPr lang="en-US" i="1" dirty="0">
                <a:latin typeface="Calibri" pitchFamily="34" charset="0"/>
                <a:ea typeface="Calibri" pitchFamily="34" charset="-122"/>
                <a:cs typeface="Calibri" pitchFamily="34" charset="-120"/>
              </a:rPr>
              <a:t> </a:t>
            </a:r>
            <a:r>
              <a:rPr lang="en-US" i="1" dirty="0" err="1">
                <a:latin typeface="Calibri" pitchFamily="34" charset="0"/>
                <a:ea typeface="Calibri" pitchFamily="34" charset="-122"/>
                <a:cs typeface="Calibri" pitchFamily="34" charset="-120"/>
              </a:rPr>
              <a:t>Diagramı</a:t>
            </a:r>
            <a:r>
              <a:rPr lang="en-US" i="1" dirty="0">
                <a:latin typeface="Calibri" pitchFamily="34" charset="0"/>
                <a:ea typeface="Calibri" pitchFamily="34" charset="-122"/>
                <a:cs typeface="Calibri" pitchFamily="34" charset="-120"/>
              </a:rPr>
              <a:t> ]</a:t>
            </a:r>
            <a:endParaRPr lang="en-US" dirty="0"/>
          </a:p>
        </p:txBody>
      </p:sp>
      <p:sp>
        <p:nvSpPr>
          <p:cNvPr id="36" name="Shape 34"/>
          <p:cNvSpPr/>
          <p:nvPr/>
        </p:nvSpPr>
        <p:spPr>
          <a:xfrm>
            <a:off x="7001195" y="3858768"/>
            <a:ext cx="10678729" cy="475488"/>
          </a:xfrm>
          <a:prstGeom prst="rect">
            <a:avLst/>
          </a:prstGeom>
          <a:solidFill>
            <a:srgbClr val="0F7B6C"/>
          </a:solidFill>
          <a:ln w="12700">
            <a:noFill/>
            <a:prstDash val="solid"/>
          </a:ln>
        </p:spPr>
        <p:txBody>
          <a:bodyPr/>
          <a:lstStyle/>
          <a:p>
            <a:endParaRPr lang="en-US" sz="2800"/>
          </a:p>
        </p:txBody>
      </p:sp>
      <p:sp>
        <p:nvSpPr>
          <p:cNvPr id="37" name="Text 35"/>
          <p:cNvSpPr/>
          <p:nvPr/>
        </p:nvSpPr>
        <p:spPr>
          <a:xfrm>
            <a:off x="7001195" y="3858768"/>
            <a:ext cx="10678729" cy="475488"/>
          </a:xfrm>
          <a:prstGeom prst="rect">
            <a:avLst/>
          </a:prstGeom>
          <a:noFill/>
          <a:ln/>
        </p:spPr>
        <p:txBody>
          <a:bodyPr wrap="square" rtlCol="0" anchor="ctr"/>
          <a:lstStyle/>
          <a:p>
            <a:pPr marL="0" indent="0" algn="ctr">
              <a:buNone/>
            </a:pPr>
            <a:r>
              <a:rPr lang="en-US" sz="2000" b="1" kern="0" spc="200" dirty="0">
                <a:solidFill>
                  <a:srgbClr val="FFFFFF"/>
                </a:solidFill>
                <a:latin typeface="Calibri" pitchFamily="34" charset="0"/>
                <a:ea typeface="Calibri" pitchFamily="34" charset="-122"/>
                <a:cs typeface="Calibri" pitchFamily="34" charset="-120"/>
              </a:rPr>
              <a:t>MATERYAL VE YÖNTEM</a:t>
            </a:r>
            <a:endParaRPr lang="en-US" sz="2000" dirty="0"/>
          </a:p>
        </p:txBody>
      </p:sp>
      <p:sp>
        <p:nvSpPr>
          <p:cNvPr id="38" name="Shape 36"/>
          <p:cNvSpPr/>
          <p:nvPr/>
        </p:nvSpPr>
        <p:spPr>
          <a:xfrm>
            <a:off x="7001195" y="4334256"/>
            <a:ext cx="10678729" cy="4402082"/>
          </a:xfrm>
          <a:prstGeom prst="rect">
            <a:avLst/>
          </a:prstGeom>
          <a:solidFill>
            <a:srgbClr val="FFFFFF"/>
          </a:solidFill>
          <a:ln w="6350">
            <a:solidFill>
              <a:srgbClr val="C2CDD8"/>
            </a:solidFill>
            <a:prstDash val="solid"/>
          </a:ln>
        </p:spPr>
        <p:txBody>
          <a:bodyPr/>
          <a:lstStyle/>
          <a:p>
            <a:endParaRPr lang="en-US" sz="2800"/>
          </a:p>
        </p:txBody>
      </p:sp>
      <p:sp>
        <p:nvSpPr>
          <p:cNvPr id="39" name="Text 37"/>
          <p:cNvSpPr/>
          <p:nvPr/>
        </p:nvSpPr>
        <p:spPr>
          <a:xfrm>
            <a:off x="7165787" y="4446794"/>
            <a:ext cx="10349545" cy="4168349"/>
          </a:xfrm>
          <a:prstGeom prst="rect">
            <a:avLst/>
          </a:prstGeom>
          <a:noFill/>
          <a:ln/>
        </p:spPr>
        <p:txBody>
          <a:bodyPr wrap="square" rtlCol="0" anchor="t"/>
          <a:lstStyle/>
          <a:p>
            <a:r>
              <a:rPr lang="tr-TR" sz="1700" b="1" dirty="0">
                <a:ea typeface="Cambria" panose="02040503050406030204" pitchFamily="18" charset="0"/>
              </a:rPr>
              <a:t>Geliştirme Ortamı:</a:t>
            </a:r>
            <a:r>
              <a:rPr lang="tr-TR" sz="1700" dirty="0">
                <a:ea typeface="Cambria" panose="02040503050406030204" pitchFamily="18" charset="0"/>
              </a:rPr>
              <a:t> Python programlama dili, PyQt5 tabanlı kullanıcı arayüzü, </a:t>
            </a:r>
            <a:r>
              <a:rPr lang="tr-TR" sz="1700" dirty="0" err="1">
                <a:ea typeface="Cambria" panose="02040503050406030204" pitchFamily="18" charset="0"/>
              </a:rPr>
              <a:t>OpenCV</a:t>
            </a:r>
            <a:r>
              <a:rPr lang="tr-TR" sz="1700" dirty="0">
                <a:ea typeface="Cambria" panose="02040503050406030204" pitchFamily="18" charset="0"/>
              </a:rPr>
              <a:t> ve </a:t>
            </a:r>
            <a:r>
              <a:rPr lang="tr-TR" sz="1700" dirty="0" err="1">
                <a:ea typeface="Cambria" panose="02040503050406030204" pitchFamily="18" charset="0"/>
              </a:rPr>
              <a:t>NumPy</a:t>
            </a:r>
            <a:r>
              <a:rPr lang="tr-TR" sz="1700" dirty="0">
                <a:ea typeface="Cambria" panose="02040503050406030204" pitchFamily="18" charset="0"/>
              </a:rPr>
              <a:t> bilgisayarlı görüntü işleme kütüphaneleri.</a:t>
            </a:r>
          </a:p>
          <a:p>
            <a:r>
              <a:rPr lang="tr-TR" sz="1700" b="1" dirty="0">
                <a:ea typeface="Cambria" panose="02040503050406030204" pitchFamily="18" charset="0"/>
              </a:rPr>
              <a:t>Yöntemler:</a:t>
            </a:r>
            <a:endParaRPr lang="tr-TR" sz="1700" dirty="0">
              <a:ea typeface="Cambria" panose="02040503050406030204" pitchFamily="18" charset="0"/>
            </a:endParaRPr>
          </a:p>
          <a:p>
            <a:pPr lvl="1"/>
            <a:r>
              <a:rPr lang="tr-TR" sz="1700" b="1" dirty="0">
                <a:ea typeface="Cambria" panose="02040503050406030204" pitchFamily="18" charset="0"/>
              </a:rPr>
              <a:t>Gerçek Zamanlı Araç Tespiti:</a:t>
            </a:r>
            <a:r>
              <a:rPr lang="tr-TR" sz="1700" dirty="0">
                <a:ea typeface="Cambria" panose="02040503050406030204" pitchFamily="18" charset="0"/>
              </a:rPr>
              <a:t> YOLOv8 ile gerçek-zamanlı tespit; sınıfa göre gerçek boyut ataması ve sınıf-bağımsız NMS ile çift-tespit eleme.</a:t>
            </a:r>
          </a:p>
          <a:p>
            <a:pPr lvl="1"/>
            <a:r>
              <a:rPr lang="tr-TR" sz="1700" b="1" dirty="0">
                <a:ea typeface="Cambria" panose="02040503050406030204" pitchFamily="18" charset="0"/>
              </a:rPr>
              <a:t>Adaptif Boş Park Yeri Analizi:</a:t>
            </a:r>
            <a:r>
              <a:rPr lang="tr-TR" sz="1700" dirty="0">
                <a:ea typeface="Cambria" panose="02040503050406030204" pitchFamily="18" charset="0"/>
              </a:rPr>
              <a:t> Hibrid yaklaşım; boyalı şerit varlığında </a:t>
            </a:r>
            <a:r>
              <a:rPr lang="tr-TR" sz="1700" b="1" dirty="0">
                <a:ea typeface="Cambria" panose="02040503050406030204" pitchFamily="18" charset="0"/>
              </a:rPr>
              <a:t>Izgara Tabanlı</a:t>
            </a:r>
            <a:r>
              <a:rPr lang="tr-TR" sz="1700" dirty="0">
                <a:ea typeface="Cambria" panose="02040503050406030204" pitchFamily="18" charset="0"/>
              </a:rPr>
              <a:t> yöntem; şerit bulunmadığında ise </a:t>
            </a:r>
            <a:r>
              <a:rPr lang="tr-TR" sz="1700" b="1" dirty="0">
                <a:ea typeface="Cambria" panose="02040503050406030204" pitchFamily="18" charset="0"/>
              </a:rPr>
              <a:t>Geometri Tabanlı</a:t>
            </a:r>
            <a:r>
              <a:rPr lang="tr-TR" sz="1700" dirty="0">
                <a:ea typeface="Cambria" panose="02040503050406030204" pitchFamily="18" charset="0"/>
              </a:rPr>
              <a:t> boşluk analizi.</a:t>
            </a:r>
          </a:p>
          <a:p>
            <a:pPr lvl="1"/>
            <a:r>
              <a:rPr lang="tr-TR" sz="1700" b="1" dirty="0">
                <a:ea typeface="Cambria" panose="02040503050406030204" pitchFamily="18" charset="0"/>
              </a:rPr>
              <a:t>Ters Perspektif Dönüşümü (IPM):</a:t>
            </a:r>
            <a:r>
              <a:rPr lang="tr-TR" sz="1700" dirty="0">
                <a:ea typeface="Cambria" panose="02040503050406030204" pitchFamily="18" charset="0"/>
              </a:rPr>
              <a:t> Görüntünün kuş bakışına çevrilmesi. Manuel 4-nokta seçimi veya kaybolma noktası ve araç boyutları tabanlı otomatik kalibrasyon. BEV düzleminde sabit ölçek ile hassas piksel-metre dönüşümü ve fiziksel boyut ölçümü.</a:t>
            </a:r>
          </a:p>
          <a:p>
            <a:pPr lvl="1"/>
            <a:r>
              <a:rPr lang="tr-TR" sz="1700" b="1" dirty="0">
                <a:ea typeface="Cambria" panose="02040503050406030204" pitchFamily="18" charset="0"/>
              </a:rPr>
              <a:t>Kararlılık:</a:t>
            </a:r>
            <a:r>
              <a:rPr lang="tr-TR" sz="1700" dirty="0">
                <a:ea typeface="Cambria" panose="02040503050406030204" pitchFamily="18" charset="0"/>
              </a:rPr>
              <a:t> Zaman serisi oylama ve video sabitleme modülleriyle sarsıntı ve anlık yanlış algılamaların engellenmesi.</a:t>
            </a:r>
          </a:p>
          <a:p>
            <a:pPr lvl="1"/>
            <a:r>
              <a:rPr lang="tr-TR" sz="1700" b="1" dirty="0">
                <a:ea typeface="Cambria" panose="02040503050406030204" pitchFamily="18" charset="0"/>
              </a:rPr>
              <a:t>Sürücü Asistanı Sistemleri:</a:t>
            </a:r>
            <a:r>
              <a:rPr lang="tr-TR" sz="1700" dirty="0">
                <a:ea typeface="Cambria" panose="02040503050406030204" pitchFamily="18" charset="0"/>
              </a:rPr>
              <a:t> Çok kriterli slot skorlama algoritması, tek kameralı derinlik haritalama, </a:t>
            </a:r>
            <a:r>
              <a:rPr lang="tr-TR" sz="1700" dirty="0" err="1">
                <a:ea typeface="Cambria" panose="02040503050406030204" pitchFamily="18" charset="0"/>
              </a:rPr>
              <a:t>Vosk</a:t>
            </a:r>
            <a:r>
              <a:rPr lang="tr-TR" sz="1700" dirty="0">
                <a:ea typeface="Cambria" panose="02040503050406030204" pitchFamily="18" charset="0"/>
              </a:rPr>
              <a:t> tabanlı çevrimdışı Türkçe sesli komut alımı ve </a:t>
            </a:r>
            <a:r>
              <a:rPr lang="tr-TR" sz="1700" dirty="0" err="1">
                <a:ea typeface="Cambria" panose="02040503050406030204" pitchFamily="18" charset="0"/>
              </a:rPr>
              <a:t>edge-tts</a:t>
            </a:r>
            <a:r>
              <a:rPr lang="tr-TR" sz="1700" dirty="0">
                <a:ea typeface="Cambria" panose="02040503050406030204" pitchFamily="18" charset="0"/>
              </a:rPr>
              <a:t> ile sesli yanıt ve kontrast iyileştirmeli gece görüşü modu.</a:t>
            </a:r>
          </a:p>
          <a:p>
            <a:pPr lvl="1"/>
            <a:r>
              <a:rPr lang="tr-TR" sz="1700" b="1" dirty="0">
                <a:ea typeface="Cambria" panose="02040503050406030204" pitchFamily="18" charset="0"/>
              </a:rPr>
              <a:t>Doğrulama ve Test:</a:t>
            </a:r>
            <a:r>
              <a:rPr lang="tr-TR" sz="1700" dirty="0">
                <a:ea typeface="Cambria" panose="02040503050406030204" pitchFamily="18" charset="0"/>
              </a:rPr>
              <a:t> Performans ölçümleri için metrik kütüphanesi sentetik veri üreteci, bileşen analiz çerçevesi ve 211 adet regresyon test senaryosu.</a:t>
            </a:r>
          </a:p>
        </p:txBody>
      </p:sp>
      <p:sp>
        <p:nvSpPr>
          <p:cNvPr id="40" name="Shape 38"/>
          <p:cNvSpPr/>
          <p:nvPr/>
        </p:nvSpPr>
        <p:spPr>
          <a:xfrm>
            <a:off x="7001195" y="11692890"/>
            <a:ext cx="10678729" cy="475488"/>
          </a:xfrm>
          <a:prstGeom prst="rect">
            <a:avLst/>
          </a:prstGeom>
          <a:solidFill>
            <a:schemeClr val="accent5"/>
          </a:solidFill>
          <a:ln w="12700">
            <a:noFill/>
            <a:prstDash val="solid"/>
          </a:ln>
        </p:spPr>
        <p:txBody>
          <a:bodyPr/>
          <a:lstStyle/>
          <a:p>
            <a:endParaRPr lang="en-US" sz="2800"/>
          </a:p>
        </p:txBody>
      </p:sp>
      <p:sp>
        <p:nvSpPr>
          <p:cNvPr id="41" name="Text 39"/>
          <p:cNvSpPr/>
          <p:nvPr/>
        </p:nvSpPr>
        <p:spPr>
          <a:xfrm>
            <a:off x="7001195" y="11691328"/>
            <a:ext cx="10678729" cy="475488"/>
          </a:xfrm>
          <a:prstGeom prst="rect">
            <a:avLst/>
          </a:prstGeom>
          <a:noFill/>
          <a:ln/>
        </p:spPr>
        <p:txBody>
          <a:bodyPr wrap="square" rtlCol="0" anchor="ctr"/>
          <a:lstStyle/>
          <a:p>
            <a:pPr marL="0" indent="0" algn="ctr">
              <a:buNone/>
            </a:pPr>
            <a:r>
              <a:rPr lang="en-US" sz="2000" b="1" kern="0" spc="200" dirty="0">
                <a:solidFill>
                  <a:srgbClr val="FFFFFF"/>
                </a:solidFill>
                <a:latin typeface="Calibri" pitchFamily="34" charset="0"/>
                <a:ea typeface="Calibri" pitchFamily="34" charset="-122"/>
                <a:cs typeface="Calibri" pitchFamily="34" charset="-120"/>
              </a:rPr>
              <a:t>BULGULAR</a:t>
            </a:r>
            <a:endParaRPr lang="en-US" sz="2000" dirty="0"/>
          </a:p>
        </p:txBody>
      </p:sp>
      <p:sp>
        <p:nvSpPr>
          <p:cNvPr id="42" name="Shape 40"/>
          <p:cNvSpPr/>
          <p:nvPr/>
        </p:nvSpPr>
        <p:spPr>
          <a:xfrm>
            <a:off x="7001195" y="12166815"/>
            <a:ext cx="10678729" cy="6434527"/>
          </a:xfrm>
          <a:prstGeom prst="rect">
            <a:avLst/>
          </a:prstGeom>
          <a:solidFill>
            <a:srgbClr val="FFFFFF"/>
          </a:solidFill>
          <a:ln w="6350">
            <a:solidFill>
              <a:srgbClr val="C2CDD8"/>
            </a:solidFill>
            <a:prstDash val="solid"/>
          </a:ln>
        </p:spPr>
        <p:txBody>
          <a:bodyPr/>
          <a:lstStyle/>
          <a:p>
            <a:endParaRPr lang="tr-TR" dirty="0">
              <a:latin typeface="Cambria" panose="02040503050406030204" pitchFamily="18" charset="0"/>
              <a:ea typeface="Cambria" panose="02040503050406030204" pitchFamily="18" charset="0"/>
            </a:endParaRPr>
          </a:p>
          <a:p>
            <a:endParaRPr lang="tr-TR" sz="1700" dirty="0">
              <a:latin typeface="Cambria" panose="02040503050406030204" pitchFamily="18" charset="0"/>
              <a:ea typeface="Cambria" panose="02040503050406030204" pitchFamily="18" charset="0"/>
            </a:endParaRPr>
          </a:p>
          <a:p>
            <a:endParaRPr lang="tr-TR" sz="1700" dirty="0">
              <a:latin typeface="Cambria" panose="02040503050406030204" pitchFamily="18" charset="0"/>
              <a:ea typeface="Cambria" panose="02040503050406030204" pitchFamily="18" charset="0"/>
            </a:endParaRPr>
          </a:p>
          <a:p>
            <a:endParaRPr lang="tr-TR" sz="1700" dirty="0">
              <a:latin typeface="Cambria" panose="02040503050406030204" pitchFamily="18" charset="0"/>
              <a:ea typeface="Cambria" panose="02040503050406030204" pitchFamily="18" charset="0"/>
            </a:endParaRPr>
          </a:p>
          <a:p>
            <a:endParaRPr lang="tr-TR" dirty="0">
              <a:latin typeface="Cambria" panose="02040503050406030204" pitchFamily="18" charset="0"/>
              <a:ea typeface="Cambria" panose="02040503050406030204" pitchFamily="18" charset="0"/>
            </a:endParaRPr>
          </a:p>
          <a:p>
            <a:endParaRPr lang="tr-TR" dirty="0">
              <a:latin typeface="Cambria" panose="02040503050406030204" pitchFamily="18" charset="0"/>
              <a:ea typeface="Cambria" panose="02040503050406030204" pitchFamily="18" charset="0"/>
            </a:endParaRPr>
          </a:p>
          <a:p>
            <a:endParaRPr lang="tr-TR" dirty="0">
              <a:latin typeface="Cambria" panose="02040503050406030204" pitchFamily="18" charset="0"/>
              <a:ea typeface="Cambria" panose="02040503050406030204" pitchFamily="18" charset="0"/>
            </a:endParaRPr>
          </a:p>
          <a:p>
            <a:endParaRPr lang="tr-TR" dirty="0">
              <a:latin typeface="Cambria" panose="02040503050406030204" pitchFamily="18" charset="0"/>
              <a:ea typeface="Cambria" panose="02040503050406030204" pitchFamily="18" charset="0"/>
            </a:endParaRPr>
          </a:p>
          <a:p>
            <a:endParaRPr lang="tr-TR" dirty="0">
              <a:latin typeface="Cambria" panose="02040503050406030204" pitchFamily="18" charset="0"/>
              <a:ea typeface="Cambria" panose="02040503050406030204" pitchFamily="18" charset="0"/>
            </a:endParaRPr>
          </a:p>
          <a:p>
            <a:endParaRPr lang="tr-TR" dirty="0">
              <a:latin typeface="Cambria" panose="02040503050406030204" pitchFamily="18" charset="0"/>
              <a:ea typeface="Cambria" panose="02040503050406030204" pitchFamily="18" charset="0"/>
            </a:endParaRPr>
          </a:p>
          <a:p>
            <a:endParaRPr lang="tr-TR" dirty="0">
              <a:latin typeface="Cambria" panose="02040503050406030204" pitchFamily="18" charset="0"/>
              <a:ea typeface="Cambria" panose="02040503050406030204" pitchFamily="18" charset="0"/>
            </a:endParaRPr>
          </a:p>
          <a:p>
            <a:endParaRPr lang="tr-TR" dirty="0">
              <a:latin typeface="Cambria" panose="02040503050406030204" pitchFamily="18" charset="0"/>
              <a:ea typeface="Cambria" panose="02040503050406030204" pitchFamily="18" charset="0"/>
            </a:endParaRPr>
          </a:p>
          <a:p>
            <a:endParaRPr lang="tr-TR" dirty="0">
              <a:latin typeface="Cambria" panose="02040503050406030204" pitchFamily="18" charset="0"/>
              <a:ea typeface="Cambria" panose="02040503050406030204" pitchFamily="18" charset="0"/>
            </a:endParaRPr>
          </a:p>
          <a:p>
            <a:endParaRPr lang="tr-TR" dirty="0">
              <a:latin typeface="Cambria" panose="02040503050406030204" pitchFamily="18" charset="0"/>
              <a:ea typeface="Cambria" panose="02040503050406030204" pitchFamily="18" charset="0"/>
            </a:endParaRPr>
          </a:p>
          <a:p>
            <a:endParaRPr lang="tr-TR" dirty="0">
              <a:latin typeface="Cambria" panose="02040503050406030204" pitchFamily="18" charset="0"/>
              <a:ea typeface="Cambria" panose="02040503050406030204" pitchFamily="18" charset="0"/>
            </a:endParaRPr>
          </a:p>
          <a:p>
            <a:endParaRPr lang="tr-TR" dirty="0">
              <a:latin typeface="Cambria" panose="02040503050406030204" pitchFamily="18" charset="0"/>
              <a:ea typeface="Cambria" panose="02040503050406030204" pitchFamily="18" charset="0"/>
            </a:endParaRPr>
          </a:p>
          <a:p>
            <a:endParaRPr lang="tr-TR" dirty="0">
              <a:latin typeface="Cambria" panose="02040503050406030204" pitchFamily="18" charset="0"/>
              <a:ea typeface="Cambria" panose="02040503050406030204" pitchFamily="18" charset="0"/>
            </a:endParaRPr>
          </a:p>
          <a:p>
            <a:endParaRPr lang="tr-TR" dirty="0">
              <a:latin typeface="Cambria" panose="02040503050406030204" pitchFamily="18" charset="0"/>
              <a:ea typeface="Cambria" panose="02040503050406030204" pitchFamily="18" charset="0"/>
            </a:endParaRPr>
          </a:p>
          <a:p>
            <a:endParaRPr lang="tr-TR" dirty="0">
              <a:latin typeface="Cambria" panose="02040503050406030204" pitchFamily="18" charset="0"/>
              <a:ea typeface="Cambria" panose="02040503050406030204" pitchFamily="18" charset="0"/>
            </a:endParaRPr>
          </a:p>
          <a:p>
            <a:endParaRPr lang="tr-TR" dirty="0">
              <a:latin typeface="Cambria" panose="02040503050406030204" pitchFamily="18" charset="0"/>
              <a:ea typeface="Cambria" panose="02040503050406030204" pitchFamily="18" charset="0"/>
            </a:endParaRPr>
          </a:p>
          <a:p>
            <a:endParaRPr lang="tr-TR" dirty="0">
              <a:latin typeface="Cambria" panose="02040503050406030204" pitchFamily="18" charset="0"/>
              <a:ea typeface="Cambria" panose="02040503050406030204" pitchFamily="18" charset="0"/>
            </a:endParaRPr>
          </a:p>
          <a:p>
            <a:pPr algn="ctr"/>
            <a:endParaRPr lang="tr-TR" sz="1700" dirty="0">
              <a:latin typeface="Cambria" panose="02040503050406030204" pitchFamily="18" charset="0"/>
              <a:ea typeface="Cambria" panose="02040503050406030204" pitchFamily="18" charset="0"/>
            </a:endParaRPr>
          </a:p>
          <a:p>
            <a:pPr algn="ctr"/>
            <a:r>
              <a:rPr lang="tr-TR" sz="1700" dirty="0">
                <a:ea typeface="Cambria" panose="02040503050406030204" pitchFamily="18" charset="0"/>
              </a:rPr>
              <a:t>• Boş/dolu slot tespiti • 2B Şematik Park Haritası • Sığma kontrolü • Kuş bakışı modu • Gece görüşü</a:t>
            </a:r>
            <a:endParaRPr lang="en-US" sz="1700" dirty="0">
              <a:ea typeface="Cambria" panose="02040503050406030204" pitchFamily="18" charset="0"/>
            </a:endParaRPr>
          </a:p>
        </p:txBody>
      </p:sp>
      <p:sp>
        <p:nvSpPr>
          <p:cNvPr id="43" name="Text 41"/>
          <p:cNvSpPr/>
          <p:nvPr/>
        </p:nvSpPr>
        <p:spPr>
          <a:xfrm>
            <a:off x="7165787" y="12355345"/>
            <a:ext cx="10349545" cy="5641649"/>
          </a:xfrm>
          <a:prstGeom prst="rect">
            <a:avLst/>
          </a:prstGeom>
          <a:noFill/>
          <a:ln/>
        </p:spPr>
        <p:txBody>
          <a:bodyPr wrap="square" rtlCol="0" anchor="t"/>
          <a:lstStyle/>
          <a:p>
            <a:endParaRPr lang="tr-TR" sz="1600" dirty="0">
              <a:latin typeface="Cambria" panose="02040503050406030204" pitchFamily="18" charset="0"/>
              <a:ea typeface="Cambria" panose="02040503050406030204" pitchFamily="18" charset="0"/>
            </a:endParaRPr>
          </a:p>
          <a:p>
            <a:endParaRPr lang="tr-TR" sz="1600" dirty="0">
              <a:latin typeface="Cambria" panose="02040503050406030204" pitchFamily="18" charset="0"/>
              <a:ea typeface="Cambria" panose="02040503050406030204" pitchFamily="18" charset="0"/>
            </a:endParaRPr>
          </a:p>
          <a:p>
            <a:endParaRPr lang="tr-TR" sz="1600" dirty="0">
              <a:latin typeface="Cambria" panose="02040503050406030204" pitchFamily="18" charset="0"/>
              <a:ea typeface="Cambria" panose="02040503050406030204" pitchFamily="18" charset="0"/>
            </a:endParaRPr>
          </a:p>
          <a:p>
            <a:endParaRPr lang="tr-TR" sz="1600" dirty="0">
              <a:latin typeface="Cambria" panose="02040503050406030204" pitchFamily="18" charset="0"/>
              <a:ea typeface="Cambria" panose="02040503050406030204" pitchFamily="18" charset="0"/>
            </a:endParaRPr>
          </a:p>
          <a:p>
            <a:endParaRPr lang="tr-TR" sz="1600" dirty="0">
              <a:latin typeface="Cambria" panose="02040503050406030204" pitchFamily="18" charset="0"/>
              <a:ea typeface="Cambria" panose="02040503050406030204" pitchFamily="18" charset="0"/>
            </a:endParaRPr>
          </a:p>
        </p:txBody>
      </p:sp>
      <p:sp>
        <p:nvSpPr>
          <p:cNvPr id="44" name="Shape 42"/>
          <p:cNvSpPr/>
          <p:nvPr/>
        </p:nvSpPr>
        <p:spPr>
          <a:xfrm>
            <a:off x="7001195" y="18820798"/>
            <a:ext cx="10678729" cy="475488"/>
          </a:xfrm>
          <a:prstGeom prst="rect">
            <a:avLst/>
          </a:prstGeom>
          <a:solidFill>
            <a:schemeClr val="accent2"/>
          </a:solidFill>
          <a:ln w="12700">
            <a:noFill/>
            <a:prstDash val="solid"/>
          </a:ln>
        </p:spPr>
        <p:txBody>
          <a:bodyPr/>
          <a:lstStyle/>
          <a:p>
            <a:endParaRPr lang="en-US" sz="2800"/>
          </a:p>
        </p:txBody>
      </p:sp>
      <p:sp>
        <p:nvSpPr>
          <p:cNvPr id="45" name="Text 43"/>
          <p:cNvSpPr/>
          <p:nvPr/>
        </p:nvSpPr>
        <p:spPr>
          <a:xfrm>
            <a:off x="7001195" y="18820798"/>
            <a:ext cx="10678729" cy="475488"/>
          </a:xfrm>
          <a:prstGeom prst="rect">
            <a:avLst/>
          </a:prstGeom>
          <a:noFill/>
          <a:ln/>
        </p:spPr>
        <p:txBody>
          <a:bodyPr wrap="square" rtlCol="0" anchor="ctr"/>
          <a:lstStyle/>
          <a:p>
            <a:pPr marL="0" indent="0" algn="ctr">
              <a:buNone/>
            </a:pPr>
            <a:r>
              <a:rPr lang="en-US" sz="2000" b="1" kern="0" spc="200" dirty="0">
                <a:solidFill>
                  <a:srgbClr val="FFFFFF"/>
                </a:solidFill>
                <a:latin typeface="Calibri" pitchFamily="34" charset="0"/>
                <a:ea typeface="Calibri" pitchFamily="34" charset="-122"/>
                <a:cs typeface="Calibri" pitchFamily="34" charset="-120"/>
              </a:rPr>
              <a:t>SONUÇ VE ÖNERİLER</a:t>
            </a:r>
            <a:endParaRPr lang="en-US" sz="2000" dirty="0"/>
          </a:p>
        </p:txBody>
      </p:sp>
      <p:sp>
        <p:nvSpPr>
          <p:cNvPr id="46" name="Shape 44"/>
          <p:cNvSpPr/>
          <p:nvPr/>
        </p:nvSpPr>
        <p:spPr>
          <a:xfrm>
            <a:off x="7001195" y="19295838"/>
            <a:ext cx="10678729" cy="4669672"/>
          </a:xfrm>
          <a:prstGeom prst="rect">
            <a:avLst/>
          </a:prstGeom>
          <a:solidFill>
            <a:srgbClr val="FFFFFF"/>
          </a:solidFill>
          <a:ln w="6350">
            <a:solidFill>
              <a:srgbClr val="C2CDD8"/>
            </a:solidFill>
            <a:prstDash val="solid"/>
          </a:ln>
        </p:spPr>
        <p:txBody>
          <a:bodyPr/>
          <a:lstStyle/>
          <a:p>
            <a:endParaRPr lang="en-US" sz="2800"/>
          </a:p>
        </p:txBody>
      </p:sp>
      <p:sp>
        <p:nvSpPr>
          <p:cNvPr id="47" name="Text 45"/>
          <p:cNvSpPr/>
          <p:nvPr/>
        </p:nvSpPr>
        <p:spPr>
          <a:xfrm>
            <a:off x="7165787" y="19346877"/>
            <a:ext cx="10349545" cy="4523397"/>
          </a:xfrm>
          <a:prstGeom prst="rect">
            <a:avLst/>
          </a:prstGeom>
          <a:noFill/>
          <a:ln/>
        </p:spPr>
        <p:txBody>
          <a:bodyPr wrap="square" rtlCol="0" anchor="t"/>
          <a:lstStyle/>
          <a:p>
            <a:r>
              <a:rPr lang="tr-TR" sz="1700" dirty="0">
                <a:ea typeface="Cambria" panose="02040503050406030204" pitchFamily="18" charset="0"/>
              </a:rPr>
              <a:t>Tek kameradan, ek donanım gerektirmeden park yeri analizi, metrik ölçüm ve sürücü yönlendirmesi gerçekleştirilmiştir. Adaptif tespit yaklaşımı sayesinde sistem hem çizgili otoparklarda hem de çizgisiz yol kenarı park alanlarında çalışabilmektedir. Gündüz ve çizgili koşullarda boş/dolu ayrımı yüksek isabetle yapılmakta; sistem etkileşimli hızda çalışmaktadır.</a:t>
            </a:r>
          </a:p>
          <a:p>
            <a:endParaRPr lang="tr-TR" sz="1700" dirty="0">
              <a:ea typeface="Cambria" panose="02040503050406030204" pitchFamily="18" charset="0"/>
            </a:endParaRPr>
          </a:p>
          <a:p>
            <a:r>
              <a:rPr lang="tr-TR" sz="1700" dirty="0">
                <a:ea typeface="Cambria" panose="02040503050406030204" pitchFamily="18" charset="0"/>
              </a:rPr>
              <a:t>Proje kapsamında edinilen kazanımlar:</a:t>
            </a:r>
            <a:br>
              <a:rPr lang="tr-TR" sz="1700" dirty="0">
                <a:ea typeface="Cambria" panose="02040503050406030204" pitchFamily="18" charset="0"/>
              </a:rPr>
            </a:br>
            <a:r>
              <a:rPr lang="tr-TR" sz="1700" dirty="0">
                <a:ea typeface="Cambria" panose="02040503050406030204" pitchFamily="18" charset="0"/>
              </a:rPr>
              <a:t>	• Bilgisayarlı görü ve derin öğrenme uygulama deneyimi </a:t>
            </a:r>
          </a:p>
          <a:p>
            <a:r>
              <a:rPr lang="tr-TR" sz="1700" dirty="0">
                <a:ea typeface="Cambria" panose="02040503050406030204" pitchFamily="18" charset="0"/>
              </a:rPr>
              <a:t>	• Geometrik bilgisayarlı görü, ters perspektif dönüşümü </a:t>
            </a:r>
          </a:p>
          <a:p>
            <a:r>
              <a:rPr lang="tr-TR" sz="1700" dirty="0">
                <a:ea typeface="Cambria" panose="02040503050406030204" pitchFamily="18" charset="0"/>
              </a:rPr>
              <a:t>	• Gerçek-zamanlı sistem tasarımı ve performans optimizasyonu </a:t>
            </a:r>
          </a:p>
          <a:p>
            <a:r>
              <a:rPr lang="tr-TR" sz="1700" dirty="0">
                <a:ea typeface="Cambria" panose="02040503050406030204" pitchFamily="18" charset="0"/>
              </a:rPr>
              <a:t>	• Yazılım mühendisliği disiplini: modüler mimari ve 211 otomatik test </a:t>
            </a:r>
          </a:p>
          <a:p>
            <a:r>
              <a:rPr lang="tr-TR" sz="1700" dirty="0">
                <a:ea typeface="Cambria" panose="02040503050406030204" pitchFamily="18" charset="0"/>
              </a:rPr>
              <a:t>	• Bilimsel değerlendirme: metrik, </a:t>
            </a:r>
            <a:r>
              <a:rPr lang="tr-TR" sz="1700" dirty="0" err="1">
                <a:ea typeface="Cambria" panose="02040503050406030204" pitchFamily="18" charset="0"/>
              </a:rPr>
              <a:t>ablation</a:t>
            </a:r>
            <a:r>
              <a:rPr lang="tr-TR" sz="1700" dirty="0">
                <a:ea typeface="Cambria" panose="02040503050406030204" pitchFamily="18" charset="0"/>
              </a:rPr>
              <a:t> ve veri seti tabanlı analiz</a:t>
            </a:r>
          </a:p>
          <a:p>
            <a:endParaRPr lang="tr-TR" sz="1700" dirty="0">
              <a:ea typeface="Cambria" panose="02040503050406030204" pitchFamily="18" charset="0"/>
            </a:endParaRPr>
          </a:p>
          <a:p>
            <a:r>
              <a:rPr lang="tr-TR" sz="1700" dirty="0">
                <a:ea typeface="Cambria" panose="02040503050406030204" pitchFamily="18" charset="0"/>
              </a:rPr>
              <a:t>İleriye dönük öneriler: </a:t>
            </a:r>
          </a:p>
          <a:p>
            <a:r>
              <a:rPr lang="tr-TR" sz="1700" dirty="0">
                <a:ea typeface="Cambria" panose="02040503050406030204" pitchFamily="18" charset="0"/>
              </a:rPr>
              <a:t>	• Kendi verisiyle eğitilen doluluk sınıflandırıcı ile gece/zor koşullarda doğruluğun artırılması </a:t>
            </a:r>
          </a:p>
          <a:p>
            <a:r>
              <a:rPr lang="tr-TR" sz="1700" dirty="0">
                <a:ea typeface="Cambria" panose="02040503050406030204" pitchFamily="18" charset="0"/>
              </a:rPr>
              <a:t>	• İşlem hattının hızlandırılması ile yüksek kare hızına ulaşılması </a:t>
            </a:r>
          </a:p>
          <a:p>
            <a:r>
              <a:rPr lang="tr-TR" sz="1700" dirty="0">
                <a:ea typeface="Cambria" panose="02040503050406030204" pitchFamily="18" charset="0"/>
              </a:rPr>
              <a:t>	• Çoklu kamera füzyonu ile tüm otoparkın tek haritada birleştirilmesi, </a:t>
            </a:r>
          </a:p>
          <a:p>
            <a:r>
              <a:rPr lang="tr-TR" sz="1700" dirty="0">
                <a:ea typeface="Cambria" panose="02040503050406030204" pitchFamily="18" charset="0"/>
              </a:rPr>
              <a:t>	• Gerçek veri seti üzerinde ince ayar ve karşılaştırmalı değerlendirme.</a:t>
            </a:r>
          </a:p>
        </p:txBody>
      </p:sp>
      <p:sp>
        <p:nvSpPr>
          <p:cNvPr id="52" name="Shape 50"/>
          <p:cNvSpPr/>
          <p:nvPr/>
        </p:nvSpPr>
        <p:spPr>
          <a:xfrm>
            <a:off x="0" y="24056950"/>
            <a:ext cx="17999964" cy="73152"/>
          </a:xfrm>
          <a:prstGeom prst="rect">
            <a:avLst/>
          </a:prstGeom>
          <a:solidFill>
            <a:srgbClr val="E8A020"/>
          </a:solidFill>
          <a:ln w="12700">
            <a:solidFill>
              <a:srgbClr val="E8A020"/>
            </a:solidFill>
            <a:prstDash val="solid"/>
          </a:ln>
        </p:spPr>
        <p:txBody>
          <a:bodyPr/>
          <a:lstStyle/>
          <a:p>
            <a:endParaRPr lang="en-US" sz="2800"/>
          </a:p>
        </p:txBody>
      </p:sp>
      <p:sp>
        <p:nvSpPr>
          <p:cNvPr id="53" name="Shape 51"/>
          <p:cNvSpPr>
            <a:spLocks noGrp="1" noRot="1" noMove="1" noResize="1" noEditPoints="1" noAdjustHandles="1" noChangeArrowheads="1" noChangeShapeType="1"/>
          </p:cNvSpPr>
          <p:nvPr/>
        </p:nvSpPr>
        <p:spPr>
          <a:xfrm>
            <a:off x="0" y="24130102"/>
            <a:ext cx="17999964" cy="1069848"/>
          </a:xfrm>
          <a:prstGeom prst="rect">
            <a:avLst/>
          </a:prstGeom>
          <a:solidFill>
            <a:srgbClr val="0D2B5E"/>
          </a:solidFill>
          <a:ln w="12700">
            <a:solidFill>
              <a:srgbClr val="0D2B5E"/>
            </a:solidFill>
            <a:prstDash val="solid"/>
          </a:ln>
        </p:spPr>
        <p:txBody>
          <a:bodyPr/>
          <a:lstStyle/>
          <a:p>
            <a:endParaRPr lang="en-US" sz="2800"/>
          </a:p>
        </p:txBody>
      </p:sp>
      <p:sp>
        <p:nvSpPr>
          <p:cNvPr id="54" name="Text 52"/>
          <p:cNvSpPr/>
          <p:nvPr/>
        </p:nvSpPr>
        <p:spPr>
          <a:xfrm>
            <a:off x="457200" y="24194110"/>
            <a:ext cx="17085564" cy="502920"/>
          </a:xfrm>
          <a:prstGeom prst="rect">
            <a:avLst/>
          </a:prstGeom>
          <a:noFill/>
          <a:ln/>
        </p:spPr>
        <p:txBody>
          <a:bodyPr wrap="square" rtlCol="0" anchor="ctr"/>
          <a:lstStyle/>
          <a:p>
            <a:pPr marL="0" indent="0" algn="ctr">
              <a:buNone/>
            </a:pPr>
            <a:r>
              <a:rPr lang="en-US" dirty="0">
                <a:solidFill>
                  <a:srgbClr val="A0B8D8"/>
                </a:solidFill>
                <a:latin typeface="Calibri" pitchFamily="34" charset="0"/>
                <a:ea typeface="Calibri" pitchFamily="34" charset="-122"/>
                <a:cs typeface="Calibri" pitchFamily="34" charset="-120"/>
              </a:rPr>
              <a:t>BALIKESİR UNİVERSİTESİ | MÜHENDİSLİK FAKÜLTESİ / BİLGİSAYAR MÜHENDİSLİĞİ |  HAZİRAN/ 2026</a:t>
            </a:r>
            <a:endParaRPr lang="en-US" dirty="0"/>
          </a:p>
        </p:txBody>
      </p:sp>
      <p:sp>
        <p:nvSpPr>
          <p:cNvPr id="55" name="Text 53"/>
          <p:cNvSpPr/>
          <p:nvPr/>
        </p:nvSpPr>
        <p:spPr>
          <a:xfrm>
            <a:off x="457200" y="24651310"/>
            <a:ext cx="17085564" cy="384048"/>
          </a:xfrm>
          <a:prstGeom prst="rect">
            <a:avLst/>
          </a:prstGeom>
          <a:noFill/>
          <a:ln/>
        </p:spPr>
        <p:txBody>
          <a:bodyPr wrap="square" rtlCol="0" anchor="ctr"/>
          <a:lstStyle/>
          <a:p>
            <a:pPr algn="ctr"/>
            <a:r>
              <a:rPr lang="en-US" sz="1600" i="1" dirty="0">
                <a:solidFill>
                  <a:srgbClr val="6A8AAE"/>
                </a:solidFill>
                <a:latin typeface="Calibri" pitchFamily="34" charset="0"/>
                <a:cs typeface="Calibri" pitchFamily="34" charset="-120"/>
                <a:hlinkClick r:id="rId3">
                  <a:extLst>
                    <a:ext uri="{A12FA001-AC4F-418D-AE19-62706E023703}">
                      <ahyp:hlinkClr xmlns:ahyp="http://schemas.microsoft.com/office/drawing/2018/hyperlinkcolor" val="tx"/>
                    </a:ext>
                  </a:extLst>
                </a:hlinkClick>
              </a:rPr>
              <a:t>ceng@balikesir.edu.tr</a:t>
            </a:r>
            <a:r>
              <a:rPr lang="en-US" sz="1600" i="1" dirty="0">
                <a:solidFill>
                  <a:srgbClr val="6A8AAE"/>
                </a:solidFill>
                <a:latin typeface="Calibri" pitchFamily="34" charset="0"/>
                <a:cs typeface="Calibri" pitchFamily="34" charset="-120"/>
              </a:rPr>
              <a:t> </a:t>
            </a:r>
            <a:r>
              <a:rPr lang="en-US" sz="1600" i="1" dirty="0">
                <a:solidFill>
                  <a:srgbClr val="6A8AAE"/>
                </a:solidFill>
                <a:latin typeface="Calibri" pitchFamily="34" charset="0"/>
                <a:ea typeface="Calibri" pitchFamily="34" charset="-122"/>
                <a:cs typeface="Calibri" pitchFamily="34" charset="-120"/>
              </a:rPr>
              <a:t>|  https://</a:t>
            </a:r>
            <a:r>
              <a:rPr lang="en-US" sz="1600" i="1" dirty="0" err="1">
                <a:solidFill>
                  <a:srgbClr val="6A8AAE"/>
                </a:solidFill>
                <a:latin typeface="Calibri" pitchFamily="34" charset="0"/>
                <a:ea typeface="Calibri" pitchFamily="34" charset="-122"/>
                <a:cs typeface="Calibri" pitchFamily="34" charset="-120"/>
              </a:rPr>
              <a:t>ceng.balikesir.edu.tr</a:t>
            </a:r>
            <a:endParaRPr lang="en-US" sz="1600" dirty="0"/>
          </a:p>
        </p:txBody>
      </p:sp>
      <p:sp>
        <p:nvSpPr>
          <p:cNvPr id="60" name="Shape 34">
            <a:extLst>
              <a:ext uri="{FF2B5EF4-FFF2-40B4-BE49-F238E27FC236}">
                <a16:creationId xmlns:a16="http://schemas.microsoft.com/office/drawing/2014/main" id="{748B1AB5-7DAA-7F59-B4B0-01745B24F498}"/>
              </a:ext>
            </a:extLst>
          </p:cNvPr>
          <p:cNvSpPr/>
          <p:nvPr/>
        </p:nvSpPr>
        <p:spPr>
          <a:xfrm>
            <a:off x="7001195" y="8947412"/>
            <a:ext cx="10678729" cy="475488"/>
          </a:xfrm>
          <a:prstGeom prst="rect">
            <a:avLst/>
          </a:prstGeom>
          <a:solidFill>
            <a:srgbClr val="0F7B6C"/>
          </a:solidFill>
          <a:ln w="12700">
            <a:noFill/>
            <a:prstDash val="solid"/>
          </a:ln>
        </p:spPr>
        <p:txBody>
          <a:bodyPr/>
          <a:lstStyle/>
          <a:p>
            <a:endParaRPr lang="en-US" sz="2800"/>
          </a:p>
        </p:txBody>
      </p:sp>
      <p:sp>
        <p:nvSpPr>
          <p:cNvPr id="61" name="Text 35">
            <a:extLst>
              <a:ext uri="{FF2B5EF4-FFF2-40B4-BE49-F238E27FC236}">
                <a16:creationId xmlns:a16="http://schemas.microsoft.com/office/drawing/2014/main" id="{D42A21DD-F545-BA91-51BA-A3EB0EFEDF69}"/>
              </a:ext>
            </a:extLst>
          </p:cNvPr>
          <p:cNvSpPr/>
          <p:nvPr/>
        </p:nvSpPr>
        <p:spPr>
          <a:xfrm>
            <a:off x="7001195" y="8961534"/>
            <a:ext cx="10678729" cy="475488"/>
          </a:xfrm>
          <a:prstGeom prst="rect">
            <a:avLst/>
          </a:prstGeom>
          <a:noFill/>
          <a:ln/>
        </p:spPr>
        <p:txBody>
          <a:bodyPr wrap="square" rtlCol="0" anchor="ctr"/>
          <a:lstStyle/>
          <a:p>
            <a:pPr marL="0" indent="0" algn="ctr">
              <a:buNone/>
            </a:pPr>
            <a:r>
              <a:rPr lang="tr-TR" sz="2000" b="1" kern="0" spc="200" dirty="0">
                <a:solidFill>
                  <a:srgbClr val="FFFFFF"/>
                </a:solidFill>
                <a:latin typeface="Calibri" pitchFamily="34" charset="0"/>
                <a:ea typeface="Calibri" pitchFamily="34" charset="-122"/>
                <a:cs typeface="Calibri" pitchFamily="34" charset="-120"/>
              </a:rPr>
              <a:t>KULLANILAN TEKNOLOJİLER</a:t>
            </a:r>
            <a:endParaRPr lang="en-US" sz="2000" dirty="0"/>
          </a:p>
        </p:txBody>
      </p:sp>
      <p:sp>
        <p:nvSpPr>
          <p:cNvPr id="62" name="Shape 36">
            <a:extLst>
              <a:ext uri="{FF2B5EF4-FFF2-40B4-BE49-F238E27FC236}">
                <a16:creationId xmlns:a16="http://schemas.microsoft.com/office/drawing/2014/main" id="{1C608D31-06EA-579E-2A21-FB9127B9DD0D}"/>
              </a:ext>
            </a:extLst>
          </p:cNvPr>
          <p:cNvSpPr/>
          <p:nvPr/>
        </p:nvSpPr>
        <p:spPr>
          <a:xfrm>
            <a:off x="7001195" y="9422900"/>
            <a:ext cx="10678729" cy="2060448"/>
          </a:xfrm>
          <a:prstGeom prst="rect">
            <a:avLst/>
          </a:prstGeom>
          <a:solidFill>
            <a:srgbClr val="FFFFFF"/>
          </a:solidFill>
          <a:ln w="6350">
            <a:solidFill>
              <a:srgbClr val="C2CDD8"/>
            </a:solidFill>
            <a:prstDash val="solid"/>
          </a:ln>
        </p:spPr>
        <p:txBody>
          <a:bodyPr/>
          <a:lstStyle/>
          <a:p>
            <a:endParaRPr lang="en-US" sz="2800" dirty="0"/>
          </a:p>
        </p:txBody>
      </p:sp>
      <p:sp>
        <p:nvSpPr>
          <p:cNvPr id="63" name="Text 37">
            <a:extLst>
              <a:ext uri="{FF2B5EF4-FFF2-40B4-BE49-F238E27FC236}">
                <a16:creationId xmlns:a16="http://schemas.microsoft.com/office/drawing/2014/main" id="{7DE20C3E-7006-BA54-0BED-305277B1E107}"/>
              </a:ext>
            </a:extLst>
          </p:cNvPr>
          <p:cNvSpPr/>
          <p:nvPr/>
        </p:nvSpPr>
        <p:spPr>
          <a:xfrm>
            <a:off x="7165787" y="9463294"/>
            <a:ext cx="10349545" cy="1821933"/>
          </a:xfrm>
          <a:prstGeom prst="rect">
            <a:avLst/>
          </a:prstGeom>
          <a:noFill/>
          <a:ln/>
        </p:spPr>
        <p:txBody>
          <a:bodyPr wrap="square" rtlCol="0" anchor="t"/>
          <a:lstStyle/>
          <a:p>
            <a:endParaRPr lang="tr-TR" sz="1600" dirty="0">
              <a:latin typeface="Cambria" panose="02040503050406030204" pitchFamily="18" charset="0"/>
              <a:ea typeface="Cambria" panose="02040503050406030204" pitchFamily="18" charset="0"/>
            </a:endParaRPr>
          </a:p>
        </p:txBody>
      </p:sp>
      <p:pic>
        <p:nvPicPr>
          <p:cNvPr id="64" name="Google Shape;103;p1" descr="BAÜN logo">
            <a:extLst>
              <a:ext uri="{FF2B5EF4-FFF2-40B4-BE49-F238E27FC236}">
                <a16:creationId xmlns:a16="http://schemas.microsoft.com/office/drawing/2014/main" id="{5E5ECE10-952D-3918-F5B3-764558DE873B}"/>
              </a:ext>
            </a:extLst>
          </p:cNvPr>
          <p:cNvPicPr preferRelativeResize="0">
            <a:picLocks noGrp="1" noRot="1" noMove="1" noResize="1" noEditPoints="1" noAdjustHandles="1" noChangeArrowheads="1" noChangeShapeType="1" noCrop="1"/>
          </p:cNvPicPr>
          <p:nvPr/>
        </p:nvPicPr>
        <p:blipFill rotWithShape="1">
          <a:blip r:embed="rId4">
            <a:alphaModFix/>
          </a:blip>
          <a:srcRect/>
          <a:stretch/>
        </p:blipFill>
        <p:spPr>
          <a:xfrm>
            <a:off x="15283119" y="157414"/>
            <a:ext cx="2053361" cy="1909130"/>
          </a:xfrm>
          <a:prstGeom prst="rect">
            <a:avLst/>
          </a:prstGeom>
          <a:noFill/>
          <a:ln>
            <a:noFill/>
          </a:ln>
        </p:spPr>
      </p:pic>
      <p:pic>
        <p:nvPicPr>
          <p:cNvPr id="65" name="Google Shape;108;p1">
            <a:extLst>
              <a:ext uri="{FF2B5EF4-FFF2-40B4-BE49-F238E27FC236}">
                <a16:creationId xmlns:a16="http://schemas.microsoft.com/office/drawing/2014/main" id="{EFC78D4B-485A-9F84-CBFA-5288D3601F18}"/>
              </a:ext>
            </a:extLst>
          </p:cNvPr>
          <p:cNvPicPr preferRelativeResize="0">
            <a:picLocks noGrp="1" noRot="1" noMove="1" noResize="1" noEditPoints="1" noAdjustHandles="1" noChangeArrowheads="1" noChangeShapeType="1" noCrop="1"/>
          </p:cNvPicPr>
          <p:nvPr/>
        </p:nvPicPr>
        <p:blipFill rotWithShape="1">
          <a:blip r:embed="rId5">
            <a:alphaModFix/>
          </a:blip>
          <a:srcRect l="19958" t="17834" r="19356" b="21100"/>
          <a:stretch/>
        </p:blipFill>
        <p:spPr>
          <a:xfrm>
            <a:off x="720411" y="105591"/>
            <a:ext cx="2053361" cy="1981200"/>
          </a:xfrm>
          <a:prstGeom prst="rect">
            <a:avLst/>
          </a:prstGeom>
          <a:noFill/>
          <a:ln>
            <a:noFill/>
          </a:ln>
        </p:spPr>
      </p:pic>
      <p:sp>
        <p:nvSpPr>
          <p:cNvPr id="5" name="Text 13">
            <a:extLst>
              <a:ext uri="{FF2B5EF4-FFF2-40B4-BE49-F238E27FC236}">
                <a16:creationId xmlns:a16="http://schemas.microsoft.com/office/drawing/2014/main" id="{96D9EE6F-6EC6-CD75-DD8F-26D4810E4926}"/>
              </a:ext>
            </a:extLst>
          </p:cNvPr>
          <p:cNvSpPr/>
          <p:nvPr/>
        </p:nvSpPr>
        <p:spPr>
          <a:xfrm>
            <a:off x="6989795" y="3249945"/>
            <a:ext cx="3270259" cy="239268"/>
          </a:xfrm>
          <a:prstGeom prst="rect">
            <a:avLst/>
          </a:prstGeom>
          <a:noFill/>
          <a:ln/>
        </p:spPr>
        <p:txBody>
          <a:bodyPr wrap="square" rtlCol="0" anchor="ctr"/>
          <a:lstStyle/>
          <a:p>
            <a:r>
              <a:rPr lang="en-US" sz="1600" i="1" dirty="0">
                <a:solidFill>
                  <a:srgbClr val="6B7280"/>
                </a:solidFill>
                <a:latin typeface="Calibri" pitchFamily="34" charset="0"/>
                <a:ea typeface="Calibri" pitchFamily="34" charset="-122"/>
                <a:cs typeface="Calibri" pitchFamily="34" charset="-120"/>
              </a:rPr>
              <a:t>[</a:t>
            </a:r>
            <a:r>
              <a:rPr lang="tr-TR" sz="1600" i="1" dirty="0">
                <a:solidFill>
                  <a:srgbClr val="6B7280"/>
                </a:solidFill>
                <a:latin typeface="Calibri" pitchFamily="34" charset="0"/>
                <a:ea typeface="Calibri" pitchFamily="34" charset="-122"/>
                <a:cs typeface="Calibri" pitchFamily="34" charset="-120"/>
              </a:rPr>
              <a:t>Bilgisayar Mühendisliği</a:t>
            </a:r>
            <a:r>
              <a:rPr lang="en-US" sz="1600" i="1" dirty="0">
                <a:solidFill>
                  <a:srgbClr val="6B7280"/>
                </a:solidFill>
                <a:latin typeface="Calibri" pitchFamily="34" charset="0"/>
                <a:ea typeface="Calibri" pitchFamily="34" charset="-122"/>
                <a:cs typeface="Calibri" pitchFamily="34" charset="-120"/>
              </a:rPr>
              <a:t> / </a:t>
            </a:r>
            <a:r>
              <a:rPr lang="tr-TR" sz="1600" i="1" dirty="0">
                <a:solidFill>
                  <a:srgbClr val="6B7280"/>
                </a:solidFill>
                <a:latin typeface="Calibri" pitchFamily="34" charset="0"/>
                <a:ea typeface="Calibri" pitchFamily="34" charset="-122"/>
                <a:cs typeface="Calibri" pitchFamily="34" charset="-120"/>
              </a:rPr>
              <a:t>4. </a:t>
            </a:r>
            <a:r>
              <a:rPr lang="en-US" sz="1600" i="1" dirty="0" err="1">
                <a:solidFill>
                  <a:srgbClr val="6B7280"/>
                </a:solidFill>
                <a:latin typeface="Calibri" pitchFamily="34" charset="0"/>
                <a:ea typeface="Calibri" pitchFamily="34" charset="-122"/>
                <a:cs typeface="Calibri" pitchFamily="34" charset="-120"/>
              </a:rPr>
              <a:t>Sınıf</a:t>
            </a:r>
            <a:r>
              <a:rPr lang="en-US" sz="1600" i="1" dirty="0">
                <a:solidFill>
                  <a:srgbClr val="6B7280"/>
                </a:solidFill>
                <a:latin typeface="Calibri" pitchFamily="34" charset="0"/>
                <a:ea typeface="Calibri" pitchFamily="34" charset="-122"/>
                <a:cs typeface="Calibri" pitchFamily="34" charset="-120"/>
              </a:rPr>
              <a:t>]</a:t>
            </a:r>
            <a:endParaRPr lang="en-US" sz="1600" dirty="0"/>
          </a:p>
        </p:txBody>
      </p:sp>
      <p:sp>
        <p:nvSpPr>
          <p:cNvPr id="66" name="Text 16">
            <a:extLst>
              <a:ext uri="{FF2B5EF4-FFF2-40B4-BE49-F238E27FC236}">
                <a16:creationId xmlns:a16="http://schemas.microsoft.com/office/drawing/2014/main" id="{DF67A630-0B6D-1A4D-60A6-0898252750DF}"/>
              </a:ext>
            </a:extLst>
          </p:cNvPr>
          <p:cNvSpPr/>
          <p:nvPr/>
        </p:nvSpPr>
        <p:spPr>
          <a:xfrm>
            <a:off x="3677714" y="2721422"/>
            <a:ext cx="2889490" cy="502920"/>
          </a:xfrm>
          <a:prstGeom prst="rect">
            <a:avLst/>
          </a:prstGeom>
          <a:noFill/>
          <a:ln/>
        </p:spPr>
        <p:txBody>
          <a:bodyPr wrap="square" rtlCol="0" anchor="ctr"/>
          <a:lstStyle/>
          <a:p>
            <a:r>
              <a:rPr lang="tr-TR" sz="2400" b="1" dirty="0">
                <a:solidFill>
                  <a:srgbClr val="1A2340"/>
                </a:solidFill>
                <a:latin typeface="Calibri" pitchFamily="34" charset="0"/>
                <a:ea typeface="Calibri" pitchFamily="34" charset="-122"/>
                <a:cs typeface="Calibri" pitchFamily="34" charset="-120"/>
              </a:rPr>
              <a:t>Ahmet EKŞİOĞLU</a:t>
            </a:r>
            <a:endParaRPr lang="en-US" sz="2400" dirty="0"/>
          </a:p>
        </p:txBody>
      </p:sp>
      <p:sp>
        <p:nvSpPr>
          <p:cNvPr id="67" name="Text 15">
            <a:extLst>
              <a:ext uri="{FF2B5EF4-FFF2-40B4-BE49-F238E27FC236}">
                <a16:creationId xmlns:a16="http://schemas.microsoft.com/office/drawing/2014/main" id="{BD03A272-0DB3-F522-D8A5-92912C7222AC}"/>
              </a:ext>
            </a:extLst>
          </p:cNvPr>
          <p:cNvSpPr/>
          <p:nvPr/>
        </p:nvSpPr>
        <p:spPr>
          <a:xfrm>
            <a:off x="3677714" y="2408608"/>
            <a:ext cx="2358562" cy="295656"/>
          </a:xfrm>
          <a:prstGeom prst="rect">
            <a:avLst/>
          </a:prstGeom>
          <a:noFill/>
          <a:ln/>
        </p:spPr>
        <p:txBody>
          <a:bodyPr wrap="square" rtlCol="0" anchor="ctr"/>
          <a:lstStyle/>
          <a:p>
            <a:r>
              <a:rPr lang="en-US" sz="1600" dirty="0" err="1">
                <a:solidFill>
                  <a:srgbClr val="6B7280"/>
                </a:solidFill>
                <a:latin typeface="Calibri" pitchFamily="34" charset="0"/>
                <a:ea typeface="Calibri" pitchFamily="34" charset="-122"/>
                <a:cs typeface="Calibri" pitchFamily="34" charset="-120"/>
              </a:rPr>
              <a:t>Proje</a:t>
            </a:r>
            <a:r>
              <a:rPr lang="en-US" sz="1600" dirty="0">
                <a:solidFill>
                  <a:srgbClr val="6B7280"/>
                </a:solidFill>
                <a:latin typeface="Calibri" pitchFamily="34" charset="0"/>
                <a:ea typeface="Calibri" pitchFamily="34" charset="-122"/>
                <a:cs typeface="Calibri" pitchFamily="34" charset="-120"/>
              </a:rPr>
              <a:t> </a:t>
            </a:r>
            <a:r>
              <a:rPr lang="en-US" sz="1600" dirty="0" err="1">
                <a:solidFill>
                  <a:srgbClr val="6B7280"/>
                </a:solidFill>
                <a:latin typeface="Calibri" pitchFamily="34" charset="0"/>
                <a:ea typeface="Calibri" pitchFamily="34" charset="-122"/>
                <a:cs typeface="Calibri" pitchFamily="34" charset="-120"/>
              </a:rPr>
              <a:t>Öğrencisi</a:t>
            </a:r>
            <a:endParaRPr lang="en-US" sz="1600" dirty="0"/>
          </a:p>
        </p:txBody>
      </p:sp>
      <p:sp>
        <p:nvSpPr>
          <p:cNvPr id="68" name="Text 13">
            <a:extLst>
              <a:ext uri="{FF2B5EF4-FFF2-40B4-BE49-F238E27FC236}">
                <a16:creationId xmlns:a16="http://schemas.microsoft.com/office/drawing/2014/main" id="{D0AC3D07-2161-9B9E-36CD-91241BC8D17D}"/>
              </a:ext>
            </a:extLst>
          </p:cNvPr>
          <p:cNvSpPr/>
          <p:nvPr/>
        </p:nvSpPr>
        <p:spPr>
          <a:xfrm>
            <a:off x="3677714" y="3240294"/>
            <a:ext cx="3270259" cy="239268"/>
          </a:xfrm>
          <a:prstGeom prst="rect">
            <a:avLst/>
          </a:prstGeom>
          <a:noFill/>
          <a:ln/>
        </p:spPr>
        <p:txBody>
          <a:bodyPr wrap="square" rtlCol="0" anchor="ctr"/>
          <a:lstStyle/>
          <a:p>
            <a:r>
              <a:rPr lang="en-US" sz="1600" i="1" dirty="0">
                <a:solidFill>
                  <a:srgbClr val="6B7280"/>
                </a:solidFill>
                <a:latin typeface="Calibri" pitchFamily="34" charset="0"/>
                <a:ea typeface="Calibri" pitchFamily="34" charset="-122"/>
                <a:cs typeface="Calibri" pitchFamily="34" charset="-120"/>
              </a:rPr>
              <a:t>[</a:t>
            </a:r>
            <a:r>
              <a:rPr lang="tr-TR" sz="1600" i="1" dirty="0">
                <a:solidFill>
                  <a:srgbClr val="6B7280"/>
                </a:solidFill>
                <a:latin typeface="Calibri" pitchFamily="34" charset="0"/>
                <a:ea typeface="Calibri" pitchFamily="34" charset="-122"/>
                <a:cs typeface="Calibri" pitchFamily="34" charset="-120"/>
              </a:rPr>
              <a:t>Bilgisayar Mühendisliği</a:t>
            </a:r>
            <a:r>
              <a:rPr lang="en-US" sz="1600" i="1" dirty="0">
                <a:solidFill>
                  <a:srgbClr val="6B7280"/>
                </a:solidFill>
                <a:latin typeface="Calibri" pitchFamily="34" charset="0"/>
                <a:ea typeface="Calibri" pitchFamily="34" charset="-122"/>
                <a:cs typeface="Calibri" pitchFamily="34" charset="-120"/>
              </a:rPr>
              <a:t> / </a:t>
            </a:r>
            <a:r>
              <a:rPr lang="tr-TR" sz="1600" i="1" dirty="0">
                <a:solidFill>
                  <a:srgbClr val="6B7280"/>
                </a:solidFill>
                <a:latin typeface="Calibri" pitchFamily="34" charset="0"/>
                <a:ea typeface="Calibri" pitchFamily="34" charset="-122"/>
                <a:cs typeface="Calibri" pitchFamily="34" charset="-120"/>
              </a:rPr>
              <a:t>4. </a:t>
            </a:r>
            <a:r>
              <a:rPr lang="en-US" sz="1600" i="1" dirty="0" err="1">
                <a:solidFill>
                  <a:srgbClr val="6B7280"/>
                </a:solidFill>
                <a:latin typeface="Calibri" pitchFamily="34" charset="0"/>
                <a:ea typeface="Calibri" pitchFamily="34" charset="-122"/>
                <a:cs typeface="Calibri" pitchFamily="34" charset="-120"/>
              </a:rPr>
              <a:t>Sınıf</a:t>
            </a:r>
            <a:r>
              <a:rPr lang="en-US" sz="1600" i="1" dirty="0">
                <a:solidFill>
                  <a:srgbClr val="6B7280"/>
                </a:solidFill>
                <a:latin typeface="Calibri" pitchFamily="34" charset="0"/>
                <a:ea typeface="Calibri" pitchFamily="34" charset="-122"/>
                <a:cs typeface="Calibri" pitchFamily="34" charset="-120"/>
              </a:rPr>
              <a:t>]</a:t>
            </a:r>
            <a:endParaRPr lang="en-US" sz="1600" dirty="0"/>
          </a:p>
        </p:txBody>
      </p:sp>
      <p:pic>
        <p:nvPicPr>
          <p:cNvPr id="19" name="Resim 18" descr="metin, ekran görüntüsü, yazı tipi, sayı, numara içeren bir resim&#10;&#10;Yapay zeka tarafından oluşturulmuş içerik yanlış olabilir.">
            <a:extLst>
              <a:ext uri="{FF2B5EF4-FFF2-40B4-BE49-F238E27FC236}">
                <a16:creationId xmlns:a16="http://schemas.microsoft.com/office/drawing/2014/main" id="{B52177D3-A081-04B2-CEE9-3B13B6162CE7}"/>
              </a:ext>
            </a:extLst>
          </p:cNvPr>
          <p:cNvPicPr>
            <a:picLocks noChangeAspect="1"/>
          </p:cNvPicPr>
          <p:nvPr/>
        </p:nvPicPr>
        <p:blipFill>
          <a:blip r:embed="rId6"/>
          <a:stretch>
            <a:fillRect/>
          </a:stretch>
        </p:blipFill>
        <p:spPr>
          <a:xfrm>
            <a:off x="329185" y="14414508"/>
            <a:ext cx="6441732" cy="9551001"/>
          </a:xfrm>
          <a:prstGeom prst="rect">
            <a:avLst/>
          </a:prstGeom>
        </p:spPr>
      </p:pic>
      <p:pic>
        <p:nvPicPr>
          <p:cNvPr id="50" name="Resim 49" descr="metin, ekran görüntüsü, yazılım, bilgisayar simgesi içeren bir resim&#10;&#10;Yapay zeka tarafından oluşturulmuş içerik yanlış olabilir.">
            <a:extLst>
              <a:ext uri="{FF2B5EF4-FFF2-40B4-BE49-F238E27FC236}">
                <a16:creationId xmlns:a16="http://schemas.microsoft.com/office/drawing/2014/main" id="{5EAE71D2-BF22-A817-515A-AA3FEFF5B97D}"/>
              </a:ext>
            </a:extLst>
          </p:cNvPr>
          <p:cNvPicPr>
            <a:picLocks noChangeAspect="1"/>
          </p:cNvPicPr>
          <p:nvPr/>
        </p:nvPicPr>
        <p:blipFill>
          <a:blip r:embed="rId7"/>
          <a:stretch>
            <a:fillRect/>
          </a:stretch>
        </p:blipFill>
        <p:spPr>
          <a:xfrm>
            <a:off x="329185" y="14556778"/>
            <a:ext cx="6470842" cy="9408732"/>
          </a:xfrm>
          <a:prstGeom prst="rect">
            <a:avLst/>
          </a:prstGeom>
        </p:spPr>
      </p:pic>
      <p:pic>
        <p:nvPicPr>
          <p:cNvPr id="56" name="Resim 55" descr="kırpıntı çizim, simge, sembol, grafik, çizgi film içeren bir resim&#10;&#10;Yapay zeka tarafından oluşturulmuş içerik yanlış olabilir.">
            <a:extLst>
              <a:ext uri="{FF2B5EF4-FFF2-40B4-BE49-F238E27FC236}">
                <a16:creationId xmlns:a16="http://schemas.microsoft.com/office/drawing/2014/main" id="{A7DBD0BA-2A1F-34E7-3A49-3C288DEB851F}"/>
              </a:ext>
            </a:extLst>
          </p:cNvPr>
          <p:cNvPicPr>
            <a:picLocks noChangeAspect="1"/>
          </p:cNvPicPr>
          <p:nvPr/>
        </p:nvPicPr>
        <p:blipFill>
          <a:blip r:embed="rId8"/>
          <a:stretch>
            <a:fillRect/>
          </a:stretch>
        </p:blipFill>
        <p:spPr>
          <a:xfrm>
            <a:off x="7177978" y="9933817"/>
            <a:ext cx="1151588" cy="1151588"/>
          </a:xfrm>
          <a:prstGeom prst="rect">
            <a:avLst/>
          </a:prstGeom>
        </p:spPr>
      </p:pic>
      <p:pic>
        <p:nvPicPr>
          <p:cNvPr id="58" name="Resim 57" descr="grafik, yazı tipi, grafik tasarım, logo içeren bir resim&#10;&#10;Yapay zeka tarafından oluşturulmuş içerik yanlış olabilir.">
            <a:extLst>
              <a:ext uri="{FF2B5EF4-FFF2-40B4-BE49-F238E27FC236}">
                <a16:creationId xmlns:a16="http://schemas.microsoft.com/office/drawing/2014/main" id="{F0882F95-3F3E-C61F-62F3-DAB871692DDD}"/>
              </a:ext>
            </a:extLst>
          </p:cNvPr>
          <p:cNvPicPr>
            <a:picLocks noChangeAspect="1"/>
          </p:cNvPicPr>
          <p:nvPr/>
        </p:nvPicPr>
        <p:blipFill>
          <a:blip r:embed="rId9"/>
          <a:stretch>
            <a:fillRect/>
          </a:stretch>
        </p:blipFill>
        <p:spPr>
          <a:xfrm>
            <a:off x="7618524" y="9485933"/>
            <a:ext cx="2781331" cy="556265"/>
          </a:xfrm>
          <a:prstGeom prst="rect">
            <a:avLst/>
          </a:prstGeom>
        </p:spPr>
      </p:pic>
      <p:pic>
        <p:nvPicPr>
          <p:cNvPr id="69" name="Resim 68" descr="metin, grafik, ekran görüntüsü, yazı tipi içeren bir resim&#10;&#10;Yapay zeka tarafından oluşturulmuş içerik yanlış olabilir.">
            <a:extLst>
              <a:ext uri="{FF2B5EF4-FFF2-40B4-BE49-F238E27FC236}">
                <a16:creationId xmlns:a16="http://schemas.microsoft.com/office/drawing/2014/main" id="{B646CB2D-85E6-FE7B-176D-9DFE2ED8F63E}"/>
              </a:ext>
            </a:extLst>
          </p:cNvPr>
          <p:cNvPicPr>
            <a:picLocks noChangeAspect="1"/>
          </p:cNvPicPr>
          <p:nvPr/>
        </p:nvPicPr>
        <p:blipFill>
          <a:blip r:embed="rId10"/>
          <a:stretch>
            <a:fillRect/>
          </a:stretch>
        </p:blipFill>
        <p:spPr>
          <a:xfrm>
            <a:off x="13071430" y="9513222"/>
            <a:ext cx="2371741" cy="1244854"/>
          </a:xfrm>
          <a:prstGeom prst="rect">
            <a:avLst/>
          </a:prstGeom>
        </p:spPr>
      </p:pic>
      <p:pic>
        <p:nvPicPr>
          <p:cNvPr id="71" name="Resim 70" descr="grafik, daire, grafik tasarım, yazı tipi içeren bir resim&#10;&#10;Yapay zeka tarafından oluşturulmuş içerik yanlış olabilir.">
            <a:extLst>
              <a:ext uri="{FF2B5EF4-FFF2-40B4-BE49-F238E27FC236}">
                <a16:creationId xmlns:a16="http://schemas.microsoft.com/office/drawing/2014/main" id="{473D21B1-C78E-214E-A719-02B7D3660853}"/>
              </a:ext>
            </a:extLst>
          </p:cNvPr>
          <p:cNvPicPr>
            <a:picLocks noChangeAspect="1"/>
          </p:cNvPicPr>
          <p:nvPr/>
        </p:nvPicPr>
        <p:blipFill>
          <a:blip r:embed="rId11"/>
          <a:stretch>
            <a:fillRect/>
          </a:stretch>
        </p:blipFill>
        <p:spPr>
          <a:xfrm>
            <a:off x="11909584" y="10186270"/>
            <a:ext cx="940727" cy="1158760"/>
          </a:xfrm>
          <a:prstGeom prst="rect">
            <a:avLst/>
          </a:prstGeom>
        </p:spPr>
      </p:pic>
      <p:pic>
        <p:nvPicPr>
          <p:cNvPr id="73" name="Resim 72" descr="grafik, yazı tipi, grafik tasarım, logo içeren bir resim&#10;&#10;Yapay zeka tarafından oluşturulmuş içerik yanlış olabilir.">
            <a:extLst>
              <a:ext uri="{FF2B5EF4-FFF2-40B4-BE49-F238E27FC236}">
                <a16:creationId xmlns:a16="http://schemas.microsoft.com/office/drawing/2014/main" id="{159421D5-D343-74B7-5105-B313F42ED0D3}"/>
              </a:ext>
            </a:extLst>
          </p:cNvPr>
          <p:cNvPicPr>
            <a:picLocks noChangeAspect="1"/>
          </p:cNvPicPr>
          <p:nvPr/>
        </p:nvPicPr>
        <p:blipFill>
          <a:blip r:embed="rId12"/>
          <a:stretch>
            <a:fillRect/>
          </a:stretch>
        </p:blipFill>
        <p:spPr>
          <a:xfrm>
            <a:off x="15664290" y="9685335"/>
            <a:ext cx="1536628" cy="608463"/>
          </a:xfrm>
          <a:prstGeom prst="rect">
            <a:avLst/>
          </a:prstGeom>
        </p:spPr>
      </p:pic>
      <p:pic>
        <p:nvPicPr>
          <p:cNvPr id="75" name="Resim 74" descr="yazı tipi, logo, grafik, simge, sembol içeren bir resim&#10;&#10;Yapay zeka tarafından oluşturulmuş içerik yanlış olabilir.">
            <a:extLst>
              <a:ext uri="{FF2B5EF4-FFF2-40B4-BE49-F238E27FC236}">
                <a16:creationId xmlns:a16="http://schemas.microsoft.com/office/drawing/2014/main" id="{324FC947-1D41-310C-CCD0-1E5A2256BFCF}"/>
              </a:ext>
            </a:extLst>
          </p:cNvPr>
          <p:cNvPicPr>
            <a:picLocks noChangeAspect="1"/>
          </p:cNvPicPr>
          <p:nvPr/>
        </p:nvPicPr>
        <p:blipFill>
          <a:blip r:embed="rId13"/>
          <a:stretch>
            <a:fillRect/>
          </a:stretch>
        </p:blipFill>
        <p:spPr>
          <a:xfrm>
            <a:off x="15702156" y="10636210"/>
            <a:ext cx="1679752" cy="757782"/>
          </a:xfrm>
          <a:prstGeom prst="rect">
            <a:avLst/>
          </a:prstGeom>
        </p:spPr>
      </p:pic>
      <p:pic>
        <p:nvPicPr>
          <p:cNvPr id="78" name="Resim 77" descr="metin, ekran görüntüsü, dağ içeren bir resim&#10;&#10;Yapay zeka tarafından oluşturulmuş içerik yanlış olabilir.">
            <a:extLst>
              <a:ext uri="{FF2B5EF4-FFF2-40B4-BE49-F238E27FC236}">
                <a16:creationId xmlns:a16="http://schemas.microsoft.com/office/drawing/2014/main" id="{52774EF3-90CA-90E6-AF4F-09667F6A926C}"/>
              </a:ext>
            </a:extLst>
          </p:cNvPr>
          <p:cNvPicPr>
            <a:picLocks noChangeAspect="1"/>
          </p:cNvPicPr>
          <p:nvPr/>
        </p:nvPicPr>
        <p:blipFill>
          <a:blip r:embed="rId14"/>
          <a:stretch>
            <a:fillRect/>
          </a:stretch>
        </p:blipFill>
        <p:spPr>
          <a:xfrm>
            <a:off x="8591694" y="10230428"/>
            <a:ext cx="2137847" cy="1202539"/>
          </a:xfrm>
          <a:prstGeom prst="rect">
            <a:avLst/>
          </a:prstGeom>
        </p:spPr>
      </p:pic>
      <p:pic>
        <p:nvPicPr>
          <p:cNvPr id="82" name="Resim 81" descr="grafik, ekran görüntüsü, çizgi, renklilik içeren bir resim&#10;&#10;Yapay zeka tarafından oluşturulmuş içerik yanlış olabilir.">
            <a:extLst>
              <a:ext uri="{FF2B5EF4-FFF2-40B4-BE49-F238E27FC236}">
                <a16:creationId xmlns:a16="http://schemas.microsoft.com/office/drawing/2014/main" id="{F0596F7C-D9AC-ED30-FD5A-0DAACB3E30FF}"/>
              </a:ext>
            </a:extLst>
          </p:cNvPr>
          <p:cNvPicPr>
            <a:picLocks noChangeAspect="1"/>
          </p:cNvPicPr>
          <p:nvPr/>
        </p:nvPicPr>
        <p:blipFill>
          <a:blip r:embed="rId15"/>
          <a:stretch>
            <a:fillRect/>
          </a:stretch>
        </p:blipFill>
        <p:spPr>
          <a:xfrm>
            <a:off x="10835032" y="10226147"/>
            <a:ext cx="930891" cy="865727"/>
          </a:xfrm>
          <a:prstGeom prst="rect">
            <a:avLst/>
          </a:prstGeom>
        </p:spPr>
      </p:pic>
      <p:pic>
        <p:nvPicPr>
          <p:cNvPr id="84" name="Resim 83" descr="grafik, yazı tipi, grafik tasarım, ekran görüntüsü içeren bir resim&#10;&#10;Yapay zeka tarafından oluşturulmuş içerik yanlış olabilir.">
            <a:extLst>
              <a:ext uri="{FF2B5EF4-FFF2-40B4-BE49-F238E27FC236}">
                <a16:creationId xmlns:a16="http://schemas.microsoft.com/office/drawing/2014/main" id="{8D9AD561-561E-AB44-6C4E-9A5F98BA7763}"/>
              </a:ext>
            </a:extLst>
          </p:cNvPr>
          <p:cNvPicPr>
            <a:picLocks noChangeAspect="1"/>
          </p:cNvPicPr>
          <p:nvPr/>
        </p:nvPicPr>
        <p:blipFill>
          <a:blip r:embed="rId16"/>
          <a:stretch>
            <a:fillRect/>
          </a:stretch>
        </p:blipFill>
        <p:spPr>
          <a:xfrm>
            <a:off x="10720892" y="9459314"/>
            <a:ext cx="2161114" cy="729376"/>
          </a:xfrm>
          <a:prstGeom prst="rect">
            <a:avLst/>
          </a:prstGeom>
        </p:spPr>
      </p:pic>
      <p:pic>
        <p:nvPicPr>
          <p:cNvPr id="86" name="Resim 85" descr="grafik, logo, simge, sembol, yazı tipi içeren bir resim&#10;&#10;Yapay zeka tarafından oluşturulmuş içerik yanlış olabilir.">
            <a:extLst>
              <a:ext uri="{FF2B5EF4-FFF2-40B4-BE49-F238E27FC236}">
                <a16:creationId xmlns:a16="http://schemas.microsoft.com/office/drawing/2014/main" id="{8D1B2A6F-EBC7-2732-1581-7B03BF5AAB91}"/>
              </a:ext>
            </a:extLst>
          </p:cNvPr>
          <p:cNvPicPr>
            <a:picLocks noChangeAspect="1"/>
          </p:cNvPicPr>
          <p:nvPr/>
        </p:nvPicPr>
        <p:blipFill>
          <a:blip r:embed="rId17"/>
          <a:stretch>
            <a:fillRect/>
          </a:stretch>
        </p:blipFill>
        <p:spPr>
          <a:xfrm>
            <a:off x="13124175" y="10880873"/>
            <a:ext cx="2161114" cy="432223"/>
          </a:xfrm>
          <a:prstGeom prst="rect">
            <a:avLst/>
          </a:prstGeom>
        </p:spPr>
      </p:pic>
      <p:sp>
        <p:nvSpPr>
          <p:cNvPr id="88" name="Shape 36">
            <a:extLst>
              <a:ext uri="{FF2B5EF4-FFF2-40B4-BE49-F238E27FC236}">
                <a16:creationId xmlns:a16="http://schemas.microsoft.com/office/drawing/2014/main" id="{3550151A-0D5C-693D-5213-EF9B3E37B930}"/>
              </a:ext>
            </a:extLst>
          </p:cNvPr>
          <p:cNvSpPr/>
          <p:nvPr/>
        </p:nvSpPr>
        <p:spPr>
          <a:xfrm>
            <a:off x="7122631" y="11012689"/>
            <a:ext cx="1304675" cy="484409"/>
          </a:xfrm>
          <a:prstGeom prst="rect">
            <a:avLst/>
          </a:prstGeom>
          <a:noFill/>
          <a:ln w="6350">
            <a:noFill/>
            <a:prstDash val="solid"/>
          </a:ln>
        </p:spPr>
        <p:txBody>
          <a:bodyPr/>
          <a:lstStyle/>
          <a:p>
            <a:r>
              <a:rPr lang="tr-TR" sz="2800" dirty="0"/>
              <a:t>Python</a:t>
            </a:r>
            <a:endParaRPr lang="en-US" sz="2800" dirty="0"/>
          </a:p>
        </p:txBody>
      </p:sp>
      <p:sp>
        <p:nvSpPr>
          <p:cNvPr id="89" name="Shape 36">
            <a:extLst>
              <a:ext uri="{FF2B5EF4-FFF2-40B4-BE49-F238E27FC236}">
                <a16:creationId xmlns:a16="http://schemas.microsoft.com/office/drawing/2014/main" id="{8CED41D4-5AFE-C367-9B1F-D77F20AC0445}"/>
              </a:ext>
            </a:extLst>
          </p:cNvPr>
          <p:cNvSpPr/>
          <p:nvPr/>
        </p:nvSpPr>
        <p:spPr>
          <a:xfrm>
            <a:off x="10876201" y="10994186"/>
            <a:ext cx="899959" cy="484409"/>
          </a:xfrm>
          <a:prstGeom prst="rect">
            <a:avLst/>
          </a:prstGeom>
          <a:noFill/>
          <a:ln w="6350">
            <a:noFill/>
            <a:prstDash val="solid"/>
          </a:ln>
        </p:spPr>
        <p:txBody>
          <a:bodyPr/>
          <a:lstStyle/>
          <a:p>
            <a:r>
              <a:rPr lang="tr-TR" sz="2800" dirty="0" err="1"/>
              <a:t>Vosk</a:t>
            </a:r>
            <a:endParaRPr lang="en-US" sz="2800" dirty="0"/>
          </a:p>
        </p:txBody>
      </p:sp>
      <p:pic>
        <p:nvPicPr>
          <p:cNvPr id="57" name="Resim 56" descr="metin, ekran görüntüsü, kara taşıtı, araba içeren bir resim&#10;&#10;Yapay zeka tarafından oluşturulmuş içerik yanlış olabilir.">
            <a:extLst>
              <a:ext uri="{FF2B5EF4-FFF2-40B4-BE49-F238E27FC236}">
                <a16:creationId xmlns:a16="http://schemas.microsoft.com/office/drawing/2014/main" id="{603D4133-3E91-853B-C76E-519970231005}"/>
              </a:ext>
            </a:extLst>
          </p:cNvPr>
          <p:cNvPicPr>
            <a:picLocks noChangeAspect="1"/>
          </p:cNvPicPr>
          <p:nvPr/>
        </p:nvPicPr>
        <p:blipFill>
          <a:blip r:embed="rId18"/>
          <a:stretch>
            <a:fillRect/>
          </a:stretch>
        </p:blipFill>
        <p:spPr>
          <a:xfrm>
            <a:off x="7160328" y="12432058"/>
            <a:ext cx="5022148" cy="2720329"/>
          </a:xfrm>
          <a:prstGeom prst="rect">
            <a:avLst/>
          </a:prstGeom>
        </p:spPr>
      </p:pic>
      <p:pic>
        <p:nvPicPr>
          <p:cNvPr id="74" name="Resim 73" descr="metin, ekran görüntüsü, multimedya yazılımı, grafik yazılımı içeren bir resim&#10;&#10;Yapay zeka tarafından oluşturulmuş içerik yanlış olabilir.">
            <a:extLst>
              <a:ext uri="{FF2B5EF4-FFF2-40B4-BE49-F238E27FC236}">
                <a16:creationId xmlns:a16="http://schemas.microsoft.com/office/drawing/2014/main" id="{F798E552-C2D9-DD03-B681-3649ACB9232C}"/>
              </a:ext>
            </a:extLst>
          </p:cNvPr>
          <p:cNvPicPr>
            <a:picLocks noChangeAspect="1"/>
          </p:cNvPicPr>
          <p:nvPr/>
        </p:nvPicPr>
        <p:blipFill>
          <a:blip r:embed="rId19"/>
          <a:stretch>
            <a:fillRect/>
          </a:stretch>
        </p:blipFill>
        <p:spPr>
          <a:xfrm>
            <a:off x="7160328" y="15278249"/>
            <a:ext cx="5009264" cy="2713351"/>
          </a:xfrm>
          <a:prstGeom prst="rect">
            <a:avLst/>
          </a:prstGeom>
        </p:spPr>
      </p:pic>
      <p:pic>
        <p:nvPicPr>
          <p:cNvPr id="81" name="Resim 80" descr="metin, kara taşıtı, taşıt, araç, ekran görüntüsü içeren bir resim&#10;&#10;Yapay zeka tarafından oluşturulmuş içerik yanlış olabilir.">
            <a:extLst>
              <a:ext uri="{FF2B5EF4-FFF2-40B4-BE49-F238E27FC236}">
                <a16:creationId xmlns:a16="http://schemas.microsoft.com/office/drawing/2014/main" id="{4339093E-071C-C369-C6CA-E00526E58177}"/>
              </a:ext>
            </a:extLst>
          </p:cNvPr>
          <p:cNvPicPr>
            <a:picLocks noChangeAspect="1"/>
          </p:cNvPicPr>
          <p:nvPr/>
        </p:nvPicPr>
        <p:blipFill>
          <a:blip r:embed="rId20"/>
          <a:stretch>
            <a:fillRect/>
          </a:stretch>
        </p:blipFill>
        <p:spPr>
          <a:xfrm>
            <a:off x="12520616" y="12432059"/>
            <a:ext cx="5022148" cy="2720329"/>
          </a:xfrm>
          <a:prstGeom prst="rect">
            <a:avLst/>
          </a:prstGeom>
        </p:spPr>
      </p:pic>
      <p:pic>
        <p:nvPicPr>
          <p:cNvPr id="85" name="Resim 84" descr="metin, ekran görüntüsü, yazılım, multimedya yazılımı içeren bir resim&#10;&#10;Yapay zeka tarafından oluşturulmuş içerik yanlış olabilir.">
            <a:extLst>
              <a:ext uri="{FF2B5EF4-FFF2-40B4-BE49-F238E27FC236}">
                <a16:creationId xmlns:a16="http://schemas.microsoft.com/office/drawing/2014/main" id="{33676876-DF9F-0487-2A15-3CBEE3BE906A}"/>
              </a:ext>
            </a:extLst>
          </p:cNvPr>
          <p:cNvPicPr>
            <a:picLocks noChangeAspect="1"/>
          </p:cNvPicPr>
          <p:nvPr/>
        </p:nvPicPr>
        <p:blipFill>
          <a:blip r:embed="rId21"/>
          <a:stretch>
            <a:fillRect/>
          </a:stretch>
        </p:blipFill>
        <p:spPr>
          <a:xfrm>
            <a:off x="12502896" y="15278249"/>
            <a:ext cx="5019222" cy="2718745"/>
          </a:xfrm>
          <a:prstGeom prst="rect">
            <a:avLst/>
          </a:prstGeom>
        </p:spPr>
      </p:pic>
      <p:sp>
        <p:nvSpPr>
          <p:cNvPr id="3" name="Rectangle 2">
            <a:extLst>
              <a:ext uri="{FF2B5EF4-FFF2-40B4-BE49-F238E27FC236}">
                <a16:creationId xmlns:a16="http://schemas.microsoft.com/office/drawing/2014/main" id="{4A1DB793-3535-DAB8-E9FC-786DF1C4C704}"/>
              </a:ext>
            </a:extLst>
          </p:cNvPr>
          <p:cNvSpPr/>
          <p:nvPr/>
        </p:nvSpPr>
        <p:spPr>
          <a:xfrm>
            <a:off x="14478000" y="24445570"/>
            <a:ext cx="3201924" cy="58978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TR" sz="2800" b="1" dirty="0"/>
              <a:t>Proje ID:</a:t>
            </a:r>
            <a:r>
              <a:rPr lang="tr-TR" sz="4000" dirty="0"/>
              <a:t>BIT51</a:t>
            </a:r>
            <a:endParaRPr lang="en-TR" sz="3200" b="1"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23DD4367-AB84-4211-8F47-D57B1F3A9CD8}">
  <we:reference id="wa200010001" version="1.0.0.1" store="en-US" storeType="OMEX"/>
  <we:alternateReferences>
    <we:reference id="WA200010001" version="1.0.0.1" store="WA200010001" storeType="OMEX"/>
  </we:alternateReferences>
  <we:properties>
    <we:property name="claude.fileId" value="&quot;11adc6c0-7d01-49e5-b3cf-61421061d684&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899</TotalTime>
  <Words>777</Words>
  <Application>Microsoft Office PowerPoint</Application>
  <PresentationFormat>Özel</PresentationFormat>
  <Paragraphs>85</Paragraphs>
  <Slides>1</Slides>
  <Notes>1</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1</vt:i4>
      </vt:variant>
    </vt:vector>
  </HeadingPairs>
  <TitlesOfParts>
    <vt:vector size="5" baseType="lpstr">
      <vt:lpstr>Arial</vt:lpstr>
      <vt:lpstr>Calibri</vt:lpstr>
      <vt:lpstr>Cambria</vt:lpstr>
      <vt:lpstr>Office Theme</vt:lpstr>
      <vt:lpstr>PowerPoint Sunusu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KEREM YAĞIZ KARAKAŞ</cp:lastModifiedBy>
  <cp:revision>34</cp:revision>
  <dcterms:created xsi:type="dcterms:W3CDTF">2026-05-22T16:36:40Z</dcterms:created>
  <dcterms:modified xsi:type="dcterms:W3CDTF">2026-06-16T09:44:31Z</dcterms:modified>
</cp:coreProperties>
</file>