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8000663" cy="25199975"/>
  <p:notesSz cx="25199975" cy="1800066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7B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13" autoAdjust="0"/>
    <p:restoredTop sz="94610"/>
  </p:normalViewPr>
  <p:slideViewPr>
    <p:cSldViewPr snapToGrid="0" snapToObjects="1">
      <p:cViewPr>
        <p:scale>
          <a:sx n="76" d="100"/>
          <a:sy n="76" d="100"/>
        </p:scale>
        <p:origin x="592" y="-7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245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ceng@balikesir.edu.tr" TargetMode="Externa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jp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A"/>
        </a:solidFill>
        <a:effectLst/>
      </p:bgPr>
    </p:bg>
    <p:spTree>
      <p:nvGrpSpPr>
        <p:cNvPr id="1" name=""/>
        <p:cNvGrpSpPr/>
        <p:nvPr/>
      </p:nvGrpSpPr>
      <p:grpSpPr>
        <a:xfrm>
          <a:off x="0" y="0"/>
          <a:ext cx="0" cy="0"/>
          <a:chOff x="0" y="0"/>
          <a:chExt cx="0" cy="0"/>
        </a:xfrm>
      </p:grpSpPr>
      <p:sp>
        <p:nvSpPr>
          <p:cNvPr id="2" name="Shape 0"/>
          <p:cNvSpPr>
            <a:spLocks noGrp="1" noRot="1" noMove="1" noResize="1" noEditPoints="1" noAdjustHandles="1" noChangeArrowheads="1" noChangeShapeType="1"/>
          </p:cNvSpPr>
          <p:nvPr/>
        </p:nvSpPr>
        <p:spPr>
          <a:xfrm>
            <a:off x="699" y="-1089"/>
            <a:ext cx="17999964" cy="2194560"/>
          </a:xfrm>
          <a:prstGeom prst="rect">
            <a:avLst/>
          </a:prstGeom>
          <a:solidFill>
            <a:schemeClr val="accent3">
              <a:lumMod val="20000"/>
              <a:lumOff val="80000"/>
            </a:schemeClr>
          </a:solidFill>
          <a:ln w="12700">
            <a:solidFill>
              <a:srgbClr val="0D2B5E"/>
            </a:solidFill>
            <a:prstDash val="solid"/>
          </a:ln>
        </p:spPr>
        <p:txBody>
          <a:bodyPr/>
          <a:lstStyle/>
          <a:p>
            <a:endParaRPr lang="en-US" sz="2800" dirty="0"/>
          </a:p>
        </p:txBody>
      </p:sp>
      <p:sp>
        <p:nvSpPr>
          <p:cNvPr id="6" name="Text 4"/>
          <p:cNvSpPr/>
          <p:nvPr/>
        </p:nvSpPr>
        <p:spPr>
          <a:xfrm>
            <a:off x="15073884" y="228600"/>
            <a:ext cx="2560320" cy="1737360"/>
          </a:xfrm>
          <a:prstGeom prst="rect">
            <a:avLst/>
          </a:prstGeom>
          <a:noFill/>
          <a:ln/>
        </p:spPr>
        <p:txBody>
          <a:bodyPr wrap="square"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ÜNİVERSİTE</a:t>
            </a:r>
            <a:endParaRPr lang="en-US" sz="2000" dirty="0"/>
          </a:p>
          <a:p>
            <a:pPr marL="0" indent="0" algn="ctr">
              <a:buNone/>
            </a:pPr>
            <a:r>
              <a:rPr lang="en-US" sz="2000" dirty="0">
                <a:solidFill>
                  <a:srgbClr val="FFFFFF"/>
                </a:solidFill>
                <a:latin typeface="Calibri" pitchFamily="34" charset="0"/>
                <a:ea typeface="Calibri" pitchFamily="34" charset="-122"/>
                <a:cs typeface="Calibri" pitchFamily="34" charset="-120"/>
              </a:rPr>
              <a:t>LOGOSU</a:t>
            </a:r>
            <a:endParaRPr lang="en-US" sz="2000" dirty="0"/>
          </a:p>
        </p:txBody>
      </p:sp>
      <p:sp>
        <p:nvSpPr>
          <p:cNvPr id="7" name="Text 5"/>
          <p:cNvSpPr/>
          <p:nvPr/>
        </p:nvSpPr>
        <p:spPr>
          <a:xfrm>
            <a:off x="3108960" y="256032"/>
            <a:ext cx="11782044" cy="1082728"/>
          </a:xfrm>
          <a:prstGeom prst="rect">
            <a:avLst/>
          </a:prstGeom>
          <a:noFill/>
          <a:ln/>
        </p:spPr>
        <p:txBody>
          <a:bodyPr wrap="square" rtlCol="0" anchor="ctr"/>
          <a:lstStyle/>
          <a:p>
            <a:pPr marL="0" indent="0" algn="ctr">
              <a:buNone/>
            </a:pPr>
            <a:r>
              <a:rPr lang="tr-TR" sz="2800" b="1" kern="0" spc="300" dirty="0">
                <a:latin typeface="Calibri" pitchFamily="34" charset="0"/>
                <a:ea typeface="Calibri" pitchFamily="34" charset="-122"/>
                <a:cs typeface="Calibri" pitchFamily="34" charset="-120"/>
              </a:rPr>
              <a:t>BALIKESİR ÜNİVERSİTESİ</a:t>
            </a:r>
          </a:p>
          <a:p>
            <a:pPr marL="0" indent="0" algn="ctr">
              <a:buNone/>
            </a:pPr>
            <a:r>
              <a:rPr lang="tr-TR" sz="2800" b="1" kern="0" spc="300" dirty="0">
                <a:latin typeface="Calibri" pitchFamily="34" charset="0"/>
                <a:ea typeface="Calibri" pitchFamily="34" charset="-122"/>
                <a:cs typeface="Calibri" pitchFamily="34" charset="-120"/>
              </a:rPr>
              <a:t>BİLGİSAYAR </a:t>
            </a:r>
            <a:r>
              <a:rPr lang="tr-TR" sz="2400" b="1" kern="0" spc="300" dirty="0">
                <a:latin typeface="Calibri" pitchFamily="34" charset="0"/>
                <a:ea typeface="Calibri" pitchFamily="34" charset="-122"/>
                <a:cs typeface="Calibri" pitchFamily="34" charset="-120"/>
              </a:rPr>
              <a:t>MÜHENDİSLİĞİ</a:t>
            </a:r>
            <a:endParaRPr lang="tr-TR" sz="2800" b="1" kern="0" spc="300" dirty="0">
              <a:latin typeface="Calibri" pitchFamily="34" charset="0"/>
              <a:ea typeface="Calibri" pitchFamily="34" charset="-122"/>
              <a:cs typeface="Calibri" pitchFamily="34" charset="-120"/>
            </a:endParaRPr>
          </a:p>
          <a:p>
            <a:pPr marL="0" indent="0" algn="ctr">
              <a:buNone/>
            </a:pPr>
            <a:r>
              <a:rPr lang="tr-TR" sz="2800" b="1" kern="0" spc="300" dirty="0">
                <a:latin typeface="Calibri" pitchFamily="34" charset="0"/>
                <a:ea typeface="Calibri" pitchFamily="34" charset="-122"/>
                <a:cs typeface="Calibri" pitchFamily="34" charset="-120"/>
              </a:rPr>
              <a:t>BİTİRME </a:t>
            </a:r>
            <a:r>
              <a:rPr lang="en-US" sz="2800" b="1" kern="0" spc="300" dirty="0">
                <a:latin typeface="Calibri" pitchFamily="34" charset="0"/>
                <a:ea typeface="Calibri" pitchFamily="34" charset="-122"/>
                <a:cs typeface="Calibri" pitchFamily="34" charset="-120"/>
              </a:rPr>
              <a:t>PROJESİ POSTER SERGİSİ</a:t>
            </a:r>
            <a:endParaRPr lang="en-US" sz="2800" b="1" dirty="0"/>
          </a:p>
        </p:txBody>
      </p:sp>
      <p:sp>
        <p:nvSpPr>
          <p:cNvPr id="9" name="Text 7"/>
          <p:cNvSpPr/>
          <p:nvPr/>
        </p:nvSpPr>
        <p:spPr>
          <a:xfrm>
            <a:off x="3108960" y="1371600"/>
            <a:ext cx="11782044" cy="749808"/>
          </a:xfrm>
          <a:prstGeom prst="rect">
            <a:avLst/>
          </a:prstGeom>
          <a:noFill/>
          <a:ln/>
        </p:spPr>
        <p:txBody>
          <a:bodyPr wrap="square" rtlCol="0" anchor="ctr"/>
          <a:lstStyle/>
          <a:p>
            <a:pPr>
              <a:defRPr sz="2800" b="1"/>
            </a:pPr>
            <a:r>
              <a:t>YOLOv8 ve Gelişmiş Görüntü İşleme Tabanlı Akıllı Otopark Analiz ve Sürücü Destek Sistemi (ADAS)</a:t>
            </a:r>
          </a:p>
        </p:txBody>
      </p:sp>
      <p:sp>
        <p:nvSpPr>
          <p:cNvPr id="10" name="Shape 8"/>
          <p:cNvSpPr>
            <a:spLocks noGrp="1" noRot="1" noMove="1" noResize="1" noEditPoints="1" noAdjustHandles="1" noChangeArrowheads="1" noChangeShapeType="1"/>
          </p:cNvSpPr>
          <p:nvPr/>
        </p:nvSpPr>
        <p:spPr>
          <a:xfrm>
            <a:off x="0" y="2194560"/>
            <a:ext cx="17999964" cy="109728"/>
          </a:xfrm>
          <a:prstGeom prst="rect">
            <a:avLst/>
          </a:prstGeom>
          <a:solidFill>
            <a:srgbClr val="E8A020"/>
          </a:solidFill>
          <a:ln w="12700">
            <a:solidFill>
              <a:srgbClr val="E8A020"/>
            </a:solidFill>
            <a:prstDash val="solid"/>
          </a:ln>
        </p:spPr>
        <p:txBody>
          <a:bodyPr/>
          <a:lstStyle/>
          <a:p>
            <a:endParaRPr lang="en-US" sz="2800"/>
          </a:p>
        </p:txBody>
      </p:sp>
      <p:sp>
        <p:nvSpPr>
          <p:cNvPr id="11" name="Shape 9"/>
          <p:cNvSpPr>
            <a:spLocks noGrp="1" noRot="1" noMove="1" noResize="1" noEditPoints="1" noAdjustHandles="1" noChangeArrowheads="1" noChangeShapeType="1"/>
          </p:cNvSpPr>
          <p:nvPr/>
        </p:nvSpPr>
        <p:spPr>
          <a:xfrm>
            <a:off x="0" y="2304288"/>
            <a:ext cx="17999964" cy="1371600"/>
          </a:xfrm>
          <a:prstGeom prst="rect">
            <a:avLst/>
          </a:prstGeom>
          <a:solidFill>
            <a:srgbClr val="E6EDF5"/>
          </a:solidFill>
          <a:ln w="6350">
            <a:solidFill>
              <a:srgbClr val="C2CDD8"/>
            </a:solidFill>
            <a:prstDash val="solid"/>
          </a:ln>
        </p:spPr>
        <p:txBody>
          <a:bodyPr/>
          <a:lstStyle/>
          <a:p>
            <a:endParaRPr lang="en-US" sz="2800"/>
          </a:p>
        </p:txBody>
      </p:sp>
      <p:sp>
        <p:nvSpPr>
          <p:cNvPr id="12" name="Shape 10"/>
          <p:cNvSpPr/>
          <p:nvPr/>
        </p:nvSpPr>
        <p:spPr>
          <a:xfrm>
            <a:off x="274320" y="2395728"/>
            <a:ext cx="54864" cy="1097280"/>
          </a:xfrm>
          <a:prstGeom prst="rect">
            <a:avLst/>
          </a:prstGeom>
          <a:solidFill>
            <a:srgbClr val="0F7B6C"/>
          </a:solidFill>
          <a:ln w="12700">
            <a:solidFill>
              <a:srgbClr val="0F7B6C"/>
            </a:solidFill>
            <a:prstDash val="solid"/>
          </a:ln>
        </p:spPr>
        <p:txBody>
          <a:bodyPr/>
          <a:lstStyle/>
          <a:p>
            <a:endParaRPr lang="en-US" sz="2800"/>
          </a:p>
        </p:txBody>
      </p:sp>
      <p:sp>
        <p:nvSpPr>
          <p:cNvPr id="13" name="Text 11"/>
          <p:cNvSpPr/>
          <p:nvPr/>
        </p:nvSpPr>
        <p:spPr>
          <a:xfrm>
            <a:off x="502920" y="2487168"/>
            <a:ext cx="1738835" cy="256032"/>
          </a:xfrm>
          <a:prstGeom prst="rect">
            <a:avLst/>
          </a:prstGeom>
          <a:noFill/>
          <a:ln/>
        </p:spPr>
        <p:txBody>
          <a:bodyPr wrap="square" rtlCol="0" anchor="ctr"/>
          <a:lstStyle/>
          <a:p>
            <a:pPr>
              <a:defRPr sz="1000"/>
            </a:pPr>
            <a:r>
              <a:t>Proje Öğrencisi</a:t>
            </a:r>
          </a:p>
        </p:txBody>
      </p:sp>
      <p:sp>
        <p:nvSpPr>
          <p:cNvPr id="14" name="Text 12"/>
          <p:cNvSpPr/>
          <p:nvPr/>
        </p:nvSpPr>
        <p:spPr>
          <a:xfrm>
            <a:off x="502920" y="2715768"/>
            <a:ext cx="2637490" cy="502920"/>
          </a:xfrm>
          <a:prstGeom prst="rect">
            <a:avLst/>
          </a:prstGeom>
          <a:noFill/>
          <a:ln/>
        </p:spPr>
        <p:txBody>
          <a:bodyPr wrap="square" rtlCol="0" anchor="ctr"/>
          <a:lstStyle/>
          <a:p>
            <a:pPr>
              <a:defRPr sz="1200" b="1"/>
            </a:pPr>
            <a:r>
              <a:t>Ahmet EKŞİOĞLU</a:t>
            </a:r>
          </a:p>
        </p:txBody>
      </p:sp>
      <p:sp>
        <p:nvSpPr>
          <p:cNvPr id="15" name="Text 13"/>
          <p:cNvSpPr/>
          <p:nvPr/>
        </p:nvSpPr>
        <p:spPr>
          <a:xfrm>
            <a:off x="502920" y="3145536"/>
            <a:ext cx="5359908" cy="320040"/>
          </a:xfrm>
          <a:prstGeom prst="rect">
            <a:avLst/>
          </a:prstGeom>
          <a:noFill/>
          <a:ln/>
        </p:spPr>
        <p:txBody>
          <a:bodyPr wrap="square" rtlCol="0" anchor="ctr"/>
          <a:lstStyle/>
          <a:p>
            <a:pPr>
              <a:defRPr sz="1000"/>
            </a:pPr>
            <a:r>
              <a:t>Bilgisayar Mühendisliği / 4. Sınıf</a:t>
            </a:r>
          </a:p>
        </p:txBody>
      </p:sp>
      <p:sp>
        <p:nvSpPr>
          <p:cNvPr id="17" name="Text 15"/>
          <p:cNvSpPr/>
          <p:nvPr/>
        </p:nvSpPr>
        <p:spPr>
          <a:xfrm>
            <a:off x="6989795" y="2419104"/>
            <a:ext cx="2358562" cy="295656"/>
          </a:xfrm>
          <a:prstGeom prst="rect">
            <a:avLst/>
          </a:prstGeom>
          <a:noFill/>
          <a:ln/>
        </p:spPr>
        <p:txBody>
          <a:bodyPr wrap="square" rtlCol="0" anchor="ctr"/>
          <a:lstStyle/>
          <a:p>
            <a:pPr>
              <a:defRPr sz="1000"/>
            </a:pPr>
            <a:r>
              <a:t>Proje Öğrencisi</a:t>
            </a:r>
          </a:p>
        </p:txBody>
      </p:sp>
      <p:sp>
        <p:nvSpPr>
          <p:cNvPr id="18" name="Text 16"/>
          <p:cNvSpPr/>
          <p:nvPr/>
        </p:nvSpPr>
        <p:spPr>
          <a:xfrm>
            <a:off x="7001194" y="2777810"/>
            <a:ext cx="2889489" cy="502920"/>
          </a:xfrm>
          <a:prstGeom prst="rect">
            <a:avLst/>
          </a:prstGeom>
          <a:noFill/>
          <a:ln/>
        </p:spPr>
        <p:txBody>
          <a:bodyPr wrap="square" rtlCol="0" anchor="ctr"/>
          <a:lstStyle/>
          <a:p>
            <a:pPr>
              <a:defRPr sz="1200" b="1"/>
            </a:pPr>
            <a:r>
              <a:t>Kerem Yağız KARAKAŞ</a:t>
            </a:r>
          </a:p>
        </p:txBody>
      </p:sp>
      <p:sp>
        <p:nvSpPr>
          <p:cNvPr id="20" name="Shape 18"/>
          <p:cNvSpPr/>
          <p:nvPr/>
        </p:nvSpPr>
        <p:spPr>
          <a:xfrm>
            <a:off x="12274296" y="2395728"/>
            <a:ext cx="54864" cy="1097280"/>
          </a:xfrm>
          <a:prstGeom prst="rect">
            <a:avLst/>
          </a:prstGeom>
          <a:solidFill>
            <a:srgbClr val="E8A020"/>
          </a:solidFill>
          <a:ln w="12700">
            <a:solidFill>
              <a:srgbClr val="E8A020"/>
            </a:solidFill>
            <a:prstDash val="solid"/>
          </a:ln>
        </p:spPr>
        <p:txBody>
          <a:bodyPr/>
          <a:lstStyle/>
          <a:p>
            <a:endParaRPr lang="en-US" sz="2800"/>
          </a:p>
        </p:txBody>
      </p:sp>
      <p:sp>
        <p:nvSpPr>
          <p:cNvPr id="21" name="Text 19"/>
          <p:cNvSpPr/>
          <p:nvPr/>
        </p:nvSpPr>
        <p:spPr>
          <a:xfrm>
            <a:off x="12502896" y="2395728"/>
            <a:ext cx="5359908" cy="347472"/>
          </a:xfrm>
          <a:prstGeom prst="rect">
            <a:avLst/>
          </a:prstGeom>
          <a:noFill/>
          <a:ln/>
        </p:spPr>
        <p:txBody>
          <a:bodyPr wrap="square" rtlCol="0" anchor="ctr"/>
          <a:lstStyle/>
          <a:p>
            <a:pPr marL="0" indent="0">
              <a:buNone/>
            </a:pPr>
            <a:r>
              <a:rPr lang="en-US" sz="1600" dirty="0">
                <a:solidFill>
                  <a:srgbClr val="6B7280"/>
                </a:solidFill>
                <a:latin typeface="Calibri" pitchFamily="34" charset="0"/>
                <a:ea typeface="Calibri" pitchFamily="34" charset="-122"/>
                <a:cs typeface="Calibri" pitchFamily="34" charset="-120"/>
              </a:rPr>
              <a:t>Danışman (Akademik)</a:t>
            </a:r>
            <a:endParaRPr lang="en-US" sz="1600" dirty="0"/>
          </a:p>
        </p:txBody>
      </p:sp>
      <p:sp>
        <p:nvSpPr>
          <p:cNvPr id="22" name="Text 20"/>
          <p:cNvSpPr/>
          <p:nvPr/>
        </p:nvSpPr>
        <p:spPr>
          <a:xfrm>
            <a:off x="12502896" y="2715768"/>
            <a:ext cx="5359908" cy="502920"/>
          </a:xfrm>
          <a:prstGeom prst="rect">
            <a:avLst/>
          </a:prstGeom>
          <a:noFill/>
          <a:ln/>
        </p:spPr>
        <p:txBody>
          <a:bodyPr wrap="square" rtlCol="0" anchor="ctr"/>
          <a:lstStyle/>
          <a:p>
            <a:pPr>
              <a:defRPr sz="1200" b="1"/>
            </a:pPr>
            <a:r>
              <a:t>Prof. Dr. Selçuk KAVUT</a:t>
            </a:r>
          </a:p>
        </p:txBody>
      </p:sp>
      <p:sp>
        <p:nvSpPr>
          <p:cNvPr id="23" name="Text 21"/>
          <p:cNvSpPr/>
          <p:nvPr/>
        </p:nvSpPr>
        <p:spPr>
          <a:xfrm>
            <a:off x="12502896" y="3145536"/>
            <a:ext cx="5359908" cy="320040"/>
          </a:xfrm>
          <a:prstGeom prst="rect">
            <a:avLst/>
          </a:prstGeom>
          <a:noFill/>
          <a:ln/>
        </p:spPr>
        <p:txBody>
          <a:bodyPr wrap="square" rtlCol="0" anchor="ctr"/>
          <a:lstStyle/>
          <a:p>
            <a:pPr marL="0" indent="0">
              <a:buNone/>
            </a:pPr>
            <a:r>
              <a:rPr lang="en-US" sz="1600" i="1" dirty="0">
                <a:solidFill>
                  <a:srgbClr val="6B7280"/>
                </a:solidFill>
                <a:latin typeface="Calibri" pitchFamily="34" charset="0"/>
                <a:ea typeface="Calibri" pitchFamily="34" charset="-122"/>
                <a:cs typeface="Calibri" pitchFamily="34" charset="-120"/>
              </a:rPr>
              <a:t>[Ünvan / Fakülte]</a:t>
            </a:r>
            <a:endParaRPr lang="en-US" sz="1600" dirty="0"/>
          </a:p>
        </p:txBody>
      </p:sp>
      <p:sp>
        <p:nvSpPr>
          <p:cNvPr id="24" name="Shape 22"/>
          <p:cNvSpPr/>
          <p:nvPr/>
        </p:nvSpPr>
        <p:spPr>
          <a:xfrm>
            <a:off x="320040" y="3858768"/>
            <a:ext cx="6479987" cy="475488"/>
          </a:xfrm>
          <a:prstGeom prst="rect">
            <a:avLst/>
          </a:prstGeom>
          <a:solidFill>
            <a:srgbClr val="0D2B5E"/>
          </a:solidFill>
          <a:ln w="12700">
            <a:noFill/>
            <a:prstDash val="solid"/>
          </a:ln>
        </p:spPr>
        <p:txBody>
          <a:bodyPr/>
          <a:lstStyle/>
          <a:p>
            <a:endParaRPr lang="en-US" sz="2800"/>
          </a:p>
        </p:txBody>
      </p:sp>
      <p:sp>
        <p:nvSpPr>
          <p:cNvPr id="25" name="Text 23"/>
          <p:cNvSpPr/>
          <p:nvPr/>
        </p:nvSpPr>
        <p:spPr>
          <a:xfrm>
            <a:off x="320040" y="3858768"/>
            <a:ext cx="6479987" cy="475488"/>
          </a:xfrm>
          <a:prstGeom prst="rect">
            <a:avLst/>
          </a:prstGeom>
          <a:noFill/>
          <a:ln/>
        </p:spPr>
        <p:txBody>
          <a:bodyPr wrap="square" rtlCol="0" anchor="ctr"/>
          <a:lstStyle/>
          <a:p>
            <a:pPr marL="0" indent="0" algn="ctr">
              <a:buNone/>
            </a:pPr>
            <a:r>
              <a:rPr lang="en-US" sz="2000" b="1" kern="0" spc="200" dirty="0">
                <a:solidFill>
                  <a:srgbClr val="FFFFFF"/>
                </a:solidFill>
                <a:latin typeface="Calibri" pitchFamily="34" charset="0"/>
                <a:ea typeface="Calibri" pitchFamily="34" charset="-122"/>
                <a:cs typeface="Calibri" pitchFamily="34" charset="-120"/>
              </a:rPr>
              <a:t>PROJE ÖZETİ</a:t>
            </a:r>
            <a:endParaRPr lang="en-US" sz="2000" dirty="0"/>
          </a:p>
        </p:txBody>
      </p:sp>
      <p:sp>
        <p:nvSpPr>
          <p:cNvPr id="26" name="Shape 24"/>
          <p:cNvSpPr/>
          <p:nvPr/>
        </p:nvSpPr>
        <p:spPr>
          <a:xfrm>
            <a:off x="320040" y="4334256"/>
            <a:ext cx="6479987" cy="4663440"/>
          </a:xfrm>
          <a:prstGeom prst="rect">
            <a:avLst/>
          </a:prstGeom>
          <a:solidFill>
            <a:srgbClr val="FFFFFF"/>
          </a:solidFill>
          <a:ln w="6350">
            <a:solidFill>
              <a:srgbClr val="C2CDD8"/>
            </a:solidFill>
            <a:prstDash val="solid"/>
          </a:ln>
        </p:spPr>
        <p:txBody>
          <a:bodyPr/>
          <a:lstStyle/>
          <a:p>
            <a:endParaRPr lang="en-US" sz="2800"/>
          </a:p>
        </p:txBody>
      </p:sp>
      <p:sp>
        <p:nvSpPr>
          <p:cNvPr id="27" name="Text 25"/>
          <p:cNvSpPr/>
          <p:nvPr/>
        </p:nvSpPr>
        <p:spPr>
          <a:xfrm>
            <a:off x="484632" y="4498848"/>
            <a:ext cx="6150803" cy="4334256"/>
          </a:xfrm>
          <a:prstGeom prst="rect">
            <a:avLst/>
          </a:prstGeom>
          <a:noFill/>
          <a:ln/>
        </p:spPr>
        <p:txBody>
          <a:bodyPr wrap="square" rtlCol="0" anchor="t"/>
          <a:lstStyle/>
          <a:p>
            <a:pPr>
              <a:defRPr sz="1000"/>
            </a:pPr>
            <a:r>
              <a:t>Bu projede, tek bir monoküler kameradan elde edilen görüntülerle araçları tespit eden ve park alanlarının doluluk/uygunluk durumunu gerçek zamanlı analiz eden yapay zeka tabanlı bir akıllı otopark sistemi geliştirilmiştir. Sistemde araç tespiti YOLOv8 algoritmasıyla gerçekleştirilmiş; boş park yerleri ise zeminde boyalı şeritlerin varlığına göre adaptif olarak seçilen ızgara tabanlı ya da geometri tabanlı özgün yöntemlerle belirlenmiştir. Kamera bakış açısından kaynaklanan çapraz açı bozulmalarını gidermek amacıyla Ters Perspektif Dönüşümü (IPM) uygulanarak görüntüler kuş bakışı (BEV) düzleme aktarılmış ve boş park alanlarının gerçek metrik boyutları hesaplanmıştır. Sistem, sürücünün araç boyutlarına en uygun ve en yakın boş yeri çok kriterli bir skorlama algoritmasıyla önerirken; gece görüşü iyileştirmesi, monoküler derinlik tahmini ve Vosk tabanlı çevrimdışı Türkçe sesli komut asistanı gibi yenilikçi ADAS özellikleri de sunmaktadır.</a:t>
            </a:r>
          </a:p>
          <a:p>
            <a:pPr>
              <a:defRPr sz="1000"/>
            </a:pPr>
          </a:p>
          <a:p>
            <a:pPr>
              <a:defRPr sz="1000"/>
            </a:pPr>
            <a:r>
              <a:t>Anahtar Kelimeler: Araç Tespiti, Park Yeri Analizi, Derin Öğrenme, Bilgisayar Görüşü, ADAS</a:t>
            </a:r>
          </a:p>
        </p:txBody>
      </p:sp>
      <p:sp>
        <p:nvSpPr>
          <p:cNvPr id="28" name="Shape 26"/>
          <p:cNvSpPr/>
          <p:nvPr/>
        </p:nvSpPr>
        <p:spPr>
          <a:xfrm>
            <a:off x="320040" y="9198864"/>
            <a:ext cx="6479987" cy="475488"/>
          </a:xfrm>
          <a:prstGeom prst="rect">
            <a:avLst/>
          </a:prstGeom>
          <a:solidFill>
            <a:srgbClr val="0F7B6C"/>
          </a:solidFill>
          <a:ln w="12700">
            <a:noFill/>
            <a:prstDash val="solid"/>
          </a:ln>
        </p:spPr>
        <p:txBody>
          <a:bodyPr/>
          <a:lstStyle/>
          <a:p>
            <a:endParaRPr lang="en-US" sz="2800"/>
          </a:p>
        </p:txBody>
      </p:sp>
      <p:sp>
        <p:nvSpPr>
          <p:cNvPr id="29" name="Text 27"/>
          <p:cNvSpPr/>
          <p:nvPr/>
        </p:nvSpPr>
        <p:spPr>
          <a:xfrm>
            <a:off x="320040" y="9198864"/>
            <a:ext cx="6479987" cy="475488"/>
          </a:xfrm>
          <a:prstGeom prst="rect">
            <a:avLst/>
          </a:prstGeom>
          <a:noFill/>
          <a:ln/>
        </p:spPr>
        <p:txBody>
          <a:bodyPr wrap="square" rtlCol="0" anchor="ctr"/>
          <a:lstStyle/>
          <a:p>
            <a:pPr marL="0" indent="0" algn="ctr">
              <a:buNone/>
            </a:pPr>
            <a:r>
              <a:rPr lang="en-US" sz="2000" b="1" kern="0" spc="200" dirty="0">
                <a:solidFill>
                  <a:srgbClr val="FFFFFF"/>
                </a:solidFill>
                <a:latin typeface="Calibri" pitchFamily="34" charset="0"/>
                <a:ea typeface="Calibri" pitchFamily="34" charset="-122"/>
                <a:cs typeface="Calibri" pitchFamily="34" charset="-120"/>
              </a:rPr>
              <a:t>GİRİŞ / MOTİVASYON</a:t>
            </a:r>
            <a:endParaRPr lang="en-US" sz="2000" dirty="0"/>
          </a:p>
        </p:txBody>
      </p:sp>
      <p:sp>
        <p:nvSpPr>
          <p:cNvPr id="30" name="Shape 28"/>
          <p:cNvSpPr/>
          <p:nvPr/>
        </p:nvSpPr>
        <p:spPr>
          <a:xfrm>
            <a:off x="320040" y="9674352"/>
            <a:ext cx="6479987" cy="2834640"/>
          </a:xfrm>
          <a:prstGeom prst="rect">
            <a:avLst/>
          </a:prstGeom>
          <a:solidFill>
            <a:srgbClr val="FFFFFF"/>
          </a:solidFill>
          <a:ln w="6350">
            <a:solidFill>
              <a:srgbClr val="C2CDD8"/>
            </a:solidFill>
            <a:prstDash val="solid"/>
          </a:ln>
        </p:spPr>
        <p:txBody>
          <a:bodyPr/>
          <a:lstStyle/>
          <a:p>
            <a:endParaRPr lang="en-US" sz="2800"/>
          </a:p>
        </p:txBody>
      </p:sp>
      <p:sp>
        <p:nvSpPr>
          <p:cNvPr id="31" name="Text 29"/>
          <p:cNvSpPr/>
          <p:nvPr/>
        </p:nvSpPr>
        <p:spPr>
          <a:xfrm>
            <a:off x="484632" y="9838944"/>
            <a:ext cx="6150803" cy="2468880"/>
          </a:xfrm>
          <a:prstGeom prst="rect">
            <a:avLst/>
          </a:prstGeom>
          <a:noFill/>
          <a:ln/>
        </p:spPr>
        <p:txBody>
          <a:bodyPr wrap="square" rtlCol="0" anchor="t"/>
          <a:lstStyle/>
          <a:p>
            <a:pPr>
              <a:defRPr sz="1000"/>
            </a:pPr>
            <a:r>
              <a:t>Kentsel alanlardaki hızlı araç artışı, otopark yönetimini ve sürüş güvenliğini kritik bir sorun haline getirmiştir. Sürücülerin boş park yeri ararken harcadığı zaman, yakıt tüketimini ve karbon salınımını artırmaktadır. Mevcut çözümler genellikle yüksek kurulum ve bakım maliyetli zemin sensörlerine (ultrasonik, manyetik vb.) dayanmaktadır. Bu projede, pahalı sensör donanımları yerine sadece kamera görüntülerini kullanan, düşük maliyetli, yüksek doğrulukta ve esnek bir yazılım alternatifi sunulmaktadır. Ayrıca otopark içi sürüş güvenliğini artırmak amacıyla derinlik tahmini, SLAM haritalama ve BSD gibi ADAS özellikleri entegre edilmiştir.</a:t>
            </a:r>
          </a:p>
        </p:txBody>
      </p:sp>
      <p:sp>
        <p:nvSpPr>
          <p:cNvPr id="32" name="Shape 30"/>
          <p:cNvSpPr/>
          <p:nvPr/>
        </p:nvSpPr>
        <p:spPr>
          <a:xfrm>
            <a:off x="320040" y="12710160"/>
            <a:ext cx="6479987" cy="475488"/>
          </a:xfrm>
          <a:prstGeom prst="rect">
            <a:avLst/>
          </a:prstGeom>
          <a:solidFill>
            <a:srgbClr val="0F7B6C"/>
          </a:solidFill>
          <a:ln w="12700">
            <a:noFill/>
            <a:prstDash val="solid"/>
          </a:ln>
        </p:spPr>
        <p:txBody>
          <a:bodyPr/>
          <a:lstStyle/>
          <a:p>
            <a:endParaRPr lang="en-US" sz="2800"/>
          </a:p>
        </p:txBody>
      </p:sp>
      <p:sp>
        <p:nvSpPr>
          <p:cNvPr id="33" name="Text 31"/>
          <p:cNvSpPr/>
          <p:nvPr/>
        </p:nvSpPr>
        <p:spPr>
          <a:xfrm>
            <a:off x="320040" y="12710160"/>
            <a:ext cx="6479987" cy="475488"/>
          </a:xfrm>
          <a:prstGeom prst="rect">
            <a:avLst/>
          </a:prstGeom>
          <a:noFill/>
          <a:ln/>
        </p:spPr>
        <p:txBody>
          <a:bodyPr wrap="square" rtlCol="0" anchor="ctr"/>
          <a:lstStyle/>
          <a:p>
            <a:pPr marL="0" indent="0" algn="ctr">
              <a:buNone/>
            </a:pPr>
            <a:r>
              <a:rPr lang="tr-TR" sz="2000" b="1" kern="0" spc="200" dirty="0">
                <a:solidFill>
                  <a:srgbClr val="FFFFFF"/>
                </a:solidFill>
                <a:latin typeface="Calibri" pitchFamily="34" charset="0"/>
                <a:ea typeface="Calibri" pitchFamily="34" charset="-122"/>
                <a:cs typeface="Calibri" pitchFamily="34" charset="-120"/>
              </a:rPr>
              <a:t>SİSTEM MİMARİSİ</a:t>
            </a:r>
            <a:endParaRPr lang="en-US" sz="2000" dirty="0"/>
          </a:p>
        </p:txBody>
      </p:sp>
      <p:sp>
        <p:nvSpPr>
          <p:cNvPr id="34" name="Shape 32"/>
          <p:cNvSpPr/>
          <p:nvPr/>
        </p:nvSpPr>
        <p:spPr>
          <a:xfrm>
            <a:off x="320040" y="13185648"/>
            <a:ext cx="6479987" cy="10779862"/>
          </a:xfrm>
          <a:prstGeom prst="rect">
            <a:avLst/>
          </a:prstGeom>
          <a:solidFill>
            <a:srgbClr val="DDE6EF"/>
          </a:solidFill>
          <a:ln w="6350">
            <a:solidFill>
              <a:srgbClr val="C2CDD8"/>
            </a:solidFill>
            <a:prstDash val="solid"/>
          </a:ln>
        </p:spPr>
        <p:txBody>
          <a:bodyPr/>
          <a:lstStyle/>
          <a:p>
            <a:endParaRPr lang="en-US" sz="2800"/>
          </a:p>
        </p:txBody>
      </p:sp>
      <p:sp>
        <p:nvSpPr>
          <p:cNvPr id="35" name="Text 33"/>
          <p:cNvSpPr/>
          <p:nvPr/>
        </p:nvSpPr>
        <p:spPr>
          <a:xfrm>
            <a:off x="320040" y="13185648"/>
            <a:ext cx="6479987" cy="10779862"/>
          </a:xfrm>
          <a:prstGeom prst="rect">
            <a:avLst/>
          </a:prstGeom>
          <a:noFill/>
          <a:ln/>
        </p:spPr>
        <p:txBody>
          <a:bodyPr wrap="square" rtlCol="0" anchor="ctr"/>
          <a:lstStyle/>
          <a:p/>
        </p:txBody>
      </p:sp>
      <p:sp>
        <p:nvSpPr>
          <p:cNvPr id="36" name="Shape 34"/>
          <p:cNvSpPr/>
          <p:nvPr/>
        </p:nvSpPr>
        <p:spPr>
          <a:xfrm>
            <a:off x="7001195" y="3858768"/>
            <a:ext cx="10678729" cy="475488"/>
          </a:xfrm>
          <a:prstGeom prst="rect">
            <a:avLst/>
          </a:prstGeom>
          <a:solidFill>
            <a:srgbClr val="0F7B6C"/>
          </a:solidFill>
          <a:ln w="12700">
            <a:noFill/>
            <a:prstDash val="solid"/>
          </a:ln>
        </p:spPr>
        <p:txBody>
          <a:bodyPr/>
          <a:lstStyle/>
          <a:p>
            <a:endParaRPr lang="en-US" sz="2800"/>
          </a:p>
        </p:txBody>
      </p:sp>
      <p:sp>
        <p:nvSpPr>
          <p:cNvPr id="37" name="Text 35"/>
          <p:cNvSpPr/>
          <p:nvPr/>
        </p:nvSpPr>
        <p:spPr>
          <a:xfrm>
            <a:off x="7001195" y="3858768"/>
            <a:ext cx="10678729" cy="475488"/>
          </a:xfrm>
          <a:prstGeom prst="rect">
            <a:avLst/>
          </a:prstGeom>
          <a:noFill/>
          <a:ln/>
        </p:spPr>
        <p:txBody>
          <a:bodyPr wrap="square" rtlCol="0" anchor="ctr"/>
          <a:lstStyle/>
          <a:p>
            <a:pPr marL="0" indent="0" algn="ctr">
              <a:buNone/>
            </a:pPr>
            <a:r>
              <a:rPr lang="en-US" sz="2000" b="1" kern="0" spc="200" dirty="0">
                <a:solidFill>
                  <a:srgbClr val="FFFFFF"/>
                </a:solidFill>
                <a:latin typeface="Calibri" pitchFamily="34" charset="0"/>
                <a:ea typeface="Calibri" pitchFamily="34" charset="-122"/>
                <a:cs typeface="Calibri" pitchFamily="34" charset="-120"/>
              </a:rPr>
              <a:t>MATERYAL VE YÖNTEM</a:t>
            </a:r>
            <a:endParaRPr lang="en-US" sz="2000" dirty="0"/>
          </a:p>
        </p:txBody>
      </p:sp>
      <p:sp>
        <p:nvSpPr>
          <p:cNvPr id="38" name="Shape 36"/>
          <p:cNvSpPr/>
          <p:nvPr/>
        </p:nvSpPr>
        <p:spPr>
          <a:xfrm>
            <a:off x="7001195" y="4334256"/>
            <a:ext cx="10678729" cy="3560064"/>
          </a:xfrm>
          <a:prstGeom prst="rect">
            <a:avLst/>
          </a:prstGeom>
          <a:solidFill>
            <a:srgbClr val="FFFFFF"/>
          </a:solidFill>
          <a:ln w="6350">
            <a:solidFill>
              <a:srgbClr val="C2CDD8"/>
            </a:solidFill>
            <a:prstDash val="solid"/>
          </a:ln>
        </p:spPr>
        <p:txBody>
          <a:bodyPr/>
          <a:lstStyle/>
          <a:p>
            <a:endParaRPr lang="en-US" sz="2800"/>
          </a:p>
        </p:txBody>
      </p:sp>
      <p:sp>
        <p:nvSpPr>
          <p:cNvPr id="39" name="Text 37"/>
          <p:cNvSpPr/>
          <p:nvPr/>
        </p:nvSpPr>
        <p:spPr>
          <a:xfrm>
            <a:off x="7165787" y="4498848"/>
            <a:ext cx="10349545" cy="3182112"/>
          </a:xfrm>
          <a:prstGeom prst="rect">
            <a:avLst/>
          </a:prstGeom>
          <a:noFill/>
          <a:ln/>
        </p:spPr>
        <p:txBody>
          <a:bodyPr wrap="square" rtlCol="0" anchor="t"/>
          <a:lstStyle/>
          <a:p>
            <a:pPr>
              <a:defRPr sz="1000"/>
            </a:pPr>
            <a:r>
              <a:t>• Geliştirme Ortamı: Python, PyQt5 tabanlı kullanıcı arayüzü (UI Dashboard), OpenCV ve NumPy görüntü işleme kütüphaneleri.</a:t>
            </a:r>
          </a:p>
          <a:p>
            <a:pPr>
              <a:defRPr sz="1000"/>
            </a:pPr>
            <a:r>
              <a:t>• Gerçek Zamanlı Araç Tespiti: YOLOv8 nesne tespit modeli, sınıfa göre 3D boyut ataması ve sınıf-bağımsız NMS ile mükerrer tespitlerin elenmesi.</a:t>
            </a:r>
          </a:p>
          <a:p>
            <a:pPr>
              <a:defRPr sz="1000"/>
            </a:pPr>
            <a:r>
              <a:t>• Adaptif Boş Park Yeri Analizi: Şerit varlığında Izgara Tabanlı (Hough, alt-piksel hassaslaştırma, zamansal çizgi füzyonu); şerit yoksa Geometri Tabanlı boşluk analizi.</a:t>
            </a:r>
          </a:p>
          <a:p>
            <a:pPr>
              <a:defRPr sz="1000"/>
            </a:pPr>
            <a:r>
              <a:t>• Ters Perspektif Dönüşümü (IPM): Zemin homografisiyle kuş bakışı (BEV) dönüşümü; manuel veya otomatik kalibrasyon ile fiziksel boyut ölçümü.</a:t>
            </a:r>
          </a:p>
          <a:p>
            <a:pPr>
              <a:defRPr sz="1000"/>
            </a:pPr>
            <a:r>
              <a:t>• Temporal Kararlılık &amp; ADAS: Zaman serisi oylama, monoküler derinlik tahmini (MiDaS), çevrimdışı Türkçe sesli komut asistanı (Vosk) ve gece görüşü.</a:t>
            </a:r>
          </a:p>
        </p:txBody>
      </p:sp>
      <p:sp>
        <p:nvSpPr>
          <p:cNvPr id="40" name="Shape 38"/>
          <p:cNvSpPr/>
          <p:nvPr/>
        </p:nvSpPr>
        <p:spPr>
          <a:xfrm>
            <a:off x="7001195" y="11957304"/>
            <a:ext cx="10678729" cy="475488"/>
          </a:xfrm>
          <a:prstGeom prst="rect">
            <a:avLst/>
          </a:prstGeom>
          <a:solidFill>
            <a:schemeClr val="accent5"/>
          </a:solidFill>
          <a:ln w="12700">
            <a:noFill/>
            <a:prstDash val="solid"/>
          </a:ln>
        </p:spPr>
        <p:txBody>
          <a:bodyPr/>
          <a:lstStyle/>
          <a:p>
            <a:endParaRPr lang="en-US" sz="2800"/>
          </a:p>
        </p:txBody>
      </p:sp>
      <p:sp>
        <p:nvSpPr>
          <p:cNvPr id="41" name="Text 39"/>
          <p:cNvSpPr/>
          <p:nvPr/>
        </p:nvSpPr>
        <p:spPr>
          <a:xfrm>
            <a:off x="7001195" y="11957304"/>
            <a:ext cx="10678729" cy="475488"/>
          </a:xfrm>
          <a:prstGeom prst="rect">
            <a:avLst/>
          </a:prstGeom>
          <a:noFill/>
          <a:ln/>
        </p:spPr>
        <p:txBody>
          <a:bodyPr wrap="square" rtlCol="0" anchor="ctr"/>
          <a:lstStyle/>
          <a:p>
            <a:pPr marL="0" indent="0" algn="ctr">
              <a:buNone/>
            </a:pPr>
            <a:r>
              <a:rPr lang="en-US" sz="2000" b="1" kern="0" spc="200" dirty="0">
                <a:solidFill>
                  <a:srgbClr val="FFFFFF"/>
                </a:solidFill>
                <a:latin typeface="Calibri" pitchFamily="34" charset="0"/>
                <a:ea typeface="Calibri" pitchFamily="34" charset="-122"/>
                <a:cs typeface="Calibri" pitchFamily="34" charset="-120"/>
              </a:rPr>
              <a:t>BULGULAR</a:t>
            </a:r>
            <a:endParaRPr lang="en-US" sz="2000" dirty="0"/>
          </a:p>
        </p:txBody>
      </p:sp>
      <p:sp>
        <p:nvSpPr>
          <p:cNvPr id="42" name="Shape 40"/>
          <p:cNvSpPr/>
          <p:nvPr/>
        </p:nvSpPr>
        <p:spPr>
          <a:xfrm>
            <a:off x="7001195" y="12432792"/>
            <a:ext cx="10678729" cy="3657600"/>
          </a:xfrm>
          <a:prstGeom prst="rect">
            <a:avLst/>
          </a:prstGeom>
          <a:solidFill>
            <a:srgbClr val="FFFFFF"/>
          </a:solidFill>
          <a:ln w="6350">
            <a:solidFill>
              <a:srgbClr val="C2CDD8"/>
            </a:solidFill>
            <a:prstDash val="solid"/>
          </a:ln>
        </p:spPr>
        <p:txBody>
          <a:bodyPr/>
          <a:lstStyle/>
          <a:p>
            <a:endParaRPr lang="en-US" sz="2800"/>
          </a:p>
        </p:txBody>
      </p:sp>
      <p:sp>
        <p:nvSpPr>
          <p:cNvPr id="43" name="Text 41"/>
          <p:cNvSpPr/>
          <p:nvPr/>
        </p:nvSpPr>
        <p:spPr>
          <a:xfrm>
            <a:off x="7165787" y="12597384"/>
            <a:ext cx="10349545" cy="1431218"/>
          </a:xfrm>
          <a:prstGeom prst="rect">
            <a:avLst/>
          </a:prstGeom>
          <a:noFill/>
          <a:ln/>
        </p:spPr>
        <p:txBody>
          <a:bodyPr wrap="square" rtlCol="0" anchor="t"/>
          <a:lstStyle/>
          <a:p>
            <a:pPr>
              <a:defRPr sz="950"/>
            </a:pPr>
            <a:r>
              <a:t>• Araç Tespit Doğruluğu: YOLOv8 modeli ile otopark ortamlarında %96.8 mAP@0.5 başarı oranı yakalanmıştır.</a:t>
            </a:r>
          </a:p>
          <a:p>
            <a:pPr>
              <a:defRPr sz="950"/>
            </a:pPr>
            <a:r>
              <a:t>• Park Alanı Doğruluğu: Şerit ve geometri tabanlı park yeri bulma algoritması PKLot ve yerel videolarda %94.2 doğruluk sağlamıştır.</a:t>
            </a:r>
          </a:p>
          <a:p>
            <a:pPr>
              <a:defRPr sz="950"/>
            </a:pPr>
            <a:r>
              <a:t>• Süreç Performansı (Gecikme): Araç tespiti GPU'da &lt;10 ms, derinlik tahmini &lt;25 ms sürmektedir. Toplam sistem 35+ FPS ile gerçek zamanlı çalışabilmektedir.</a:t>
            </a:r>
          </a:p>
        </p:txBody>
      </p:sp>
      <p:sp>
        <p:nvSpPr>
          <p:cNvPr id="44" name="Shape 42"/>
          <p:cNvSpPr/>
          <p:nvPr/>
        </p:nvSpPr>
        <p:spPr>
          <a:xfrm>
            <a:off x="7001195" y="16291560"/>
            <a:ext cx="10678729" cy="475488"/>
          </a:xfrm>
          <a:prstGeom prst="rect">
            <a:avLst/>
          </a:prstGeom>
          <a:solidFill>
            <a:schemeClr val="accent2"/>
          </a:solidFill>
          <a:ln w="12700">
            <a:noFill/>
            <a:prstDash val="solid"/>
          </a:ln>
        </p:spPr>
        <p:txBody>
          <a:bodyPr/>
          <a:lstStyle/>
          <a:p>
            <a:endParaRPr lang="en-US" sz="2800"/>
          </a:p>
        </p:txBody>
      </p:sp>
      <p:sp>
        <p:nvSpPr>
          <p:cNvPr id="45" name="Text 43"/>
          <p:cNvSpPr/>
          <p:nvPr/>
        </p:nvSpPr>
        <p:spPr>
          <a:xfrm>
            <a:off x="7001195" y="16291560"/>
            <a:ext cx="10678729" cy="475488"/>
          </a:xfrm>
          <a:prstGeom prst="rect">
            <a:avLst/>
          </a:prstGeom>
          <a:noFill/>
          <a:ln/>
        </p:spPr>
        <p:txBody>
          <a:bodyPr wrap="square" rtlCol="0" anchor="ctr"/>
          <a:lstStyle/>
          <a:p>
            <a:pPr marL="0" indent="0" algn="ctr">
              <a:buNone/>
            </a:pPr>
            <a:r>
              <a:rPr lang="en-US" sz="2000" b="1" kern="0" spc="200" dirty="0">
                <a:solidFill>
                  <a:srgbClr val="FFFFFF"/>
                </a:solidFill>
                <a:latin typeface="Calibri" pitchFamily="34" charset="0"/>
                <a:ea typeface="Calibri" pitchFamily="34" charset="-122"/>
                <a:cs typeface="Calibri" pitchFamily="34" charset="-120"/>
              </a:rPr>
              <a:t>SONUÇ VE ÖNERİLER</a:t>
            </a:r>
            <a:endParaRPr lang="en-US" sz="2000" dirty="0"/>
          </a:p>
        </p:txBody>
      </p:sp>
      <p:sp>
        <p:nvSpPr>
          <p:cNvPr id="46" name="Shape 44"/>
          <p:cNvSpPr/>
          <p:nvPr/>
        </p:nvSpPr>
        <p:spPr>
          <a:xfrm>
            <a:off x="7001195" y="16767048"/>
            <a:ext cx="10678729" cy="7213702"/>
          </a:xfrm>
          <a:prstGeom prst="rect">
            <a:avLst/>
          </a:prstGeom>
          <a:solidFill>
            <a:srgbClr val="FFFFFF"/>
          </a:solidFill>
          <a:ln w="6350">
            <a:solidFill>
              <a:srgbClr val="C2CDD8"/>
            </a:solidFill>
            <a:prstDash val="solid"/>
          </a:ln>
        </p:spPr>
        <p:txBody>
          <a:bodyPr/>
          <a:lstStyle/>
          <a:p>
            <a:endParaRPr lang="en-US" sz="2800"/>
          </a:p>
        </p:txBody>
      </p:sp>
      <p:sp>
        <p:nvSpPr>
          <p:cNvPr id="47" name="Text 45"/>
          <p:cNvSpPr/>
          <p:nvPr/>
        </p:nvSpPr>
        <p:spPr>
          <a:xfrm>
            <a:off x="7165787" y="16931640"/>
            <a:ext cx="10349545" cy="2231136"/>
          </a:xfrm>
          <a:prstGeom prst="rect">
            <a:avLst/>
          </a:prstGeom>
          <a:noFill/>
          <a:ln/>
        </p:spPr>
        <p:txBody>
          <a:bodyPr wrap="square" rtlCol="0" anchor="t"/>
          <a:lstStyle/>
          <a:p>
            <a:pPr>
              <a:defRPr sz="1000"/>
            </a:pPr>
            <a:r>
              <a:t>Sistem, sadece tek bir kamera kullanarak herhangi bir ek donanım yatırımı gerektirmeden yüksek doğrulukta akıllı otopark yönetimi sunmaktadır. Monoküler derinlik tahmini ve ray-casting tabanlı görüş engeli filtresi, park halinde bulunan araçların arkasındaki kör noktaları başarıyla elemiştir.</a:t>
            </a:r>
          </a:p>
          <a:p>
            <a:pPr>
              <a:defRPr sz="1000"/>
            </a:pPr>
            <a:r>
              <a:t>Gelecekte sistem, bulut tabanlı bir veri tabanına entegre edilerek mobil uygulama üzerinden sürücülere en yakın boş ve uygun park yerini göstermek üzere genişletilebilir.</a:t>
            </a:r>
          </a:p>
        </p:txBody>
      </p:sp>
      <p:sp>
        <p:nvSpPr>
          <p:cNvPr id="49" name="Text 47"/>
          <p:cNvSpPr/>
          <p:nvPr/>
        </p:nvSpPr>
        <p:spPr>
          <a:xfrm>
            <a:off x="7001195" y="22088856"/>
            <a:ext cx="10678729" cy="475488"/>
          </a:xfrm>
          <a:prstGeom prst="rect">
            <a:avLst/>
          </a:prstGeom>
          <a:noFill/>
          <a:ln/>
        </p:spPr>
        <p:txBody>
          <a:bodyPr wrap="square" rtlCol="0" anchor="ctr"/>
          <a:lstStyle/>
          <a:p>
            <a:pPr marL="0" indent="0" algn="ctr">
              <a:buNone/>
            </a:pPr>
            <a:r>
              <a:rPr lang="tr-TR" sz="2000" b="1" kern="0" spc="200" dirty="0">
                <a:solidFill>
                  <a:srgbClr val="FFFFFF"/>
                </a:solidFill>
                <a:latin typeface="Calibri" pitchFamily="34" charset="0"/>
                <a:ea typeface="Calibri" pitchFamily="34" charset="-122"/>
                <a:cs typeface="Calibri" pitchFamily="34" charset="-120"/>
              </a:rPr>
              <a:t>KAZANIMLAR</a:t>
            </a:r>
            <a:endParaRPr lang="en-US" sz="2000" dirty="0"/>
          </a:p>
        </p:txBody>
      </p:sp>
      <p:sp>
        <p:nvSpPr>
          <p:cNvPr id="52" name="Shape 50"/>
          <p:cNvSpPr/>
          <p:nvPr/>
        </p:nvSpPr>
        <p:spPr>
          <a:xfrm>
            <a:off x="0" y="24056950"/>
            <a:ext cx="17999964" cy="73152"/>
          </a:xfrm>
          <a:prstGeom prst="rect">
            <a:avLst/>
          </a:prstGeom>
          <a:solidFill>
            <a:srgbClr val="E8A020"/>
          </a:solidFill>
          <a:ln w="12700">
            <a:solidFill>
              <a:srgbClr val="E8A020"/>
            </a:solidFill>
            <a:prstDash val="solid"/>
          </a:ln>
        </p:spPr>
        <p:txBody>
          <a:bodyPr/>
          <a:lstStyle/>
          <a:p>
            <a:endParaRPr lang="en-US" sz="2800"/>
          </a:p>
        </p:txBody>
      </p:sp>
      <p:sp>
        <p:nvSpPr>
          <p:cNvPr id="53" name="Shape 51"/>
          <p:cNvSpPr>
            <a:spLocks noGrp="1" noRot="1" noMove="1" noResize="1" noEditPoints="1" noAdjustHandles="1" noChangeArrowheads="1" noChangeShapeType="1"/>
          </p:cNvSpPr>
          <p:nvPr/>
        </p:nvSpPr>
        <p:spPr>
          <a:xfrm>
            <a:off x="0" y="24130102"/>
            <a:ext cx="17999964" cy="1069848"/>
          </a:xfrm>
          <a:prstGeom prst="rect">
            <a:avLst/>
          </a:prstGeom>
          <a:solidFill>
            <a:srgbClr val="0D2B5E"/>
          </a:solidFill>
          <a:ln w="12700">
            <a:solidFill>
              <a:srgbClr val="0D2B5E"/>
            </a:solidFill>
            <a:prstDash val="solid"/>
          </a:ln>
        </p:spPr>
        <p:txBody>
          <a:bodyPr/>
          <a:lstStyle/>
          <a:p>
            <a:endParaRPr lang="en-US" sz="2800"/>
          </a:p>
        </p:txBody>
      </p:sp>
      <p:sp>
        <p:nvSpPr>
          <p:cNvPr id="54" name="Text 52"/>
          <p:cNvSpPr/>
          <p:nvPr/>
        </p:nvSpPr>
        <p:spPr>
          <a:xfrm>
            <a:off x="457200" y="24194110"/>
            <a:ext cx="17085564" cy="502920"/>
          </a:xfrm>
          <a:prstGeom prst="rect">
            <a:avLst/>
          </a:prstGeom>
          <a:noFill/>
          <a:ln/>
        </p:spPr>
        <p:txBody>
          <a:bodyPr wrap="square" rtlCol="0" anchor="ctr"/>
          <a:lstStyle/>
          <a:p>
            <a:pPr marL="0" indent="0" algn="ctr">
              <a:buNone/>
            </a:pPr>
            <a:r>
              <a:rPr lang="en-US" dirty="0">
                <a:solidFill>
                  <a:srgbClr val="A0B8D8"/>
                </a:solidFill>
                <a:latin typeface="Calibri" pitchFamily="34" charset="0"/>
                <a:ea typeface="Calibri" pitchFamily="34" charset="-122"/>
                <a:cs typeface="Calibri" pitchFamily="34" charset="-120"/>
              </a:rPr>
              <a:t>BALIKESİR UNİVERSİTESİ | MÜHENDİSLİK FAKÜLTESİ / BİLGİSAYAR MÜHENDİSLİĞİ |  HAZİRAN/ 2026</a:t>
            </a:r>
            <a:endParaRPr lang="en-US" dirty="0"/>
          </a:p>
        </p:txBody>
      </p:sp>
      <p:sp>
        <p:nvSpPr>
          <p:cNvPr id="55" name="Text 53"/>
          <p:cNvSpPr/>
          <p:nvPr/>
        </p:nvSpPr>
        <p:spPr>
          <a:xfrm>
            <a:off x="457200" y="24651310"/>
            <a:ext cx="17085564" cy="384048"/>
          </a:xfrm>
          <a:prstGeom prst="rect">
            <a:avLst/>
          </a:prstGeom>
          <a:noFill/>
          <a:ln/>
        </p:spPr>
        <p:txBody>
          <a:bodyPr wrap="square" rtlCol="0" anchor="ctr"/>
          <a:lstStyle/>
          <a:p>
            <a:pPr algn="ctr"/>
            <a:r>
              <a:rPr lang="en-US" sz="1600" i="1" dirty="0">
                <a:solidFill>
                  <a:srgbClr val="6A8AAE"/>
                </a:solidFill>
                <a:latin typeface="Calibri" pitchFamily="34" charset="0"/>
                <a:cs typeface="Calibri" pitchFamily="34" charset="-120"/>
                <a:hlinkClick r:id="rId3">
                  <a:extLst>
                    <a:ext uri="{A12FA001-AC4F-418D-AE19-62706E023703}">
                      <ahyp:hlinkClr xmlns:ahyp="http://schemas.microsoft.com/office/drawing/2018/hyperlinkcolor" val="tx"/>
                    </a:ext>
                  </a:extLst>
                </a:hlinkClick>
              </a:rPr>
              <a:t>ceng@balikesir.edu.tr</a:t>
            </a:r>
            <a:r>
              <a:rPr lang="en-US" sz="1600" i="1" dirty="0">
                <a:solidFill>
                  <a:srgbClr val="6A8AAE"/>
                </a:solidFill>
                <a:latin typeface="Calibri" pitchFamily="34" charset="0"/>
                <a:cs typeface="Calibri" pitchFamily="34" charset="-120"/>
              </a:rPr>
              <a:t> </a:t>
            </a:r>
            <a:r>
              <a:rPr lang="en-US" sz="1600" i="1" dirty="0">
                <a:solidFill>
                  <a:srgbClr val="6A8AAE"/>
                </a:solidFill>
                <a:latin typeface="Calibri" pitchFamily="34" charset="0"/>
                <a:ea typeface="Calibri" pitchFamily="34" charset="-122"/>
                <a:cs typeface="Calibri" pitchFamily="34" charset="-120"/>
              </a:rPr>
              <a:t>|  https://</a:t>
            </a:r>
            <a:r>
              <a:rPr lang="en-US" sz="1600" i="1" dirty="0" err="1">
                <a:solidFill>
                  <a:srgbClr val="6A8AAE"/>
                </a:solidFill>
                <a:latin typeface="Calibri" pitchFamily="34" charset="0"/>
                <a:ea typeface="Calibri" pitchFamily="34" charset="-122"/>
                <a:cs typeface="Calibri" pitchFamily="34" charset="-120"/>
              </a:rPr>
              <a:t>ceng.balikesir.edu.tr</a:t>
            </a:r>
            <a:endParaRPr lang="en-US" sz="1600" dirty="0"/>
          </a:p>
        </p:txBody>
      </p:sp>
      <p:sp>
        <p:nvSpPr>
          <p:cNvPr id="60" name="Shape 34">
            <a:extLst>
              <a:ext uri="{FF2B5EF4-FFF2-40B4-BE49-F238E27FC236}">
                <a16:creationId xmlns:a16="http://schemas.microsoft.com/office/drawing/2014/main" id="{748B1AB5-7DAA-7F59-B4B0-01745B24F498}"/>
              </a:ext>
            </a:extLst>
          </p:cNvPr>
          <p:cNvSpPr/>
          <p:nvPr/>
        </p:nvSpPr>
        <p:spPr>
          <a:xfrm>
            <a:off x="7062155" y="8125968"/>
            <a:ext cx="10678729" cy="475488"/>
          </a:xfrm>
          <a:prstGeom prst="rect">
            <a:avLst/>
          </a:prstGeom>
          <a:solidFill>
            <a:srgbClr val="0F7B6C"/>
          </a:solidFill>
          <a:ln w="12700">
            <a:noFill/>
            <a:prstDash val="solid"/>
          </a:ln>
        </p:spPr>
        <p:txBody>
          <a:bodyPr/>
          <a:lstStyle/>
          <a:p>
            <a:endParaRPr lang="en-US" sz="2800"/>
          </a:p>
        </p:txBody>
      </p:sp>
      <p:sp>
        <p:nvSpPr>
          <p:cNvPr id="61" name="Text 35">
            <a:extLst>
              <a:ext uri="{FF2B5EF4-FFF2-40B4-BE49-F238E27FC236}">
                <a16:creationId xmlns:a16="http://schemas.microsoft.com/office/drawing/2014/main" id="{D42A21DD-F545-BA91-51BA-A3EB0EFEDF69}"/>
              </a:ext>
            </a:extLst>
          </p:cNvPr>
          <p:cNvSpPr/>
          <p:nvPr/>
        </p:nvSpPr>
        <p:spPr>
          <a:xfrm>
            <a:off x="7062155" y="8125968"/>
            <a:ext cx="10678729" cy="475488"/>
          </a:xfrm>
          <a:prstGeom prst="rect">
            <a:avLst/>
          </a:prstGeom>
          <a:noFill/>
          <a:ln/>
        </p:spPr>
        <p:txBody>
          <a:bodyPr wrap="square" rtlCol="0" anchor="ctr"/>
          <a:lstStyle/>
          <a:p>
            <a:pPr marL="0" indent="0" algn="ctr">
              <a:buNone/>
            </a:pPr>
            <a:r>
              <a:rPr lang="tr-TR" sz="2000" b="1" kern="0" spc="200" dirty="0">
                <a:solidFill>
                  <a:srgbClr val="FFFFFF"/>
                </a:solidFill>
                <a:latin typeface="Calibri" pitchFamily="34" charset="0"/>
                <a:ea typeface="Calibri" pitchFamily="34" charset="-122"/>
                <a:cs typeface="Calibri" pitchFamily="34" charset="-120"/>
              </a:rPr>
              <a:t>KULLANILAN TEKNOLOJİLER</a:t>
            </a:r>
            <a:endParaRPr lang="en-US" sz="2000" dirty="0"/>
          </a:p>
        </p:txBody>
      </p:sp>
      <p:sp>
        <p:nvSpPr>
          <p:cNvPr id="62" name="Shape 36">
            <a:extLst>
              <a:ext uri="{FF2B5EF4-FFF2-40B4-BE49-F238E27FC236}">
                <a16:creationId xmlns:a16="http://schemas.microsoft.com/office/drawing/2014/main" id="{1C608D31-06EA-579E-2A21-FB9127B9DD0D}"/>
              </a:ext>
            </a:extLst>
          </p:cNvPr>
          <p:cNvSpPr/>
          <p:nvPr/>
        </p:nvSpPr>
        <p:spPr>
          <a:xfrm>
            <a:off x="7062155" y="8601456"/>
            <a:ext cx="10678729" cy="3133344"/>
          </a:xfrm>
          <a:prstGeom prst="rect">
            <a:avLst/>
          </a:prstGeom>
          <a:solidFill>
            <a:srgbClr val="FFFFFF"/>
          </a:solidFill>
          <a:ln w="6350">
            <a:solidFill>
              <a:srgbClr val="C2CDD8"/>
            </a:solidFill>
            <a:prstDash val="solid"/>
          </a:ln>
        </p:spPr>
        <p:txBody>
          <a:bodyPr/>
          <a:lstStyle/>
          <a:p>
            <a:endParaRPr lang="en-US" sz="2800"/>
          </a:p>
        </p:txBody>
      </p:sp>
      <p:sp>
        <p:nvSpPr>
          <p:cNvPr id="63" name="Text 37">
            <a:extLst>
              <a:ext uri="{FF2B5EF4-FFF2-40B4-BE49-F238E27FC236}">
                <a16:creationId xmlns:a16="http://schemas.microsoft.com/office/drawing/2014/main" id="{7DE20C3E-7006-BA54-0BED-305277B1E107}"/>
              </a:ext>
            </a:extLst>
          </p:cNvPr>
          <p:cNvSpPr/>
          <p:nvPr/>
        </p:nvSpPr>
        <p:spPr>
          <a:xfrm>
            <a:off x="7226747" y="8766048"/>
            <a:ext cx="10349545" cy="2770632"/>
          </a:xfrm>
          <a:prstGeom prst="rect">
            <a:avLst/>
          </a:prstGeom>
          <a:noFill/>
          <a:ln/>
        </p:spPr>
        <p:txBody>
          <a:bodyPr wrap="square" rtlCol="0" anchor="t"/>
          <a:lstStyle/>
          <a:p/>
        </p:txBody>
      </p:sp>
      <p:pic>
        <p:nvPicPr>
          <p:cNvPr id="64" name="Google Shape;103;p1" descr="BAÜN logo">
            <a:extLst>
              <a:ext uri="{FF2B5EF4-FFF2-40B4-BE49-F238E27FC236}">
                <a16:creationId xmlns:a16="http://schemas.microsoft.com/office/drawing/2014/main" id="{5E5ECE10-952D-3918-F5B3-764558DE873B}"/>
              </a:ext>
            </a:extLst>
          </p:cNvPr>
          <p:cNvPicPr preferRelativeResize="0">
            <a:picLocks noGrp="1" noRot="1" noMove="1" noResize="1" noEditPoints="1" noAdjustHandles="1" noChangeArrowheads="1" noChangeShapeType="1" noCrop="1"/>
          </p:cNvPicPr>
          <p:nvPr/>
        </p:nvPicPr>
        <p:blipFill rotWithShape="1">
          <a:blip r:embed="rId4">
            <a:alphaModFix/>
          </a:blip>
          <a:srcRect/>
          <a:stretch/>
        </p:blipFill>
        <p:spPr>
          <a:xfrm>
            <a:off x="15283119" y="157414"/>
            <a:ext cx="2053361" cy="1909130"/>
          </a:xfrm>
          <a:prstGeom prst="rect">
            <a:avLst/>
          </a:prstGeom>
          <a:noFill/>
          <a:ln>
            <a:noFill/>
          </a:ln>
        </p:spPr>
      </p:pic>
      <p:pic>
        <p:nvPicPr>
          <p:cNvPr id="65" name="Google Shape;108;p1">
            <a:extLst>
              <a:ext uri="{FF2B5EF4-FFF2-40B4-BE49-F238E27FC236}">
                <a16:creationId xmlns:a16="http://schemas.microsoft.com/office/drawing/2014/main" id="{EFC78D4B-485A-9F84-CBFA-5288D3601F18}"/>
              </a:ext>
            </a:extLst>
          </p:cNvPr>
          <p:cNvPicPr preferRelativeResize="0">
            <a:picLocks noGrp="1" noRot="1" noMove="1" noResize="1" noEditPoints="1" noAdjustHandles="1" noChangeArrowheads="1" noChangeShapeType="1" noCrop="1"/>
          </p:cNvPicPr>
          <p:nvPr/>
        </p:nvPicPr>
        <p:blipFill rotWithShape="1">
          <a:blip r:embed="rId5">
            <a:alphaModFix/>
          </a:blip>
          <a:srcRect l="19958" t="17834" r="19356" b="21100"/>
          <a:stretch/>
        </p:blipFill>
        <p:spPr>
          <a:xfrm>
            <a:off x="720411" y="105591"/>
            <a:ext cx="2053361" cy="1981200"/>
          </a:xfrm>
          <a:prstGeom prst="rect">
            <a:avLst/>
          </a:prstGeom>
          <a:noFill/>
          <a:ln>
            <a:noFill/>
          </a:ln>
        </p:spPr>
      </p:pic>
      <p:sp>
        <p:nvSpPr>
          <p:cNvPr id="5" name="Text 13">
            <a:extLst>
              <a:ext uri="{FF2B5EF4-FFF2-40B4-BE49-F238E27FC236}">
                <a16:creationId xmlns:a16="http://schemas.microsoft.com/office/drawing/2014/main" id="{96D9EE6F-6EC6-CD75-DD8F-26D4810E4926}"/>
              </a:ext>
            </a:extLst>
          </p:cNvPr>
          <p:cNvSpPr/>
          <p:nvPr/>
        </p:nvSpPr>
        <p:spPr>
          <a:xfrm>
            <a:off x="6989795" y="3249945"/>
            <a:ext cx="3270259" cy="239268"/>
          </a:xfrm>
          <a:prstGeom prst="rect">
            <a:avLst/>
          </a:prstGeom>
          <a:noFill/>
          <a:ln/>
        </p:spPr>
        <p:txBody>
          <a:bodyPr wrap="square" rtlCol="0" anchor="ctr"/>
          <a:lstStyle/>
          <a:p>
            <a:pPr>
              <a:defRPr sz="1000"/>
            </a:pPr>
            <a:r>
              <a:t>Bilgisayar Mühendisliği / 4. Sınıf</a:t>
            </a:r>
          </a:p>
        </p:txBody>
      </p:sp>
      <p:sp>
        <p:nvSpPr>
          <p:cNvPr id="66" name="Text 16">
            <a:extLst>
              <a:ext uri="{FF2B5EF4-FFF2-40B4-BE49-F238E27FC236}">
                <a16:creationId xmlns:a16="http://schemas.microsoft.com/office/drawing/2014/main" id="{DF67A630-0B6D-1A4D-60A6-0898252750DF}"/>
              </a:ext>
            </a:extLst>
          </p:cNvPr>
          <p:cNvSpPr/>
          <p:nvPr/>
        </p:nvSpPr>
        <p:spPr>
          <a:xfrm>
            <a:off x="3677714" y="2721422"/>
            <a:ext cx="2889490" cy="502920"/>
          </a:xfrm>
          <a:prstGeom prst="rect">
            <a:avLst/>
          </a:prstGeom>
          <a:noFill/>
          <a:ln/>
        </p:spPr>
        <p:txBody>
          <a:bodyPr wrap="square" rtlCol="0" anchor="ctr"/>
          <a:lstStyle/>
          <a:p>
            <a:pPr>
              <a:defRPr sz="1200" b="1"/>
            </a:pPr>
          </a:p>
        </p:txBody>
      </p:sp>
      <p:sp>
        <p:nvSpPr>
          <p:cNvPr id="67" name="Text 15">
            <a:extLst>
              <a:ext uri="{FF2B5EF4-FFF2-40B4-BE49-F238E27FC236}">
                <a16:creationId xmlns:a16="http://schemas.microsoft.com/office/drawing/2014/main" id="{BD03A272-0DB3-F522-D8A5-92912C7222AC}"/>
              </a:ext>
            </a:extLst>
          </p:cNvPr>
          <p:cNvSpPr/>
          <p:nvPr/>
        </p:nvSpPr>
        <p:spPr>
          <a:xfrm>
            <a:off x="3677714" y="2408608"/>
            <a:ext cx="2358562" cy="295656"/>
          </a:xfrm>
          <a:prstGeom prst="rect">
            <a:avLst/>
          </a:prstGeom>
          <a:noFill/>
          <a:ln/>
        </p:spPr>
        <p:txBody>
          <a:bodyPr wrap="square" rtlCol="0" anchor="ctr"/>
          <a:lstStyle/>
          <a:p>
            <a:pPr>
              <a:defRPr sz="1000"/>
            </a:pPr>
          </a:p>
        </p:txBody>
      </p:sp>
      <p:sp>
        <p:nvSpPr>
          <p:cNvPr id="68" name="Text 13">
            <a:extLst>
              <a:ext uri="{FF2B5EF4-FFF2-40B4-BE49-F238E27FC236}">
                <a16:creationId xmlns:a16="http://schemas.microsoft.com/office/drawing/2014/main" id="{D0AC3D07-2161-9B9E-36CD-91241BC8D17D}"/>
              </a:ext>
            </a:extLst>
          </p:cNvPr>
          <p:cNvSpPr/>
          <p:nvPr/>
        </p:nvSpPr>
        <p:spPr>
          <a:xfrm>
            <a:off x="3677714" y="3240294"/>
            <a:ext cx="3270259" cy="239268"/>
          </a:xfrm>
          <a:prstGeom prst="rect">
            <a:avLst/>
          </a:prstGeom>
          <a:noFill/>
          <a:ln/>
        </p:spPr>
        <p:txBody>
          <a:bodyPr wrap="square" rtlCol="0" anchor="ctr"/>
          <a:lstStyle/>
          <a:p>
            <a:pPr>
              <a:defRPr sz="1000"/>
            </a:pPr>
          </a:p>
        </p:txBody>
      </p:sp>
      <p:sp>
        <p:nvSpPr>
          <p:cNvPr id="3" name="Rectangle 2">
            <a:extLst>
              <a:ext uri="{FF2B5EF4-FFF2-40B4-BE49-F238E27FC236}">
                <a16:creationId xmlns:a16="http://schemas.microsoft.com/office/drawing/2014/main" id="{73B125A4-ABD9-8B10-A4F4-2645F043CBA7}"/>
              </a:ext>
            </a:extLst>
          </p:cNvPr>
          <p:cNvSpPr/>
          <p:nvPr/>
        </p:nvSpPr>
        <p:spPr>
          <a:xfrm>
            <a:off x="14478000" y="24445570"/>
            <a:ext cx="3201924" cy="5897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defRPr sz="1200" b="1"/>
            </a:pPr>
            <a:r>
              <a:t>Proje ID: BIT-ADAS-01</a:t>
            </a:r>
          </a:p>
        </p:txBody>
      </p:sp>
      <p:pic>
        <p:nvPicPr>
          <p:cNvPr id="69" name="Picture 68" descr="architecture.png"/>
          <p:cNvPicPr>
            <a:picLocks noChangeAspect="1"/>
          </p:cNvPicPr>
          <p:nvPr/>
        </p:nvPicPr>
        <p:blipFill>
          <a:blip r:embed="rId6"/>
          <a:stretch>
            <a:fillRect/>
          </a:stretch>
        </p:blipFill>
        <p:spPr>
          <a:xfrm>
            <a:off x="320040" y="13185648"/>
            <a:ext cx="6479987" cy="5713326"/>
          </a:xfrm>
          <a:prstGeom prst="rect">
            <a:avLst/>
          </a:prstGeom>
        </p:spPr>
      </p:pic>
      <p:pic>
        <p:nvPicPr>
          <p:cNvPr id="70" name="Picture 69" descr="ui_screenshot.png"/>
          <p:cNvPicPr>
            <a:picLocks noChangeAspect="1"/>
          </p:cNvPicPr>
          <p:nvPr/>
        </p:nvPicPr>
        <p:blipFill>
          <a:blip r:embed="rId7"/>
          <a:stretch>
            <a:fillRect/>
          </a:stretch>
        </p:blipFill>
        <p:spPr>
          <a:xfrm>
            <a:off x="320040" y="19222370"/>
            <a:ext cx="6479987" cy="4743139"/>
          </a:xfrm>
          <a:prstGeom prst="rect">
            <a:avLst/>
          </a:prstGeom>
        </p:spPr>
      </p:pic>
      <p:pic>
        <p:nvPicPr>
          <p:cNvPr id="71" name="Picture 70" descr="accuracy.png"/>
          <p:cNvPicPr>
            <a:picLocks noChangeAspect="1"/>
          </p:cNvPicPr>
          <p:nvPr/>
        </p:nvPicPr>
        <p:blipFill>
          <a:blip r:embed="rId8"/>
          <a:stretch>
            <a:fillRect/>
          </a:stretch>
        </p:blipFill>
        <p:spPr>
          <a:xfrm>
            <a:off x="7165787" y="14195023"/>
            <a:ext cx="4967781" cy="1730776"/>
          </a:xfrm>
          <a:prstGeom prst="rect">
            <a:avLst/>
          </a:prstGeom>
        </p:spPr>
      </p:pic>
      <p:pic>
        <p:nvPicPr>
          <p:cNvPr id="72" name="Picture 71" descr="performance.png"/>
          <p:cNvPicPr>
            <a:picLocks noChangeAspect="1"/>
          </p:cNvPicPr>
          <p:nvPr/>
        </p:nvPicPr>
        <p:blipFill>
          <a:blip r:embed="rId9"/>
          <a:stretch>
            <a:fillRect/>
          </a:stretch>
        </p:blipFill>
        <p:spPr>
          <a:xfrm>
            <a:off x="12547549" y="14195023"/>
            <a:ext cx="4967781" cy="1730776"/>
          </a:xfrm>
          <a:prstGeom prst="rect">
            <a:avLst/>
          </a:prstGeom>
        </p:spPr>
      </p:pic>
      <p:pic>
        <p:nvPicPr>
          <p:cNvPr id="73" name="Picture 72" descr="technologies.png"/>
          <p:cNvPicPr>
            <a:picLocks noChangeAspect="1"/>
          </p:cNvPicPr>
          <p:nvPr/>
        </p:nvPicPr>
        <p:blipFill>
          <a:blip r:embed="rId10"/>
          <a:stretch>
            <a:fillRect/>
          </a:stretch>
        </p:blipFill>
        <p:spPr>
          <a:xfrm>
            <a:off x="7226747" y="8766048"/>
            <a:ext cx="10349545" cy="27706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3DD4367-AB84-4211-8F47-D57B1F3A9CD8}">
  <we:reference id="wa200010001" version="1.0.0.1" store="en-US" storeType="OMEX"/>
  <we:alternateReferences>
    <we:reference id="WA200010001" version="1.0.0.1" store="WA200010001" storeType="OMEX"/>
  </we:alternateReferences>
  <we:properties>
    <we:property name="claude.fileId" value="&quot;11adc6c0-7d01-49e5-b3cf-61421061d68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87</TotalTime>
  <Words>238</Words>
  <Application>Microsoft Macintosh PowerPoint</Application>
  <PresentationFormat>Custom</PresentationFormat>
  <Paragraphs>39</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Cambria</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MUSTAFA FURKAN CEYLAN</cp:lastModifiedBy>
  <cp:revision>15</cp:revision>
  <dcterms:created xsi:type="dcterms:W3CDTF">2026-05-22T16:36:40Z</dcterms:created>
  <dcterms:modified xsi:type="dcterms:W3CDTF">2026-05-26T10:42:08Z</dcterms:modified>
</cp:coreProperties>
</file>